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686" r:id="rId5"/>
    <p:sldId id="687" r:id="rId6"/>
    <p:sldId id="268" r:id="rId7"/>
    <p:sldId id="265" r:id="rId8"/>
    <p:sldId id="266" r:id="rId9"/>
    <p:sldId id="267" r:id="rId10"/>
    <p:sldId id="269" r:id="rId11"/>
    <p:sldId id="270" r:id="rId12"/>
    <p:sldId id="263" r:id="rId13"/>
    <p:sldId id="275" r:id="rId14"/>
    <p:sldId id="277" r:id="rId15"/>
    <p:sldId id="276" r:id="rId16"/>
    <p:sldId id="279" r:id="rId17"/>
    <p:sldId id="280" r:id="rId18"/>
    <p:sldId id="28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1" autoAdjust="0"/>
    <p:restoredTop sz="94660"/>
  </p:normalViewPr>
  <p:slideViewPr>
    <p:cSldViewPr snapToGrid="0">
      <p:cViewPr>
        <p:scale>
          <a:sx n="70" d="100"/>
          <a:sy n="70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3.jpe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 5"/>
          <p:cNvSpPr>
            <a:spLocks/>
          </p:cNvSpPr>
          <p:nvPr/>
        </p:nvSpPr>
        <p:spPr bwMode="gray">
          <a:xfrm>
            <a:off x="10058402" y="411344"/>
            <a:ext cx="1578713" cy="1155367"/>
          </a:xfrm>
          <a:custGeom>
            <a:avLst/>
            <a:gdLst>
              <a:gd name="T0" fmla="*/ 0 w 2970"/>
              <a:gd name="T1" fmla="*/ 1517 h 2630"/>
              <a:gd name="T2" fmla="*/ 6 w 2970"/>
              <a:gd name="T3" fmla="*/ 1378 h 2630"/>
              <a:gd name="T4" fmla="*/ 19 w 2970"/>
              <a:gd name="T5" fmla="*/ 1234 h 2630"/>
              <a:gd name="T6" fmla="*/ 40 w 2970"/>
              <a:gd name="T7" fmla="*/ 1099 h 2630"/>
              <a:gd name="T8" fmla="*/ 71 w 2970"/>
              <a:gd name="T9" fmla="*/ 963 h 2630"/>
              <a:gd name="T10" fmla="*/ 115 w 2970"/>
              <a:gd name="T11" fmla="*/ 830 h 2630"/>
              <a:gd name="T12" fmla="*/ 167 w 2970"/>
              <a:gd name="T13" fmla="*/ 705 h 2630"/>
              <a:gd name="T14" fmla="*/ 233 w 2970"/>
              <a:gd name="T15" fmla="*/ 587 h 2630"/>
              <a:gd name="T16" fmla="*/ 310 w 2970"/>
              <a:gd name="T17" fmla="*/ 476 h 2630"/>
              <a:gd name="T18" fmla="*/ 403 w 2970"/>
              <a:gd name="T19" fmla="*/ 376 h 2630"/>
              <a:gd name="T20" fmla="*/ 512 w 2970"/>
              <a:gd name="T21" fmla="*/ 283 h 2630"/>
              <a:gd name="T22" fmla="*/ 636 w 2970"/>
              <a:gd name="T23" fmla="*/ 200 h 2630"/>
              <a:gd name="T24" fmla="*/ 775 w 2970"/>
              <a:gd name="T25" fmla="*/ 132 h 2630"/>
              <a:gd name="T26" fmla="*/ 933 w 2970"/>
              <a:gd name="T27" fmla="*/ 75 h 2630"/>
              <a:gd name="T28" fmla="*/ 1110 w 2970"/>
              <a:gd name="T29" fmla="*/ 36 h 2630"/>
              <a:gd name="T30" fmla="*/ 1305 w 2970"/>
              <a:gd name="T31" fmla="*/ 11 h 2630"/>
              <a:gd name="T32" fmla="*/ 1522 w 2970"/>
              <a:gd name="T33" fmla="*/ 0 h 2630"/>
              <a:gd name="T34" fmla="*/ 1615 w 2970"/>
              <a:gd name="T35" fmla="*/ 4 h 2630"/>
              <a:gd name="T36" fmla="*/ 1798 w 2970"/>
              <a:gd name="T37" fmla="*/ 18 h 2630"/>
              <a:gd name="T38" fmla="*/ 1972 w 2970"/>
              <a:gd name="T39" fmla="*/ 47 h 2630"/>
              <a:gd name="T40" fmla="*/ 2136 w 2970"/>
              <a:gd name="T41" fmla="*/ 89 h 2630"/>
              <a:gd name="T42" fmla="*/ 2288 w 2970"/>
              <a:gd name="T43" fmla="*/ 154 h 2630"/>
              <a:gd name="T44" fmla="*/ 2427 w 2970"/>
              <a:gd name="T45" fmla="*/ 233 h 2630"/>
              <a:gd name="T46" fmla="*/ 2558 w 2970"/>
              <a:gd name="T47" fmla="*/ 329 h 2630"/>
              <a:gd name="T48" fmla="*/ 2675 w 2970"/>
              <a:gd name="T49" fmla="*/ 447 h 2630"/>
              <a:gd name="T50" fmla="*/ 2728 w 2970"/>
              <a:gd name="T51" fmla="*/ 512 h 2630"/>
              <a:gd name="T52" fmla="*/ 2830 w 2970"/>
              <a:gd name="T53" fmla="*/ 669 h 2630"/>
              <a:gd name="T54" fmla="*/ 2905 w 2970"/>
              <a:gd name="T55" fmla="*/ 834 h 2630"/>
              <a:gd name="T56" fmla="*/ 2951 w 2970"/>
              <a:gd name="T57" fmla="*/ 1005 h 2630"/>
              <a:gd name="T58" fmla="*/ 2970 w 2970"/>
              <a:gd name="T59" fmla="*/ 1181 h 2630"/>
              <a:gd name="T60" fmla="*/ 2970 w 2970"/>
              <a:gd name="T61" fmla="*/ 1256 h 2630"/>
              <a:gd name="T62" fmla="*/ 2961 w 2970"/>
              <a:gd name="T63" fmla="*/ 1403 h 2630"/>
              <a:gd name="T64" fmla="*/ 2936 w 2970"/>
              <a:gd name="T65" fmla="*/ 1542 h 2630"/>
              <a:gd name="T66" fmla="*/ 2902 w 2970"/>
              <a:gd name="T67" fmla="*/ 1675 h 2630"/>
              <a:gd name="T68" fmla="*/ 2855 w 2970"/>
              <a:gd name="T69" fmla="*/ 1796 h 2630"/>
              <a:gd name="T70" fmla="*/ 2796 w 2970"/>
              <a:gd name="T71" fmla="*/ 1914 h 2630"/>
              <a:gd name="T72" fmla="*/ 2728 w 2970"/>
              <a:gd name="T73" fmla="*/ 2022 h 2630"/>
              <a:gd name="T74" fmla="*/ 2648 w 2970"/>
              <a:gd name="T75" fmla="*/ 2122 h 2630"/>
              <a:gd name="T76" fmla="*/ 2604 w 2970"/>
              <a:gd name="T77" fmla="*/ 2168 h 2630"/>
              <a:gd name="T78" fmla="*/ 2486 w 2970"/>
              <a:gd name="T79" fmla="*/ 2272 h 2630"/>
              <a:gd name="T80" fmla="*/ 2356 w 2970"/>
              <a:gd name="T81" fmla="*/ 2365 h 2630"/>
              <a:gd name="T82" fmla="*/ 2214 w 2970"/>
              <a:gd name="T83" fmla="*/ 2448 h 2630"/>
              <a:gd name="T84" fmla="*/ 2059 w 2970"/>
              <a:gd name="T85" fmla="*/ 2512 h 2630"/>
              <a:gd name="T86" fmla="*/ 1894 w 2970"/>
              <a:gd name="T87" fmla="*/ 2566 h 2630"/>
              <a:gd name="T88" fmla="*/ 1724 w 2970"/>
              <a:gd name="T89" fmla="*/ 2601 h 2630"/>
              <a:gd name="T90" fmla="*/ 1547 w 2970"/>
              <a:gd name="T91" fmla="*/ 2623 h 2630"/>
              <a:gd name="T92" fmla="*/ 1361 w 2970"/>
              <a:gd name="T93" fmla="*/ 2630 h 2630"/>
              <a:gd name="T94" fmla="*/ 0 w 2970"/>
              <a:gd name="T95" fmla="*/ 2630 h 2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970" h="2630">
                <a:moveTo>
                  <a:pt x="0" y="1517"/>
                </a:moveTo>
                <a:lnTo>
                  <a:pt x="0" y="1517"/>
                </a:lnTo>
                <a:lnTo>
                  <a:pt x="3" y="1446"/>
                </a:lnTo>
                <a:lnTo>
                  <a:pt x="6" y="1378"/>
                </a:lnTo>
                <a:lnTo>
                  <a:pt x="12" y="1306"/>
                </a:lnTo>
                <a:lnTo>
                  <a:pt x="19" y="1234"/>
                </a:lnTo>
                <a:lnTo>
                  <a:pt x="28" y="1167"/>
                </a:lnTo>
                <a:lnTo>
                  <a:pt x="40" y="1099"/>
                </a:lnTo>
                <a:lnTo>
                  <a:pt x="56" y="1031"/>
                </a:lnTo>
                <a:lnTo>
                  <a:pt x="71" y="963"/>
                </a:lnTo>
                <a:lnTo>
                  <a:pt x="93" y="895"/>
                </a:lnTo>
                <a:lnTo>
                  <a:pt x="115" y="830"/>
                </a:lnTo>
                <a:lnTo>
                  <a:pt x="140" y="769"/>
                </a:lnTo>
                <a:lnTo>
                  <a:pt x="167" y="705"/>
                </a:lnTo>
                <a:lnTo>
                  <a:pt x="198" y="644"/>
                </a:lnTo>
                <a:lnTo>
                  <a:pt x="233" y="587"/>
                </a:lnTo>
                <a:lnTo>
                  <a:pt x="270" y="530"/>
                </a:lnTo>
                <a:lnTo>
                  <a:pt x="310" y="476"/>
                </a:lnTo>
                <a:lnTo>
                  <a:pt x="357" y="426"/>
                </a:lnTo>
                <a:lnTo>
                  <a:pt x="403" y="376"/>
                </a:lnTo>
                <a:lnTo>
                  <a:pt x="456" y="326"/>
                </a:lnTo>
                <a:lnTo>
                  <a:pt x="512" y="283"/>
                </a:lnTo>
                <a:lnTo>
                  <a:pt x="570" y="240"/>
                </a:lnTo>
                <a:lnTo>
                  <a:pt x="636" y="200"/>
                </a:lnTo>
                <a:lnTo>
                  <a:pt x="704" y="165"/>
                </a:lnTo>
                <a:lnTo>
                  <a:pt x="775" y="132"/>
                </a:lnTo>
                <a:lnTo>
                  <a:pt x="853" y="104"/>
                </a:lnTo>
                <a:lnTo>
                  <a:pt x="933" y="75"/>
                </a:lnTo>
                <a:lnTo>
                  <a:pt x="1020" y="54"/>
                </a:lnTo>
                <a:lnTo>
                  <a:pt x="1110" y="36"/>
                </a:lnTo>
                <a:lnTo>
                  <a:pt x="1206" y="21"/>
                </a:lnTo>
                <a:lnTo>
                  <a:pt x="1305" y="11"/>
                </a:lnTo>
                <a:lnTo>
                  <a:pt x="1411" y="4"/>
                </a:lnTo>
                <a:lnTo>
                  <a:pt x="1522" y="0"/>
                </a:lnTo>
                <a:lnTo>
                  <a:pt x="1522" y="0"/>
                </a:lnTo>
                <a:lnTo>
                  <a:pt x="1615" y="4"/>
                </a:lnTo>
                <a:lnTo>
                  <a:pt x="1708" y="7"/>
                </a:lnTo>
                <a:lnTo>
                  <a:pt x="1798" y="18"/>
                </a:lnTo>
                <a:lnTo>
                  <a:pt x="1888" y="29"/>
                </a:lnTo>
                <a:lnTo>
                  <a:pt x="1972" y="47"/>
                </a:lnTo>
                <a:lnTo>
                  <a:pt x="2055" y="68"/>
                </a:lnTo>
                <a:lnTo>
                  <a:pt x="2136" y="89"/>
                </a:lnTo>
                <a:lnTo>
                  <a:pt x="2214" y="118"/>
                </a:lnTo>
                <a:lnTo>
                  <a:pt x="2288" y="154"/>
                </a:lnTo>
                <a:lnTo>
                  <a:pt x="2359" y="190"/>
                </a:lnTo>
                <a:lnTo>
                  <a:pt x="2427" y="233"/>
                </a:lnTo>
                <a:lnTo>
                  <a:pt x="2493" y="279"/>
                </a:lnTo>
                <a:lnTo>
                  <a:pt x="2558" y="329"/>
                </a:lnTo>
                <a:lnTo>
                  <a:pt x="2617" y="386"/>
                </a:lnTo>
                <a:lnTo>
                  <a:pt x="2675" y="447"/>
                </a:lnTo>
                <a:lnTo>
                  <a:pt x="2728" y="512"/>
                </a:lnTo>
                <a:lnTo>
                  <a:pt x="2728" y="512"/>
                </a:lnTo>
                <a:lnTo>
                  <a:pt x="2784" y="590"/>
                </a:lnTo>
                <a:lnTo>
                  <a:pt x="2830" y="669"/>
                </a:lnTo>
                <a:lnTo>
                  <a:pt x="2871" y="748"/>
                </a:lnTo>
                <a:lnTo>
                  <a:pt x="2905" y="834"/>
                </a:lnTo>
                <a:lnTo>
                  <a:pt x="2933" y="916"/>
                </a:lnTo>
                <a:lnTo>
                  <a:pt x="2951" y="1005"/>
                </a:lnTo>
                <a:lnTo>
                  <a:pt x="2964" y="1091"/>
                </a:lnTo>
                <a:lnTo>
                  <a:pt x="2970" y="1181"/>
                </a:lnTo>
                <a:lnTo>
                  <a:pt x="2970" y="1181"/>
                </a:lnTo>
                <a:lnTo>
                  <a:pt x="2970" y="1256"/>
                </a:lnTo>
                <a:lnTo>
                  <a:pt x="2967" y="1331"/>
                </a:lnTo>
                <a:lnTo>
                  <a:pt x="2961" y="1403"/>
                </a:lnTo>
                <a:lnTo>
                  <a:pt x="2951" y="1474"/>
                </a:lnTo>
                <a:lnTo>
                  <a:pt x="2936" y="1542"/>
                </a:lnTo>
                <a:lnTo>
                  <a:pt x="2920" y="1610"/>
                </a:lnTo>
                <a:lnTo>
                  <a:pt x="2902" y="1675"/>
                </a:lnTo>
                <a:lnTo>
                  <a:pt x="2880" y="1735"/>
                </a:lnTo>
                <a:lnTo>
                  <a:pt x="2855" y="1796"/>
                </a:lnTo>
                <a:lnTo>
                  <a:pt x="2827" y="1857"/>
                </a:lnTo>
                <a:lnTo>
                  <a:pt x="2796" y="1914"/>
                </a:lnTo>
                <a:lnTo>
                  <a:pt x="2762" y="1968"/>
                </a:lnTo>
                <a:lnTo>
                  <a:pt x="2728" y="2022"/>
                </a:lnTo>
                <a:lnTo>
                  <a:pt x="2688" y="2072"/>
                </a:lnTo>
                <a:lnTo>
                  <a:pt x="2648" y="2122"/>
                </a:lnTo>
                <a:lnTo>
                  <a:pt x="2604" y="2168"/>
                </a:lnTo>
                <a:lnTo>
                  <a:pt x="2604" y="2168"/>
                </a:lnTo>
                <a:lnTo>
                  <a:pt x="2548" y="2222"/>
                </a:lnTo>
                <a:lnTo>
                  <a:pt x="2486" y="2272"/>
                </a:lnTo>
                <a:lnTo>
                  <a:pt x="2424" y="2322"/>
                </a:lnTo>
                <a:lnTo>
                  <a:pt x="2356" y="2365"/>
                </a:lnTo>
                <a:lnTo>
                  <a:pt x="2285" y="2408"/>
                </a:lnTo>
                <a:lnTo>
                  <a:pt x="2214" y="2448"/>
                </a:lnTo>
                <a:lnTo>
                  <a:pt x="2136" y="2480"/>
                </a:lnTo>
                <a:lnTo>
                  <a:pt x="2059" y="2512"/>
                </a:lnTo>
                <a:lnTo>
                  <a:pt x="1978" y="2541"/>
                </a:lnTo>
                <a:lnTo>
                  <a:pt x="1894" y="2566"/>
                </a:lnTo>
                <a:lnTo>
                  <a:pt x="1811" y="2587"/>
                </a:lnTo>
                <a:lnTo>
                  <a:pt x="1724" y="2601"/>
                </a:lnTo>
                <a:lnTo>
                  <a:pt x="1637" y="2616"/>
                </a:lnTo>
                <a:lnTo>
                  <a:pt x="1547" y="2623"/>
                </a:lnTo>
                <a:lnTo>
                  <a:pt x="1454" y="2630"/>
                </a:lnTo>
                <a:lnTo>
                  <a:pt x="1361" y="2630"/>
                </a:lnTo>
                <a:lnTo>
                  <a:pt x="1361" y="2630"/>
                </a:lnTo>
                <a:lnTo>
                  <a:pt x="0" y="2630"/>
                </a:lnTo>
                <a:lnTo>
                  <a:pt x="0" y="1517"/>
                </a:lnTo>
                <a:close/>
              </a:path>
            </a:pathLst>
          </a:custGeom>
          <a:solidFill>
            <a:srgbClr val="80276C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fr-FR" sz="2400">
              <a:solidFill>
                <a:srgbClr val="63666A"/>
              </a:solidFill>
            </a:endParaRPr>
          </a:p>
        </p:txBody>
      </p:sp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-2397" y="1566711"/>
            <a:ext cx="10060799" cy="4070535"/>
          </a:xfrm>
          <a:custGeom>
            <a:avLst/>
            <a:gdLst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0 w 7918450"/>
              <a:gd name="connsiteY7" fmla="*/ 229178 h 1375039"/>
              <a:gd name="connsiteX8" fmla="*/ 229178 w 7918450"/>
              <a:gd name="connsiteY8" fmla="*/ 0 h 1375039"/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229178 w 7918450"/>
              <a:gd name="connsiteY7" fmla="*/ 0 h 1375039"/>
              <a:gd name="connsiteX0" fmla="*/ 0 w 7920253"/>
              <a:gd name="connsiteY0" fmla="*/ 2381 h 1375039"/>
              <a:gd name="connsiteX1" fmla="*/ 7920253 w 7920253"/>
              <a:gd name="connsiteY1" fmla="*/ 0 h 1375039"/>
              <a:gd name="connsiteX2" fmla="*/ 7920253 w 7920253"/>
              <a:gd name="connsiteY2" fmla="*/ 0 h 1375039"/>
              <a:gd name="connsiteX3" fmla="*/ 7920253 w 7920253"/>
              <a:gd name="connsiteY3" fmla="*/ 1145861 h 1375039"/>
              <a:gd name="connsiteX4" fmla="*/ 7691075 w 7920253"/>
              <a:gd name="connsiteY4" fmla="*/ 1375039 h 1375039"/>
              <a:gd name="connsiteX5" fmla="*/ 1803 w 7920253"/>
              <a:gd name="connsiteY5" fmla="*/ 1375039 h 1375039"/>
              <a:gd name="connsiteX6" fmla="*/ 1803 w 7920253"/>
              <a:gd name="connsiteY6" fmla="*/ 1375039 h 1375039"/>
              <a:gd name="connsiteX7" fmla="*/ 0 w 7920253"/>
              <a:gd name="connsiteY7" fmla="*/ 2381 h 13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0253" h="1375039">
                <a:moveTo>
                  <a:pt x="0" y="2381"/>
                </a:moveTo>
                <a:lnTo>
                  <a:pt x="7920253" y="0"/>
                </a:lnTo>
                <a:lnTo>
                  <a:pt x="7920253" y="0"/>
                </a:lnTo>
                <a:lnTo>
                  <a:pt x="7920253" y="1145861"/>
                </a:lnTo>
                <a:cubicBezTo>
                  <a:pt x="7920253" y="1272433"/>
                  <a:pt x="7817647" y="1375039"/>
                  <a:pt x="7691075" y="1375039"/>
                </a:cubicBezTo>
                <a:lnTo>
                  <a:pt x="1803" y="1375039"/>
                </a:lnTo>
                <a:lnTo>
                  <a:pt x="1803" y="1375039"/>
                </a:lnTo>
                <a:lnTo>
                  <a:pt x="0" y="2381"/>
                </a:lnTo>
                <a:close/>
              </a:path>
            </a:pathLst>
          </a:custGeom>
          <a:solidFill>
            <a:srgbClr val="80276C"/>
          </a:solidFill>
        </p:spPr>
        <p:txBody>
          <a:bodyPr lIns="288000" tIns="144000" rIns="288000" bIns="72000" anchor="ctr" anchorCtr="0">
            <a:normAutofit/>
          </a:bodyPr>
          <a:lstStyle>
            <a:lvl1pPr algn="r">
              <a:lnSpc>
                <a:spcPct val="85000"/>
              </a:lnSpc>
              <a:spcBef>
                <a:spcPts val="600"/>
              </a:spcBef>
              <a:defRPr sz="5867" b="1" cap="all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</a:t>
            </a:r>
            <a:br>
              <a:rPr lang="fr-FR" dirty="0"/>
            </a:br>
            <a:r>
              <a:rPr lang="fr-FR" dirty="0"/>
              <a:t>style du titre</a:t>
            </a: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058402" y="800140"/>
            <a:ext cx="15437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bg1"/>
                </a:solidFill>
              </a:defRPr>
            </a:lvl1pPr>
          </a:lstStyle>
          <a:p>
            <a:fld id="{2F999973-DAAB-4687-B4B4-75DA6A298F11}" type="datetimeFigureOut">
              <a:rPr lang="fr-FR" smtClean="0"/>
              <a:pPr/>
              <a:t>19/05/2021</a:t>
            </a:fld>
            <a:endParaRPr lang="fr-FR" dirty="0"/>
          </a:p>
        </p:txBody>
      </p:sp>
      <p:sp>
        <p:nvSpPr>
          <p:cNvPr id="19" name="Espace réservé du texte 3"/>
          <p:cNvSpPr>
            <a:spLocks noGrp="1"/>
          </p:cNvSpPr>
          <p:nvPr>
            <p:ph type="body" sz="quarter" idx="10"/>
          </p:nvPr>
        </p:nvSpPr>
        <p:spPr>
          <a:xfrm>
            <a:off x="623392" y="811957"/>
            <a:ext cx="2880783" cy="1185041"/>
          </a:xfrm>
          <a:prstGeom prst="rect">
            <a:avLst/>
          </a:prstGeom>
          <a:solidFill>
            <a:schemeClr val="bg1"/>
          </a:solidFill>
        </p:spPr>
        <p:txBody>
          <a:bodyPr wrap="square" lIns="108000" tIns="108000" rIns="108000" bIns="108000" rtlCol="0" anchor="b">
            <a:spAutoFit/>
          </a:bodyPr>
          <a:lstStyle>
            <a:lvl1pPr marL="457189" indent="0">
              <a:spcBef>
                <a:spcPts val="1200"/>
              </a:spcBef>
              <a:spcAft>
                <a:spcPts val="100"/>
              </a:spcAft>
              <a:buFontTx/>
              <a:buNone/>
              <a:defRPr lang="fr-FR" sz="1800" b="1" dirty="0" smtClean="0">
                <a:solidFill>
                  <a:schemeClr val="accent5"/>
                </a:solidFill>
                <a:latin typeface="Arial Narrow" pitchFamily="34" charset="0"/>
              </a:defRPr>
            </a:lvl1pPr>
            <a:lvl2pPr marL="35999" indent="-71998" algn="l" defTabSz="35999">
              <a:spcBef>
                <a:spcPts val="100"/>
              </a:spcBef>
              <a:spcAft>
                <a:spcPts val="100"/>
              </a:spcAft>
              <a:buFontTx/>
              <a:buNone/>
              <a:defRPr lang="fr-FR" sz="1600" dirty="0">
                <a:latin typeface="Arial Narrow" pitchFamily="34" charset="0"/>
              </a:defRPr>
            </a:lvl2pPr>
          </a:lstStyle>
          <a:p>
            <a:pPr marL="0" lvl="0">
              <a:spcBef>
                <a:spcPts val="1200"/>
              </a:spcBef>
              <a:spcAft>
                <a:spcPts val="100"/>
              </a:spcAft>
            </a:pPr>
            <a:r>
              <a:rPr lang="fr-FR"/>
              <a:t>Modifiez les styles du texte du masque</a:t>
            </a:r>
          </a:p>
          <a:p>
            <a:pPr marL="0" lvl="1">
              <a:spcBef>
                <a:spcPts val="1200"/>
              </a:spcBef>
              <a:spcAft>
                <a:spcPts val="100"/>
              </a:spcAft>
            </a:pPr>
            <a:r>
              <a:rPr lang="fr-FR"/>
              <a:t>Deuxième niveau</a:t>
            </a:r>
          </a:p>
        </p:txBody>
      </p:sp>
      <p:pic>
        <p:nvPicPr>
          <p:cNvPr id="12" name="F25E1CD4-A583-4BB2-82B1-EA8448AABC97" descr="95C080D9-D9F9-4764-A9F0-7C86F910EFA5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0789" y="5925278"/>
            <a:ext cx="1246697" cy="729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8500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|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-2397" y="3205866"/>
            <a:ext cx="10560337" cy="1663295"/>
          </a:xfrm>
          <a:custGeom>
            <a:avLst/>
            <a:gdLst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0 w 7918450"/>
              <a:gd name="connsiteY7" fmla="*/ 229178 h 1375039"/>
              <a:gd name="connsiteX8" fmla="*/ 229178 w 7918450"/>
              <a:gd name="connsiteY8" fmla="*/ 0 h 1375039"/>
              <a:gd name="connsiteX0" fmla="*/ 229178 w 7918450"/>
              <a:gd name="connsiteY0" fmla="*/ 0 h 1375039"/>
              <a:gd name="connsiteX1" fmla="*/ 7918450 w 7918450"/>
              <a:gd name="connsiteY1" fmla="*/ 0 h 1375039"/>
              <a:gd name="connsiteX2" fmla="*/ 7918450 w 7918450"/>
              <a:gd name="connsiteY2" fmla="*/ 0 h 1375039"/>
              <a:gd name="connsiteX3" fmla="*/ 7918450 w 7918450"/>
              <a:gd name="connsiteY3" fmla="*/ 1145861 h 1375039"/>
              <a:gd name="connsiteX4" fmla="*/ 7689272 w 7918450"/>
              <a:gd name="connsiteY4" fmla="*/ 1375039 h 1375039"/>
              <a:gd name="connsiteX5" fmla="*/ 0 w 7918450"/>
              <a:gd name="connsiteY5" fmla="*/ 1375039 h 1375039"/>
              <a:gd name="connsiteX6" fmla="*/ 0 w 7918450"/>
              <a:gd name="connsiteY6" fmla="*/ 1375039 h 1375039"/>
              <a:gd name="connsiteX7" fmla="*/ 229178 w 7918450"/>
              <a:gd name="connsiteY7" fmla="*/ 0 h 1375039"/>
              <a:gd name="connsiteX0" fmla="*/ 0 w 7920253"/>
              <a:gd name="connsiteY0" fmla="*/ 2381 h 1375039"/>
              <a:gd name="connsiteX1" fmla="*/ 7920253 w 7920253"/>
              <a:gd name="connsiteY1" fmla="*/ 0 h 1375039"/>
              <a:gd name="connsiteX2" fmla="*/ 7920253 w 7920253"/>
              <a:gd name="connsiteY2" fmla="*/ 0 h 1375039"/>
              <a:gd name="connsiteX3" fmla="*/ 7920253 w 7920253"/>
              <a:gd name="connsiteY3" fmla="*/ 1145861 h 1375039"/>
              <a:gd name="connsiteX4" fmla="*/ 7691075 w 7920253"/>
              <a:gd name="connsiteY4" fmla="*/ 1375039 h 1375039"/>
              <a:gd name="connsiteX5" fmla="*/ 1803 w 7920253"/>
              <a:gd name="connsiteY5" fmla="*/ 1375039 h 1375039"/>
              <a:gd name="connsiteX6" fmla="*/ 1803 w 7920253"/>
              <a:gd name="connsiteY6" fmla="*/ 1375039 h 1375039"/>
              <a:gd name="connsiteX7" fmla="*/ 0 w 7920253"/>
              <a:gd name="connsiteY7" fmla="*/ 2381 h 1375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920253" h="1375039">
                <a:moveTo>
                  <a:pt x="0" y="2381"/>
                </a:moveTo>
                <a:lnTo>
                  <a:pt x="7920253" y="0"/>
                </a:lnTo>
                <a:lnTo>
                  <a:pt x="7920253" y="0"/>
                </a:lnTo>
                <a:lnTo>
                  <a:pt x="7920253" y="1145861"/>
                </a:lnTo>
                <a:cubicBezTo>
                  <a:pt x="7920253" y="1272433"/>
                  <a:pt x="7817647" y="1375039"/>
                  <a:pt x="7691075" y="1375039"/>
                </a:cubicBezTo>
                <a:lnTo>
                  <a:pt x="1803" y="1375039"/>
                </a:lnTo>
                <a:lnTo>
                  <a:pt x="1803" y="1375039"/>
                </a:lnTo>
                <a:lnTo>
                  <a:pt x="0" y="2381"/>
                </a:lnTo>
                <a:close/>
              </a:path>
            </a:pathLst>
          </a:custGeom>
          <a:solidFill>
            <a:srgbClr val="80276C"/>
          </a:solidFill>
        </p:spPr>
        <p:txBody>
          <a:bodyPr lIns="288000" tIns="144000" rIns="288000" bIns="72000" anchor="ctr" anchorCtr="0">
            <a:normAutofit/>
          </a:bodyPr>
          <a:lstStyle>
            <a:lvl1pPr algn="r">
              <a:lnSpc>
                <a:spcPct val="85000"/>
              </a:lnSpc>
              <a:spcBef>
                <a:spcPts val="600"/>
              </a:spcBef>
              <a:defRPr sz="4500" b="1" cap="all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</a:t>
            </a:r>
            <a:br>
              <a:rPr lang="fr-FR" dirty="0"/>
            </a:br>
            <a:r>
              <a:rPr lang="fr-FR" dirty="0"/>
              <a:t>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89007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>
            <p:custDataLst>
              <p:tags r:id="rId1"/>
            </p:custDataLst>
          </p:nvPr>
        </p:nvSpPr>
        <p:spPr>
          <a:xfrm>
            <a:off x="0" y="1"/>
            <a:ext cx="16933" cy="12700"/>
          </a:xfrm>
          <a:prstGeom prst="octagon">
            <a:avLst/>
          </a:prstGeom>
          <a:noFill/>
          <a:ln w="3175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3175" cap="flat" cmpd="sng" algn="ctr">
                <a:solidFill>
                  <a:schemeClr val="accent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1600" b="1" dirty="0">
              <a:solidFill>
                <a:srgbClr val="6D6D6D"/>
              </a:solidFill>
            </a:endParaRPr>
          </a:p>
        </p:txBody>
      </p:sp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indent="-380990"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defRPr sz="2400">
                <a:solidFill>
                  <a:schemeClr val="accent2"/>
                </a:solidFill>
              </a:defRPr>
            </a:lvl1pPr>
            <a:lvl2pPr marL="831830" indent="-380990">
              <a:spcBef>
                <a:spcPts val="0"/>
              </a:spcBef>
              <a:buFont typeface="Wingdings" panose="05000000000000000000" pitchFamily="2" charset="2"/>
              <a:buChar char="§"/>
              <a:tabLst>
                <a:tab pos="831830" algn="l"/>
              </a:tabLst>
              <a:defRPr sz="1867">
                <a:solidFill>
                  <a:schemeClr val="tx1"/>
                </a:solidFill>
              </a:defRPr>
            </a:lvl2pPr>
            <a:lvl3pPr marL="1073124" indent="-239178">
              <a:buFont typeface="Arial" panose="020B0604020202020204" pitchFamily="34" charset="0"/>
              <a:buChar char="•"/>
              <a:tabLst>
                <a:tab pos="952476" algn="l"/>
              </a:tabLst>
              <a:defRPr sz="1600">
                <a:solidFill>
                  <a:schemeClr val="tx1"/>
                </a:solidFill>
              </a:defRPr>
            </a:lvl3pPr>
            <a:lvl4pPr marL="1432948" indent="-247644">
              <a:defRPr sz="1600">
                <a:solidFill>
                  <a:schemeClr val="tx1"/>
                </a:solidFill>
              </a:defRPr>
            </a:lvl4pPr>
            <a:lvl5pPr marL="1794888" indent="-247644"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baseline="0">
                <a:solidFill>
                  <a:schemeClr val="tx1"/>
                </a:solidFill>
              </a:defRPr>
            </a:lvl5pPr>
            <a:lvl6pPr marL="2275360" indent="-247644">
              <a:defRPr sz="1600"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 bwMode="gray">
          <a:xfrm>
            <a:off x="2187345" y="6501341"/>
            <a:ext cx="5348817" cy="248903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74723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general + Sub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6001" y="1925639"/>
            <a:ext cx="11518900" cy="4191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1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551" y="1494000"/>
            <a:ext cx="11518349" cy="309600"/>
          </a:xfrm>
          <a:prstGeom prst="rect">
            <a:avLst/>
          </a:prstGeom>
        </p:spPr>
        <p:txBody>
          <a:bodyPr wrap="square"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here to add your text</a:t>
            </a:r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187345" y="6501341"/>
            <a:ext cx="5348817" cy="248903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236827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Conten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5999" y="2725948"/>
            <a:ext cx="11518900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000" y="1494002"/>
            <a:ext cx="11519449" cy="1138871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</p:txBody>
      </p:sp>
      <p:sp>
        <p:nvSpPr>
          <p:cNvPr id="7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2351586" y="6309321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405426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6"/>
          <p:cNvSpPr>
            <a:spLocks noGrp="1"/>
          </p:cNvSpPr>
          <p:nvPr>
            <p:ph sz="quarter" idx="17" hasCustomPrompt="1"/>
          </p:nvPr>
        </p:nvSpPr>
        <p:spPr bwMode="gray">
          <a:xfrm>
            <a:off x="6213933" y="1494000"/>
            <a:ext cx="5638800" cy="46152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9" name="Inhaltsplatzhalter 6"/>
          <p:cNvSpPr>
            <a:spLocks noGrp="1"/>
          </p:cNvSpPr>
          <p:nvPr>
            <p:ph sz="quarter" idx="19" hasCustomPrompt="1"/>
          </p:nvPr>
        </p:nvSpPr>
        <p:spPr bwMode="gray">
          <a:xfrm>
            <a:off x="336000" y="1494000"/>
            <a:ext cx="5638800" cy="4615200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11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8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021942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+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 bwMode="gray">
          <a:xfrm>
            <a:off x="335999" y="2725948"/>
            <a:ext cx="5641467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10" name="Textplatzhalter 7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336000" y="1494002"/>
            <a:ext cx="11519449" cy="1138871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</p:txBody>
      </p:sp>
      <p:sp>
        <p:nvSpPr>
          <p:cNvPr id="11" name="Inhaltsplatzhalter 8"/>
          <p:cNvSpPr>
            <a:spLocks noGrp="1"/>
          </p:cNvSpPr>
          <p:nvPr>
            <p:ph sz="quarter" idx="17" hasCustomPrompt="1"/>
          </p:nvPr>
        </p:nvSpPr>
        <p:spPr bwMode="gray">
          <a:xfrm>
            <a:off x="6213200" y="2725948"/>
            <a:ext cx="5641467" cy="3390691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noProof="0" dirty="0"/>
              <a:t>Click the content icon you want to use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12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912377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16651" y="1557339"/>
            <a:ext cx="5975349" cy="4559300"/>
          </a:xfrm>
          <a:prstGeom prst="rect">
            <a:avLst/>
          </a:prstGeom>
          <a:noFill/>
        </p:spPr>
        <p:txBody>
          <a:bodyPr lIns="72000" tIns="0" bIns="0" anchor="t" anchorCtr="0"/>
          <a:lstStyle>
            <a:lvl1pPr>
              <a:defRPr/>
            </a:lvl1pPr>
          </a:lstStyle>
          <a:p>
            <a:r>
              <a:rPr lang="fr-FR" noProof="0" dirty="0"/>
              <a:t>Image</a:t>
            </a:r>
          </a:p>
        </p:txBody>
      </p:sp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000" y="1494001"/>
            <a:ext cx="5640000" cy="4615439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69611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+ Image +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000" y="1494001"/>
            <a:ext cx="5640000" cy="4615439"/>
          </a:xfrm>
          <a:prstGeom prst="rect">
            <a:avLst/>
          </a:prstGeom>
        </p:spPr>
        <p:txBody>
          <a:bodyPr/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  <a:p>
            <a:pPr lvl="6"/>
            <a:r>
              <a:rPr lang="en-US" noProof="0" dirty="0"/>
              <a:t>Seventh text level</a:t>
            </a:r>
          </a:p>
          <a:p>
            <a:pPr lvl="7"/>
            <a:r>
              <a:rPr lang="en-US" noProof="0" dirty="0"/>
              <a:t>Eight text level</a:t>
            </a:r>
          </a:p>
          <a:p>
            <a:pPr lvl="8"/>
            <a:r>
              <a:rPr lang="en-US" noProof="0" dirty="0"/>
              <a:t>Ninth text level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6216651" y="5806441"/>
            <a:ext cx="5975349" cy="310199"/>
          </a:xfrm>
          <a:prstGeom prst="rect">
            <a:avLst/>
          </a:prstGeom>
          <a:solidFill>
            <a:schemeClr val="bg1"/>
          </a:solidFill>
        </p:spPr>
        <p:txBody>
          <a:bodyPr rIns="108000" anchor="ctr" anchorCtr="0"/>
          <a:lstStyle>
            <a:lvl1pPr algn="r">
              <a:defRPr sz="1600"/>
            </a:lvl1pPr>
          </a:lstStyle>
          <a:p>
            <a:pPr lvl="0"/>
            <a:r>
              <a:rPr lang="en-US" noProof="0" dirty="0"/>
              <a:t>Image description</a:t>
            </a:r>
          </a:p>
        </p:txBody>
      </p:sp>
      <p:sp>
        <p:nvSpPr>
          <p:cNvPr id="8" name="Textplatzhalter 11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16651" y="1558800"/>
            <a:ext cx="5975349" cy="4247640"/>
          </a:xfrm>
          <a:prstGeom prst="rect">
            <a:avLst/>
          </a:prstGeom>
          <a:noFill/>
        </p:spPr>
        <p:txBody>
          <a:bodyPr lIns="72000" tIns="0" bIns="0" anchor="t" anchorCtr="0"/>
          <a:lstStyle>
            <a:lvl1pPr>
              <a:defRPr/>
            </a:lvl1pPr>
          </a:lstStyle>
          <a:p>
            <a:r>
              <a:rPr lang="fr-FR" noProof="0" dirty="0"/>
              <a:t>Image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12672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Headline + Sub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9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35999" y="1494000"/>
            <a:ext cx="11518900" cy="309600"/>
          </a:xfrm>
          <a:prstGeom prst="rect">
            <a:avLst/>
          </a:prstGeom>
        </p:spPr>
        <p:txBody>
          <a:bodyPr anchor="b" anchorCtr="0"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667">
                <a:solidFill>
                  <a:schemeClr val="tx1"/>
                </a:solidFill>
              </a:defRPr>
            </a:lvl1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 dirty="0"/>
              <a:t>Click here to add text for the </a:t>
            </a:r>
            <a:r>
              <a:rPr lang="en-US" noProof="0" dirty="0" err="1"/>
              <a:t>subheadline</a:t>
            </a:r>
            <a:r>
              <a:rPr lang="en-US" noProof="0" dirty="0"/>
              <a:t> </a:t>
            </a:r>
          </a:p>
        </p:txBody>
      </p:sp>
      <p:sp>
        <p:nvSpPr>
          <p:cNvPr id="6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5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412444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6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9904598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060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600" b="1" dirty="0">
              <a:solidFill>
                <a:srgbClr val="6D6D6D"/>
              </a:solidFill>
            </a:endParaRPr>
          </a:p>
        </p:txBody>
      </p:sp>
      <p:pic>
        <p:nvPicPr>
          <p:cNvPr id="3" name="F25E1CD4-A583-4BB2-82B1-EA8448AABC97" descr="95C080D9-D9F9-4764-A9F0-7C86F910EFA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635" y="4413451"/>
            <a:ext cx="3839800" cy="168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28009" y="2261185"/>
            <a:ext cx="8577284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fr-FR" sz="4533"/>
              <a:t>Modifiez le style du titre</a:t>
            </a:r>
            <a:endParaRPr lang="fr-FR" sz="4533" dirty="0"/>
          </a:p>
        </p:txBody>
      </p:sp>
    </p:spTree>
    <p:extLst>
      <p:ext uri="{BB962C8B-B14F-4D97-AF65-F5344CB8AC3E}">
        <p14:creationId xmlns:p14="http://schemas.microsoft.com/office/powerpoint/2010/main" val="923533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51689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98791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fr-FR" noProof="0" dirty="0"/>
              <a:t>First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1"/>
            <a:r>
              <a:rPr lang="fr-FR" noProof="0" dirty="0"/>
              <a:t>Second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2"/>
            <a:r>
              <a:rPr lang="fr-FR" noProof="0" dirty="0" err="1"/>
              <a:t>Third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3"/>
            <a:r>
              <a:rPr lang="fr-FR" noProof="0" dirty="0" err="1"/>
              <a:t>Fourth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4"/>
            <a:r>
              <a:rPr lang="fr-FR" noProof="0" dirty="0" err="1"/>
              <a:t>Fifth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  <a:p>
            <a:pPr lvl="5"/>
            <a:r>
              <a:rPr lang="fr-FR" noProof="0" dirty="0" err="1"/>
              <a:t>Sixth</a:t>
            </a:r>
            <a:r>
              <a:rPr lang="fr-FR" noProof="0" dirty="0"/>
              <a:t> </a:t>
            </a:r>
            <a:r>
              <a:rPr lang="fr-FR" noProof="0" dirty="0" err="1"/>
              <a:t>text</a:t>
            </a:r>
            <a:r>
              <a:rPr lang="fr-FR" noProof="0" dirty="0"/>
              <a:t> </a:t>
            </a:r>
            <a:r>
              <a:rPr lang="fr-FR" noProof="0" dirty="0" err="1"/>
              <a:t>level</a:t>
            </a:r>
            <a:endParaRPr lang="fr-FR" noProof="0" dirty="0"/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fr-FR" noProof="0" dirty="0"/>
              <a:t>Source:</a:t>
            </a:r>
          </a:p>
        </p:txBody>
      </p:sp>
      <p:sp>
        <p:nvSpPr>
          <p:cNvPr id="5" name="Titel 8"/>
          <p:cNvSpPr>
            <a:spLocks noGrp="1"/>
          </p:cNvSpPr>
          <p:nvPr>
            <p:ph type="title" hasCustomPrompt="1"/>
          </p:nvPr>
        </p:nvSpPr>
        <p:spPr bwMode="gray">
          <a:xfrm>
            <a:off x="336001" y="40500"/>
            <a:ext cx="11519451" cy="9036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182768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>
                <a:latin typeface="Canal+" pitchFamily="2" charset="0"/>
              </a:defRPr>
            </a:lvl1pPr>
          </a:lstStyle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258462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5427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436657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3058443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x1 Box +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AU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1"/>
          </p:nvPr>
        </p:nvSpPr>
        <p:spPr>
          <a:xfrm>
            <a:off x="381001" y="1790701"/>
            <a:ext cx="11425767" cy="4040188"/>
          </a:xfrm>
          <a:prstGeom prst="rect">
            <a:avLst/>
          </a:prstGeom>
        </p:spPr>
        <p:txBody>
          <a:bodyPr tIns="0">
            <a:noAutofit/>
          </a:bodyPr>
          <a:lstStyle>
            <a:lvl1pPr>
              <a:defRPr b="0"/>
            </a:lvl1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 dirty="0"/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5"/>
          </p:nvPr>
        </p:nvSpPr>
        <p:spPr>
          <a:xfrm>
            <a:off x="381000" y="1031840"/>
            <a:ext cx="11425765" cy="758861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pPr lvl="0"/>
            <a:r>
              <a:rPr lang="fr-FR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2992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6552" y="6306345"/>
            <a:ext cx="5348817" cy="443899"/>
          </a:xfrm>
          <a:prstGeom prst="rect">
            <a:avLst/>
          </a:prstGeom>
        </p:spPr>
        <p:txBody>
          <a:bodyPr anchor="b" anchorCtr="0"/>
          <a:lstStyle>
            <a:lvl1pPr>
              <a:spcAft>
                <a:spcPts val="0"/>
              </a:spcAft>
              <a:buFontTx/>
              <a:buNone/>
              <a:defRPr sz="1067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Tx/>
              <a:buNone/>
              <a:defRPr sz="133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Source: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8737600" y="6525344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 sz="1467" i="1">
                <a:latin typeface="Canal+" pitchFamily="50" charset="0"/>
              </a:defRPr>
            </a:lvl1pPr>
          </a:lstStyle>
          <a:p>
            <a:fld id="{47AFB671-B60B-4FD7-A4B2-341A32C1B7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495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2187948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General conten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2"/>
          <p:cNvSpPr>
            <a:spLocks noGrp="1"/>
          </p:cNvSpPr>
          <p:nvPr>
            <p:ph idx="1" hasCustomPrompt="1"/>
          </p:nvPr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 baseline="0"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</a:lstStyle>
          <a:p>
            <a:pPr lvl="0"/>
            <a:r>
              <a:rPr lang="en-US" noProof="0" dirty="0"/>
              <a:t>First text level</a:t>
            </a:r>
          </a:p>
          <a:p>
            <a:pPr lvl="1"/>
            <a:r>
              <a:rPr lang="en-US" noProof="0" dirty="0"/>
              <a:t>Second text level</a:t>
            </a:r>
          </a:p>
          <a:p>
            <a:pPr lvl="2"/>
            <a:r>
              <a:rPr lang="en-US" noProof="0" dirty="0"/>
              <a:t>Third text level</a:t>
            </a:r>
          </a:p>
          <a:p>
            <a:pPr lvl="3"/>
            <a:r>
              <a:rPr lang="en-US" noProof="0" dirty="0"/>
              <a:t>Fourth text level</a:t>
            </a:r>
          </a:p>
          <a:p>
            <a:pPr lvl="4"/>
            <a:r>
              <a:rPr lang="en-US" noProof="0" dirty="0"/>
              <a:t>Fifth text level</a:t>
            </a:r>
          </a:p>
          <a:p>
            <a:pPr lvl="5"/>
            <a:r>
              <a:rPr lang="en-US" noProof="0" dirty="0"/>
              <a:t>Sixth text level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US" noProof="0" dirty="0"/>
              <a:t>Click here to add the headline</a:t>
            </a:r>
          </a:p>
        </p:txBody>
      </p:sp>
    </p:spTree>
    <p:extLst>
      <p:ext uri="{BB962C8B-B14F-4D97-AF65-F5344CB8AC3E}">
        <p14:creationId xmlns:p14="http://schemas.microsoft.com/office/powerpoint/2010/main" val="769669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999973-DAAB-4687-B4B4-75DA6A298F11}" type="datetimeFigureOut">
              <a:rPr lang="fr-FR" smtClean="0"/>
              <a:t>19/05/2021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47AFB671-B60B-4FD7-A4B2-341A32C1B78B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06052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604797"/>
            <a:ext cx="0" cy="0"/>
          </a:xfrm>
        </p:spPr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32052264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oleObject" Target="../embeddings/oleObject2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/>
          </p:cNvGraphicFramePr>
          <p:nvPr>
            <p:custDataLst>
              <p:tags r:id="rId28"/>
            </p:custData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270" imgH="270" progId="TCLayout.ActiveDocument.1">
                  <p:embed/>
                </p:oleObj>
              </mc:Choice>
              <mc:Fallback>
                <p:oleObj name="think-cell Slide" r:id="rId29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336001" y="40500"/>
            <a:ext cx="11519451" cy="90360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 noProof="0" dirty="0"/>
              <a:t>Click here to add the headline</a:t>
            </a:r>
          </a:p>
        </p:txBody>
      </p:sp>
      <p:cxnSp>
        <p:nvCxnSpPr>
          <p:cNvPr id="48" name="Gerade Verbindung 47"/>
          <p:cNvCxnSpPr/>
          <p:nvPr/>
        </p:nvCxnSpPr>
        <p:spPr bwMode="gray">
          <a:xfrm flipV="1">
            <a:off x="609388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Gerade Verbindung 48"/>
          <p:cNvCxnSpPr/>
          <p:nvPr/>
        </p:nvCxnSpPr>
        <p:spPr bwMode="gray">
          <a:xfrm flipV="1">
            <a:off x="597323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 Verbindung 49"/>
          <p:cNvCxnSpPr/>
          <p:nvPr/>
        </p:nvCxnSpPr>
        <p:spPr bwMode="gray">
          <a:xfrm flipV="1">
            <a:off x="6214537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feld 50"/>
          <p:cNvSpPr txBox="1"/>
          <p:nvPr/>
        </p:nvSpPr>
        <p:spPr bwMode="gray">
          <a:xfrm>
            <a:off x="5943664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prstClr val="white"/>
                </a:solidFill>
              </a:rPr>
              <a:t>0.00</a:t>
            </a:r>
          </a:p>
        </p:txBody>
      </p:sp>
      <p:sp>
        <p:nvSpPr>
          <p:cNvPr id="52" name="Textfeld 51"/>
          <p:cNvSpPr txBox="1"/>
          <p:nvPr/>
        </p:nvSpPr>
        <p:spPr bwMode="gray">
          <a:xfrm>
            <a:off x="5621931" y="-194726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0.10</a:t>
            </a:r>
          </a:p>
        </p:txBody>
      </p:sp>
      <p:sp>
        <p:nvSpPr>
          <p:cNvPr id="53" name="Textfeld 52"/>
          <p:cNvSpPr txBox="1"/>
          <p:nvPr/>
        </p:nvSpPr>
        <p:spPr bwMode="gray">
          <a:xfrm>
            <a:off x="6280211" y="-194726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0.10</a:t>
            </a:r>
          </a:p>
        </p:txBody>
      </p:sp>
      <p:cxnSp>
        <p:nvCxnSpPr>
          <p:cNvPr id="60" name="Gerade Verbindung 59"/>
          <p:cNvCxnSpPr/>
          <p:nvPr/>
        </p:nvCxnSpPr>
        <p:spPr bwMode="gray">
          <a:xfrm flipH="1">
            <a:off x="-198968" y="1265237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feld 60"/>
          <p:cNvSpPr txBox="1"/>
          <p:nvPr/>
        </p:nvSpPr>
        <p:spPr bwMode="gray">
          <a:xfrm>
            <a:off x="-538690" y="1511173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2.05</a:t>
            </a:r>
          </a:p>
        </p:txBody>
      </p:sp>
      <p:cxnSp>
        <p:nvCxnSpPr>
          <p:cNvPr id="62" name="Gerade Verbindung 61"/>
          <p:cNvCxnSpPr/>
          <p:nvPr/>
        </p:nvCxnSpPr>
        <p:spPr bwMode="gray">
          <a:xfrm flipH="1">
            <a:off x="-198968" y="384016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feld 62"/>
          <p:cNvSpPr txBox="1"/>
          <p:nvPr/>
        </p:nvSpPr>
        <p:spPr bwMode="gray">
          <a:xfrm>
            <a:off x="-538690" y="3790361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0.45</a:t>
            </a:r>
          </a:p>
        </p:txBody>
      </p:sp>
      <p:cxnSp>
        <p:nvCxnSpPr>
          <p:cNvPr id="64" name="Gerade Verbindung 63"/>
          <p:cNvCxnSpPr/>
          <p:nvPr/>
        </p:nvCxnSpPr>
        <p:spPr bwMode="gray">
          <a:xfrm flipH="1">
            <a:off x="-198968" y="392906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feld 64"/>
          <p:cNvSpPr txBox="1"/>
          <p:nvPr/>
        </p:nvSpPr>
        <p:spPr bwMode="gray">
          <a:xfrm>
            <a:off x="-538690" y="3882231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0.55</a:t>
            </a:r>
          </a:p>
        </p:txBody>
      </p:sp>
      <p:cxnSp>
        <p:nvCxnSpPr>
          <p:cNvPr id="69" name="Gerade Verbindung 68"/>
          <p:cNvCxnSpPr/>
          <p:nvPr/>
        </p:nvCxnSpPr>
        <p:spPr bwMode="gray">
          <a:xfrm flipH="1">
            <a:off x="-198968" y="3744653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feld 69"/>
          <p:cNvSpPr txBox="1"/>
          <p:nvPr/>
        </p:nvSpPr>
        <p:spPr bwMode="gray">
          <a:xfrm>
            <a:off x="-538690" y="3698489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0.35</a:t>
            </a:r>
          </a:p>
        </p:txBody>
      </p:sp>
      <p:cxnSp>
        <p:nvCxnSpPr>
          <p:cNvPr id="71" name="Gerade Verbindung 70"/>
          <p:cNvCxnSpPr/>
          <p:nvPr/>
        </p:nvCxnSpPr>
        <p:spPr bwMode="gray">
          <a:xfrm flipH="1">
            <a:off x="-198968" y="6116639"/>
            <a:ext cx="156635" cy="0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feld 71"/>
          <p:cNvSpPr txBox="1"/>
          <p:nvPr/>
        </p:nvSpPr>
        <p:spPr bwMode="gray">
          <a:xfrm>
            <a:off x="-538690" y="6070473"/>
            <a:ext cx="2413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800" dirty="0">
                <a:solidFill>
                  <a:prstClr val="white"/>
                </a:solidFill>
              </a:rPr>
              <a:t>2.94</a:t>
            </a:r>
          </a:p>
        </p:txBody>
      </p:sp>
      <p:cxnSp>
        <p:nvCxnSpPr>
          <p:cNvPr id="54" name="Gerade Verbindung 39"/>
          <p:cNvCxnSpPr/>
          <p:nvPr/>
        </p:nvCxnSpPr>
        <p:spPr bwMode="gray">
          <a:xfrm flipV="1">
            <a:off x="11856640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feld 44"/>
          <p:cNvSpPr txBox="1"/>
          <p:nvPr/>
        </p:nvSpPr>
        <p:spPr bwMode="gray">
          <a:xfrm>
            <a:off x="11706417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prstClr val="white"/>
                </a:solidFill>
              </a:rPr>
              <a:t>4.72</a:t>
            </a:r>
          </a:p>
        </p:txBody>
      </p:sp>
      <p:cxnSp>
        <p:nvCxnSpPr>
          <p:cNvPr id="57" name="Gerade Verbindung 39"/>
          <p:cNvCxnSpPr/>
          <p:nvPr/>
        </p:nvCxnSpPr>
        <p:spPr bwMode="gray">
          <a:xfrm flipV="1">
            <a:off x="337391" y="-123825"/>
            <a:ext cx="0" cy="107156"/>
          </a:xfrm>
          <a:prstGeom prst="line">
            <a:avLst/>
          </a:prstGeom>
          <a:ln>
            <a:solidFill>
              <a:schemeClr val="bg1"/>
            </a:solidFill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feld 44"/>
          <p:cNvSpPr txBox="1"/>
          <p:nvPr/>
        </p:nvSpPr>
        <p:spPr bwMode="gray">
          <a:xfrm>
            <a:off x="187168" y="-287059"/>
            <a:ext cx="2708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800" dirty="0">
                <a:solidFill>
                  <a:prstClr val="white"/>
                </a:solidFill>
              </a:rPr>
              <a:t>4.72</a:t>
            </a:r>
          </a:p>
        </p:txBody>
      </p:sp>
      <p:sp>
        <p:nvSpPr>
          <p:cNvPr id="7" name="Textfeld 6"/>
          <p:cNvSpPr txBox="1"/>
          <p:nvPr/>
        </p:nvSpPr>
        <p:spPr bwMode="gray">
          <a:xfrm>
            <a:off x="8229723" y="6578178"/>
            <a:ext cx="3626279" cy="2051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r">
              <a:defRPr/>
            </a:pPr>
            <a:r>
              <a:rPr lang="en-US" sz="1333" dirty="0">
                <a:solidFill>
                  <a:srgbClr val="6D6D6D"/>
                </a:solidFill>
              </a:rPr>
              <a:t>January 2020|</a:t>
            </a:r>
            <a:r>
              <a:rPr lang="en-US" sz="1333" dirty="0">
                <a:solidFill>
                  <a:srgbClr val="A9A9A9"/>
                </a:solidFill>
              </a:rPr>
              <a:t> </a:t>
            </a:r>
            <a:fld id="{5152254E-7EB4-45E4-904F-3575BFE2F20B}" type="slidenum">
              <a:rPr lang="en-US" sz="1333">
                <a:solidFill>
                  <a:srgbClr val="6D6D6D"/>
                </a:solidFill>
              </a:rPr>
              <a:pPr algn="r">
                <a:defRPr/>
              </a:pPr>
              <a:t>‹#›</a:t>
            </a:fld>
            <a:endParaRPr lang="en-US" sz="1333" dirty="0">
              <a:solidFill>
                <a:srgbClr val="6D6D6D"/>
              </a:solidFill>
            </a:endParaRPr>
          </a:p>
        </p:txBody>
      </p:sp>
      <p:graphicFrame>
        <p:nvGraphicFramePr>
          <p:cNvPr id="31" name="Object 30" hidden="1"/>
          <p:cNvGraphicFramePr>
            <a:graphicFrameLocks noChangeAspect="1"/>
          </p:cNvGraphicFramePr>
          <p:nvPr/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1" imgW="270" imgH="270" progId="TCLayout.ActiveDocument.1">
                  <p:embed/>
                </p:oleObj>
              </mc:Choice>
              <mc:Fallback>
                <p:oleObj name="think-cell Slide" r:id="rId31" imgW="270" imgH="270" progId="TCLayout.ActiveDocument.1">
                  <p:embed/>
                  <p:pic>
                    <p:nvPicPr>
                      <p:cNvPr id="31" name="Object 30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0" y="1001251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F25E1CD4-A583-4BB2-82B1-EA8448AABC97" descr="95C080D9-D9F9-4764-A9F0-7C86F910EFA5"/>
          <p:cNvPicPr>
            <a:picLocks noChangeAspect="1" noChangeArrowheads="1"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382" y="6412533"/>
            <a:ext cx="480053" cy="280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platzhalter 2"/>
          <p:cNvSpPr txBox="1">
            <a:spLocks/>
          </p:cNvSpPr>
          <p:nvPr userDrawn="1"/>
        </p:nvSpPr>
        <p:spPr bwMode="gray">
          <a:xfrm>
            <a:off x="336000" y="1494001"/>
            <a:ext cx="11520000" cy="46226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marR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18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23888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623888" algn="l"/>
              </a:tabLst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4863" marR="0" indent="-17938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714375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74738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46200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255713" algn="l"/>
              </a:tabLst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06563" marR="0" indent="-185738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766800" indent="-187200" algn="l" defTabSz="914400" rtl="0" eaLnBrk="1" latinLnBrk="0" hangingPunct="1">
              <a:spcBef>
                <a:spcPts val="500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400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3071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txStyles>
    <p:titleStyle>
      <a:lvl1pPr algn="l" defTabSz="1219170" rtl="0" eaLnBrk="1" latinLnBrk="0" hangingPunct="1">
        <a:spcBef>
          <a:spcPct val="0"/>
        </a:spcBef>
        <a:buNone/>
        <a:defRPr sz="3200" kern="1200" cap="none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1219170" rtl="0" eaLnBrk="1" fontAlgn="auto" latinLnBrk="0" hangingPunct="1">
        <a:lnSpc>
          <a:spcPct val="100000"/>
        </a:lnSpc>
        <a:spcBef>
          <a:spcPts val="0"/>
        </a:spcBef>
        <a:spcAft>
          <a:spcPts val="667"/>
        </a:spcAft>
        <a:buClrTx/>
        <a:buSzTx/>
        <a:buFont typeface="Arial" panose="020B0604020202020204" pitchFamily="34" charset="0"/>
        <a:buNone/>
        <a:tabLst/>
        <a:defRPr sz="2667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0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ED7404"/>
        </a:buClr>
        <a:buSzPct val="105000"/>
        <a:buFontTx/>
        <a:buNone/>
        <a:tabLst/>
        <a:defRPr sz="2400" kern="1200">
          <a:solidFill>
            <a:srgbClr val="6D6D6D"/>
          </a:solidFill>
          <a:latin typeface="+mn-lt"/>
          <a:ea typeface="+mn-ea"/>
          <a:cs typeface="+mn-cs"/>
        </a:defRPr>
      </a:lvl2pPr>
      <a:lvl3pPr marL="239994" marR="0" indent="-2399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Calibri" panose="020F0502020204030204" pitchFamily="34" charset="0"/>
        <a:buChar char="›"/>
        <a:tabLst/>
        <a:defRPr sz="2133" kern="1200">
          <a:solidFill>
            <a:srgbClr val="6D6D6D"/>
          </a:solidFill>
          <a:latin typeface="+mn-lt"/>
          <a:ea typeface="+mn-ea"/>
          <a:cs typeface="+mn-cs"/>
        </a:defRPr>
      </a:lvl3pPr>
      <a:lvl4pPr marL="489588" marR="0" indent="-2495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Symbol" panose="05050102010706020507" pitchFamily="18" charset="2"/>
        <a:buChar char="-"/>
        <a:tabLst/>
        <a:defRPr sz="2133" kern="1200">
          <a:solidFill>
            <a:srgbClr val="6D6D6D"/>
          </a:solidFill>
          <a:latin typeface="+mn-lt"/>
          <a:ea typeface="+mn-ea"/>
          <a:cs typeface="+mn-cs"/>
        </a:defRPr>
      </a:lvl4pPr>
      <a:lvl5pPr marL="767981" marR="0" indent="-24959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Symbol" panose="05050102010706020507" pitchFamily="18" charset="2"/>
        <a:buChar char="-"/>
        <a:tabLst/>
        <a:defRPr sz="1867" kern="1200">
          <a:solidFill>
            <a:srgbClr val="6D6D6D"/>
          </a:solidFill>
          <a:latin typeface="+mn-lt"/>
          <a:ea typeface="+mn-ea"/>
          <a:cs typeface="+mn-cs"/>
        </a:defRPr>
      </a:lvl5pPr>
      <a:lvl6pPr marL="1022325" marR="0" indent="-247644" algn="l" defTabSz="1219170" rtl="0" eaLnBrk="1" fontAlgn="auto" latinLnBrk="0" hangingPunct="1">
        <a:lnSpc>
          <a:spcPct val="100000"/>
        </a:lnSpc>
        <a:spcBef>
          <a:spcPts val="667"/>
        </a:spcBef>
        <a:spcAft>
          <a:spcPts val="0"/>
        </a:spcAft>
        <a:buClr>
          <a:srgbClr val="63666A"/>
        </a:buClr>
        <a:buSzTx/>
        <a:buFont typeface="Calibri" panose="020F0502020204030204" pitchFamily="34" charset="0"/>
        <a:buChar char="»"/>
        <a:tabLst/>
        <a:defRPr sz="1867" kern="1200">
          <a:solidFill>
            <a:srgbClr val="6D6D6D"/>
          </a:solidFill>
          <a:latin typeface="+mn-lt"/>
          <a:ea typeface="+mn-ea"/>
          <a:cs typeface="+mn-cs"/>
        </a:defRPr>
      </a:lvl6pPr>
      <a:lvl7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7pPr>
      <a:lvl8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8pPr>
      <a:lvl9pPr marL="1022374" indent="-249594" algn="l" defTabSz="1219170" rtl="0" eaLnBrk="1" latinLnBrk="0" hangingPunct="1">
        <a:spcBef>
          <a:spcPts val="667"/>
        </a:spcBef>
        <a:buClr>
          <a:schemeClr val="tx1"/>
        </a:buClr>
        <a:buFont typeface="Calibri" panose="020F0502020204030204" pitchFamily="34" charset="0"/>
        <a:buChar char="»"/>
        <a:defRPr sz="1867" kern="1200" baseline="0">
          <a:solidFill>
            <a:srgbClr val="6D6D6D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DEAC75-52A3-41A1-B6EC-C105B77C2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a ticket to GVA Central support</a:t>
            </a:r>
          </a:p>
        </p:txBody>
      </p:sp>
    </p:spTree>
    <p:extLst>
      <p:ext uri="{BB962C8B-B14F-4D97-AF65-F5344CB8AC3E}">
        <p14:creationId xmlns:p14="http://schemas.microsoft.com/office/powerpoint/2010/main" val="298132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16313C8-A4CB-4EC3-8950-E0DC7AB98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3200" b="1" dirty="0"/>
              <a:t>Centralize: </a:t>
            </a:r>
            <a:r>
              <a:rPr lang="en-GB" sz="3200" dirty="0"/>
              <a:t>a single point of entry for all L3 requests</a:t>
            </a:r>
          </a:p>
          <a:p>
            <a:pPr marL="450840" lvl="1" indent="0">
              <a:buNone/>
            </a:pPr>
            <a:endParaRPr lang="en-GB" sz="3200" dirty="0"/>
          </a:p>
          <a:p>
            <a:pPr lvl="1"/>
            <a:r>
              <a:rPr lang="en-GB" sz="3200" b="1" dirty="0"/>
              <a:t>Ensure follow-up: </a:t>
            </a:r>
            <a:r>
              <a:rPr lang="en-GB" sz="3200" dirty="0"/>
              <a:t>email notifications, ticket handled by an identified L3 user </a:t>
            </a:r>
          </a:p>
          <a:p>
            <a:pPr marL="450840" lvl="1" indent="0">
              <a:buNone/>
            </a:pPr>
            <a:endParaRPr lang="en-GB" sz="3200" dirty="0"/>
          </a:p>
          <a:p>
            <a:pPr lvl="1"/>
            <a:r>
              <a:rPr lang="en-GB" sz="3200" b="1" dirty="0"/>
              <a:t>Measure : </a:t>
            </a:r>
            <a:r>
              <a:rPr lang="en-GB" sz="3200" dirty="0"/>
              <a:t>time past, count of requests, history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059AD471-3D2C-4FAF-9A7B-F0FD99EB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02" y="40500"/>
            <a:ext cx="8001174" cy="903600"/>
          </a:xfrm>
        </p:spPr>
        <p:txBody>
          <a:bodyPr/>
          <a:lstStyle/>
          <a:p>
            <a:r>
              <a:rPr lang="en-US" dirty="0"/>
              <a:t>All lifts to the Level 3 (GVA Central) pass through GVAdmin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3099DDF-5C1D-46F9-A9F3-2355EF9A0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947BF926-EB5E-4F1F-BFE5-0922E5879019}"/>
              </a:ext>
            </a:extLst>
          </p:cNvPr>
          <p:cNvCxnSpPr/>
          <p:nvPr/>
        </p:nvCxnSpPr>
        <p:spPr>
          <a:xfrm>
            <a:off x="10704512" y="93494"/>
            <a:ext cx="0" cy="797613"/>
          </a:xfrm>
          <a:prstGeom prst="line">
            <a:avLst/>
          </a:prstGeom>
          <a:ln w="952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5">
            <a:extLst>
              <a:ext uri="{FF2B5EF4-FFF2-40B4-BE49-F238E27FC236}">
                <a16:creationId xmlns:a16="http://schemas.microsoft.com/office/drawing/2014/main" id="{70F3760B-09A2-421F-91D5-AF12D0042512}"/>
              </a:ext>
            </a:extLst>
          </p:cNvPr>
          <p:cNvSpPr>
            <a:spLocks noEditPoints="1"/>
          </p:cNvSpPr>
          <p:nvPr/>
        </p:nvSpPr>
        <p:spPr bwMode="auto">
          <a:xfrm>
            <a:off x="8973434" y="212246"/>
            <a:ext cx="481212" cy="560108"/>
          </a:xfrm>
          <a:custGeom>
            <a:avLst/>
            <a:gdLst/>
            <a:ahLst/>
            <a:cxnLst>
              <a:cxn ang="0">
                <a:pos x="250" y="250"/>
              </a:cxn>
              <a:cxn ang="0">
                <a:pos x="125" y="296"/>
              </a:cxn>
              <a:cxn ang="0">
                <a:pos x="0" y="250"/>
              </a:cxn>
              <a:cxn ang="0">
                <a:pos x="66" y="210"/>
              </a:cxn>
              <a:cxn ang="0">
                <a:pos x="79" y="219"/>
              </a:cxn>
              <a:cxn ang="0">
                <a:pos x="70" y="232"/>
              </a:cxn>
              <a:cxn ang="0">
                <a:pos x="23" y="251"/>
              </a:cxn>
              <a:cxn ang="0">
                <a:pos x="125" y="273"/>
              </a:cxn>
              <a:cxn ang="0">
                <a:pos x="228" y="250"/>
              </a:cxn>
              <a:cxn ang="0">
                <a:pos x="180" y="232"/>
              </a:cxn>
              <a:cxn ang="0">
                <a:pos x="171" y="219"/>
              </a:cxn>
              <a:cxn ang="0">
                <a:pos x="184" y="210"/>
              </a:cxn>
              <a:cxn ang="0">
                <a:pos x="250" y="250"/>
              </a:cxn>
              <a:cxn ang="0">
                <a:pos x="80" y="182"/>
              </a:cxn>
              <a:cxn ang="0">
                <a:pos x="91" y="182"/>
              </a:cxn>
              <a:cxn ang="0">
                <a:pos x="91" y="250"/>
              </a:cxn>
              <a:cxn ang="0">
                <a:pos x="102" y="262"/>
              </a:cxn>
              <a:cxn ang="0">
                <a:pos x="148" y="262"/>
              </a:cxn>
              <a:cxn ang="0">
                <a:pos x="159" y="250"/>
              </a:cxn>
              <a:cxn ang="0">
                <a:pos x="159" y="182"/>
              </a:cxn>
              <a:cxn ang="0">
                <a:pos x="171" y="182"/>
              </a:cxn>
              <a:cxn ang="0">
                <a:pos x="182" y="171"/>
              </a:cxn>
              <a:cxn ang="0">
                <a:pos x="182" y="102"/>
              </a:cxn>
              <a:cxn ang="0">
                <a:pos x="157" y="82"/>
              </a:cxn>
              <a:cxn ang="0">
                <a:pos x="125" y="80"/>
              </a:cxn>
              <a:cxn ang="0">
                <a:pos x="93" y="82"/>
              </a:cxn>
              <a:cxn ang="0">
                <a:pos x="68" y="102"/>
              </a:cxn>
              <a:cxn ang="0">
                <a:pos x="68" y="171"/>
              </a:cxn>
              <a:cxn ang="0">
                <a:pos x="80" y="182"/>
              </a:cxn>
              <a:cxn ang="0">
                <a:pos x="125" y="68"/>
              </a:cxn>
              <a:cxn ang="0">
                <a:pos x="159" y="34"/>
              </a:cxn>
              <a:cxn ang="0">
                <a:pos x="125" y="0"/>
              </a:cxn>
              <a:cxn ang="0">
                <a:pos x="91" y="34"/>
              </a:cxn>
              <a:cxn ang="0">
                <a:pos x="125" y="68"/>
              </a:cxn>
              <a:cxn ang="0">
                <a:pos x="125" y="68"/>
              </a:cxn>
              <a:cxn ang="0">
                <a:pos x="125" y="68"/>
              </a:cxn>
            </a:cxnLst>
            <a:rect l="0" t="0" r="r" b="b"/>
            <a:pathLst>
              <a:path w="250" h="296">
                <a:moveTo>
                  <a:pt x="250" y="250"/>
                </a:moveTo>
                <a:cubicBezTo>
                  <a:pt x="250" y="282"/>
                  <a:pt x="185" y="296"/>
                  <a:pt x="125" y="296"/>
                </a:cubicBezTo>
                <a:cubicBezTo>
                  <a:pt x="65" y="296"/>
                  <a:pt x="0" y="282"/>
                  <a:pt x="0" y="250"/>
                </a:cubicBezTo>
                <a:cubicBezTo>
                  <a:pt x="0" y="226"/>
                  <a:pt x="36" y="215"/>
                  <a:pt x="66" y="210"/>
                </a:cubicBezTo>
                <a:cubicBezTo>
                  <a:pt x="72" y="209"/>
                  <a:pt x="78" y="213"/>
                  <a:pt x="79" y="219"/>
                </a:cubicBezTo>
                <a:cubicBezTo>
                  <a:pt x="80" y="225"/>
                  <a:pt x="76" y="231"/>
                  <a:pt x="70" y="232"/>
                </a:cubicBezTo>
                <a:cubicBezTo>
                  <a:pt x="33" y="239"/>
                  <a:pt x="23" y="249"/>
                  <a:pt x="23" y="251"/>
                </a:cubicBezTo>
                <a:cubicBezTo>
                  <a:pt x="24" y="257"/>
                  <a:pt x="58" y="273"/>
                  <a:pt x="125" y="273"/>
                </a:cubicBezTo>
                <a:cubicBezTo>
                  <a:pt x="192" y="273"/>
                  <a:pt x="226" y="257"/>
                  <a:pt x="228" y="250"/>
                </a:cubicBezTo>
                <a:cubicBezTo>
                  <a:pt x="227" y="249"/>
                  <a:pt x="217" y="238"/>
                  <a:pt x="180" y="232"/>
                </a:cubicBezTo>
                <a:cubicBezTo>
                  <a:pt x="174" y="231"/>
                  <a:pt x="170" y="225"/>
                  <a:pt x="171" y="219"/>
                </a:cubicBezTo>
                <a:cubicBezTo>
                  <a:pt x="172" y="213"/>
                  <a:pt x="178" y="209"/>
                  <a:pt x="184" y="210"/>
                </a:cubicBezTo>
                <a:cubicBezTo>
                  <a:pt x="214" y="215"/>
                  <a:pt x="250" y="226"/>
                  <a:pt x="250" y="250"/>
                </a:cubicBezTo>
                <a:close/>
                <a:moveTo>
                  <a:pt x="80" y="182"/>
                </a:moveTo>
                <a:cubicBezTo>
                  <a:pt x="91" y="182"/>
                  <a:pt x="91" y="182"/>
                  <a:pt x="91" y="182"/>
                </a:cubicBezTo>
                <a:cubicBezTo>
                  <a:pt x="91" y="250"/>
                  <a:pt x="91" y="250"/>
                  <a:pt x="91" y="250"/>
                </a:cubicBezTo>
                <a:cubicBezTo>
                  <a:pt x="91" y="257"/>
                  <a:pt x="96" y="262"/>
                  <a:pt x="102" y="262"/>
                </a:cubicBezTo>
                <a:cubicBezTo>
                  <a:pt x="148" y="262"/>
                  <a:pt x="148" y="262"/>
                  <a:pt x="148" y="262"/>
                </a:cubicBezTo>
                <a:cubicBezTo>
                  <a:pt x="154" y="262"/>
                  <a:pt x="159" y="257"/>
                  <a:pt x="159" y="250"/>
                </a:cubicBezTo>
                <a:cubicBezTo>
                  <a:pt x="159" y="182"/>
                  <a:pt x="159" y="182"/>
                  <a:pt x="159" y="182"/>
                </a:cubicBezTo>
                <a:cubicBezTo>
                  <a:pt x="171" y="182"/>
                  <a:pt x="171" y="182"/>
                  <a:pt x="171" y="182"/>
                </a:cubicBezTo>
                <a:cubicBezTo>
                  <a:pt x="177" y="182"/>
                  <a:pt x="182" y="177"/>
                  <a:pt x="182" y="171"/>
                </a:cubicBezTo>
                <a:cubicBezTo>
                  <a:pt x="182" y="102"/>
                  <a:pt x="182" y="102"/>
                  <a:pt x="182" y="102"/>
                </a:cubicBezTo>
                <a:cubicBezTo>
                  <a:pt x="182" y="97"/>
                  <a:pt x="173" y="84"/>
                  <a:pt x="157" y="82"/>
                </a:cubicBezTo>
                <a:cubicBezTo>
                  <a:pt x="150" y="81"/>
                  <a:pt x="138" y="80"/>
                  <a:pt x="125" y="80"/>
                </a:cubicBezTo>
                <a:cubicBezTo>
                  <a:pt x="112" y="80"/>
                  <a:pt x="100" y="81"/>
                  <a:pt x="93" y="82"/>
                </a:cubicBezTo>
                <a:cubicBezTo>
                  <a:pt x="77" y="84"/>
                  <a:pt x="68" y="97"/>
                  <a:pt x="68" y="102"/>
                </a:cubicBezTo>
                <a:cubicBezTo>
                  <a:pt x="68" y="171"/>
                  <a:pt x="68" y="171"/>
                  <a:pt x="68" y="171"/>
                </a:cubicBezTo>
                <a:cubicBezTo>
                  <a:pt x="68" y="177"/>
                  <a:pt x="73" y="182"/>
                  <a:pt x="80" y="182"/>
                </a:cubicBezTo>
                <a:close/>
                <a:moveTo>
                  <a:pt x="125" y="68"/>
                </a:moveTo>
                <a:cubicBezTo>
                  <a:pt x="144" y="68"/>
                  <a:pt x="159" y="53"/>
                  <a:pt x="159" y="34"/>
                </a:cubicBezTo>
                <a:cubicBezTo>
                  <a:pt x="159" y="15"/>
                  <a:pt x="144" y="0"/>
                  <a:pt x="125" y="0"/>
                </a:cubicBezTo>
                <a:cubicBezTo>
                  <a:pt x="106" y="0"/>
                  <a:pt x="91" y="15"/>
                  <a:pt x="91" y="34"/>
                </a:cubicBezTo>
                <a:cubicBezTo>
                  <a:pt x="91" y="53"/>
                  <a:pt x="106" y="68"/>
                  <a:pt x="125" y="68"/>
                </a:cubicBezTo>
                <a:close/>
                <a:moveTo>
                  <a:pt x="125" y="68"/>
                </a:moveTo>
                <a:cubicBezTo>
                  <a:pt x="125" y="68"/>
                  <a:pt x="125" y="68"/>
                  <a:pt x="125" y="68"/>
                </a:cubicBezTo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AB433D4-05A7-43AD-99E2-0B0842DED86F}"/>
              </a:ext>
            </a:extLst>
          </p:cNvPr>
          <p:cNvSpPr txBox="1"/>
          <p:nvPr/>
        </p:nvSpPr>
        <p:spPr>
          <a:xfrm>
            <a:off x="9587042" y="99666"/>
            <a:ext cx="1080873" cy="8444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67" b="1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ALL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67" b="1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D91FD030-1537-42DC-B5FF-82F41AAB8BF6}"/>
              </a:ext>
            </a:extLst>
          </p:cNvPr>
          <p:cNvGrpSpPr/>
          <p:nvPr/>
        </p:nvGrpSpPr>
        <p:grpSpPr>
          <a:xfrm>
            <a:off x="10825344" y="351757"/>
            <a:ext cx="1359040" cy="392647"/>
            <a:chOff x="3829026" y="481999"/>
            <a:chExt cx="1340898" cy="367454"/>
          </a:xfrm>
        </p:grpSpPr>
        <p:pic>
          <p:nvPicPr>
            <p:cNvPr id="10" name="Image 9" descr="Une image contenant dessin&#10;&#10;Description générée automatiquement">
              <a:extLst>
                <a:ext uri="{FF2B5EF4-FFF2-40B4-BE49-F238E27FC236}">
                  <a16:creationId xmlns:a16="http://schemas.microsoft.com/office/drawing/2014/main" id="{4014FADC-576B-46C0-8BE8-73C716496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29026" y="481999"/>
              <a:ext cx="847477" cy="367452"/>
            </a:xfrm>
            <a:prstGeom prst="rect">
              <a:avLst/>
            </a:prstGeom>
          </p:spPr>
        </p:pic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2520790D-E3B7-4B3F-94AA-EEEFD3B17D3F}"/>
                </a:ext>
              </a:extLst>
            </p:cNvPr>
            <p:cNvSpPr txBox="1"/>
            <p:nvPr/>
          </p:nvSpPr>
          <p:spPr>
            <a:xfrm>
              <a:off x="4670860" y="508025"/>
              <a:ext cx="499064" cy="34142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80276C"/>
                  </a:solidFill>
                  <a:effectLst/>
                  <a:uLnTx/>
                  <a:uFillTx/>
                  <a:latin typeface="Abadi" panose="020B0604020202020204" pitchFamily="34" charset="0"/>
                  <a:ea typeface="+mn-ea"/>
                  <a:cs typeface="+mn-cs"/>
                </a:rPr>
                <a:t>dmin</a:t>
              </a:r>
              <a:endParaRPr kumimoji="0" lang="en-GB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Abadi" panose="020B0604020202020204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2818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12322A04-F98C-438D-BBB3-8F0E74CD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 ‘easy’ steps 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046E4D3-5BEC-41E1-B710-C4089EBD604B}"/>
              </a:ext>
            </a:extLst>
          </p:cNvPr>
          <p:cNvSpPr/>
          <p:nvPr/>
        </p:nvSpPr>
        <p:spPr>
          <a:xfrm>
            <a:off x="535266" y="1235444"/>
            <a:ext cx="1005419" cy="1104552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Access G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80276C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6ED18F1D-C1E0-4707-8C22-3231CA7A6FC9}"/>
              </a:ext>
            </a:extLst>
          </p:cNvPr>
          <p:cNvSpPr/>
          <p:nvPr/>
        </p:nvSpPr>
        <p:spPr>
          <a:xfrm>
            <a:off x="535266" y="2613426"/>
            <a:ext cx="1005420" cy="110702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Accès formulaire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Tickets 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69AD79DB-BC5F-462D-983B-8F77F6C9AB83}"/>
              </a:ext>
            </a:extLst>
          </p:cNvPr>
          <p:cNvSpPr/>
          <p:nvPr/>
        </p:nvSpPr>
        <p:spPr>
          <a:xfrm>
            <a:off x="446423" y="1139355"/>
            <a:ext cx="216024" cy="2049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  <p:sp>
        <p:nvSpPr>
          <p:cNvPr id="232" name="Ellipse 231">
            <a:extLst>
              <a:ext uri="{FF2B5EF4-FFF2-40B4-BE49-F238E27FC236}">
                <a16:creationId xmlns:a16="http://schemas.microsoft.com/office/drawing/2014/main" id="{C98A3C4C-C0F7-4D62-92F3-4F7BCBE0F988}"/>
              </a:ext>
            </a:extLst>
          </p:cNvPr>
          <p:cNvSpPr/>
          <p:nvPr/>
        </p:nvSpPr>
        <p:spPr>
          <a:xfrm>
            <a:off x="476724" y="2504573"/>
            <a:ext cx="216024" cy="2049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E8B76123-93CB-40DF-8968-4CA3EB4DF839}"/>
              </a:ext>
            </a:extLst>
          </p:cNvPr>
          <p:cNvSpPr/>
          <p:nvPr/>
        </p:nvSpPr>
        <p:spPr>
          <a:xfrm>
            <a:off x="531930" y="3918854"/>
            <a:ext cx="1005420" cy="110702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Choix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</a:t>
            </a:r>
          </a:p>
        </p:txBody>
      </p:sp>
      <p:sp>
        <p:nvSpPr>
          <p:cNvPr id="236" name="Ellipse 235">
            <a:extLst>
              <a:ext uri="{FF2B5EF4-FFF2-40B4-BE49-F238E27FC236}">
                <a16:creationId xmlns:a16="http://schemas.microsoft.com/office/drawing/2014/main" id="{B749C4D1-F7B3-4654-9974-22F59A24B73B}"/>
              </a:ext>
            </a:extLst>
          </p:cNvPr>
          <p:cNvSpPr/>
          <p:nvPr/>
        </p:nvSpPr>
        <p:spPr>
          <a:xfrm>
            <a:off x="434631" y="3810001"/>
            <a:ext cx="216024" cy="2049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B38413F3-D4E7-475E-8963-B17F4576BFB0}"/>
              </a:ext>
            </a:extLst>
          </p:cNvPr>
          <p:cNvSpPr/>
          <p:nvPr/>
        </p:nvSpPr>
        <p:spPr>
          <a:xfrm>
            <a:off x="514277" y="5224282"/>
            <a:ext cx="1005420" cy="110702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Choix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Tracker</a:t>
            </a:r>
          </a:p>
        </p:txBody>
      </p:sp>
      <p:sp>
        <p:nvSpPr>
          <p:cNvPr id="239" name="Ellipse 238">
            <a:extLst>
              <a:ext uri="{FF2B5EF4-FFF2-40B4-BE49-F238E27FC236}">
                <a16:creationId xmlns:a16="http://schemas.microsoft.com/office/drawing/2014/main" id="{65DDF14C-6970-4771-BE19-DCCEB2A2CE8F}"/>
              </a:ext>
            </a:extLst>
          </p:cNvPr>
          <p:cNvSpPr/>
          <p:nvPr/>
        </p:nvSpPr>
        <p:spPr>
          <a:xfrm>
            <a:off x="446423" y="5102497"/>
            <a:ext cx="216024" cy="2049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1DB25390-0803-4F56-ABA2-A0A7C8B2EB4D}"/>
              </a:ext>
            </a:extLst>
          </p:cNvPr>
          <p:cNvSpPr/>
          <p:nvPr/>
        </p:nvSpPr>
        <p:spPr>
          <a:xfrm>
            <a:off x="5980012" y="1239358"/>
            <a:ext cx="1005420" cy="1100638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Rédaction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Titre</a:t>
            </a:r>
          </a:p>
        </p:txBody>
      </p:sp>
      <p:sp>
        <p:nvSpPr>
          <p:cNvPr id="240" name="Ellipse 239">
            <a:extLst>
              <a:ext uri="{FF2B5EF4-FFF2-40B4-BE49-F238E27FC236}">
                <a16:creationId xmlns:a16="http://schemas.microsoft.com/office/drawing/2014/main" id="{E4AAD2CE-6030-4D0D-AD19-DB7C80A90AD4}"/>
              </a:ext>
            </a:extLst>
          </p:cNvPr>
          <p:cNvSpPr/>
          <p:nvPr/>
        </p:nvSpPr>
        <p:spPr>
          <a:xfrm>
            <a:off x="5918422" y="1130505"/>
            <a:ext cx="216024" cy="2049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1284FF85-1175-48FF-81B6-012B5833077A}"/>
              </a:ext>
            </a:extLst>
          </p:cNvPr>
          <p:cNvSpPr/>
          <p:nvPr/>
        </p:nvSpPr>
        <p:spPr>
          <a:xfrm>
            <a:off x="5982355" y="2613426"/>
            <a:ext cx="1005420" cy="110702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Rédaction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Description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F492BB45-1D48-40DB-986B-C26D57BF1733}"/>
              </a:ext>
            </a:extLst>
          </p:cNvPr>
          <p:cNvSpPr/>
          <p:nvPr/>
        </p:nvSpPr>
        <p:spPr>
          <a:xfrm>
            <a:off x="5927029" y="2510955"/>
            <a:ext cx="216024" cy="2049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B3A3F52E-5DE5-405D-88FA-07ACF49D0698}"/>
              </a:ext>
            </a:extLst>
          </p:cNvPr>
          <p:cNvSpPr/>
          <p:nvPr/>
        </p:nvSpPr>
        <p:spPr>
          <a:xfrm>
            <a:off x="5980012" y="3912300"/>
            <a:ext cx="1005420" cy="110702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5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Ajout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Pièces Jointes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DA92242D-7881-4753-9585-CBA99FE7E40A}"/>
              </a:ext>
            </a:extLst>
          </p:cNvPr>
          <p:cNvSpPr/>
          <p:nvPr/>
        </p:nvSpPr>
        <p:spPr>
          <a:xfrm>
            <a:off x="5886978" y="3816211"/>
            <a:ext cx="216024" cy="2049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</p:txBody>
      </p:sp>
      <p:sp>
        <p:nvSpPr>
          <p:cNvPr id="316" name="Rectangle 315">
            <a:extLst>
              <a:ext uri="{FF2B5EF4-FFF2-40B4-BE49-F238E27FC236}">
                <a16:creationId xmlns:a16="http://schemas.microsoft.com/office/drawing/2014/main" id="{5CEF6B14-DA44-4198-A16F-6DED21D5148F}"/>
              </a:ext>
            </a:extLst>
          </p:cNvPr>
          <p:cNvSpPr/>
          <p:nvPr/>
        </p:nvSpPr>
        <p:spPr>
          <a:xfrm>
            <a:off x="5980012" y="5233132"/>
            <a:ext cx="1005420" cy="109817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Soumettre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et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accéder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 ticket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BDF96811-7A93-4832-8ADE-69FF56E3CE30}"/>
              </a:ext>
            </a:extLst>
          </p:cNvPr>
          <p:cNvSpPr/>
          <p:nvPr/>
        </p:nvSpPr>
        <p:spPr>
          <a:xfrm>
            <a:off x="5917707" y="5124279"/>
            <a:ext cx="216024" cy="2049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8</a:t>
            </a:r>
          </a:p>
        </p:txBody>
      </p:sp>
      <p:sp>
        <p:nvSpPr>
          <p:cNvPr id="333" name="Espace réservé du contenu 1">
            <a:extLst>
              <a:ext uri="{FF2B5EF4-FFF2-40B4-BE49-F238E27FC236}">
                <a16:creationId xmlns:a16="http://schemas.microsoft.com/office/drawing/2014/main" id="{E92C198A-A890-41AF-A64B-CF2F5E194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528" y="1263150"/>
            <a:ext cx="3700281" cy="1064167"/>
          </a:xfrm>
        </p:spPr>
        <p:txBody>
          <a:bodyPr/>
          <a:lstStyle/>
          <a:p>
            <a:pPr marL="0" indent="0">
              <a:buNone/>
            </a:pPr>
            <a:r>
              <a:rPr lang="fr-FR" sz="1050" dirty="0">
                <a:solidFill>
                  <a:schemeClr val="tx1"/>
                </a:solidFill>
              </a:rPr>
              <a:t>Depuis Chrome/Firefox, rendez-vous sur :</a:t>
            </a:r>
          </a:p>
          <a:p>
            <a:pPr marL="0" indent="0">
              <a:buNone/>
            </a:pPr>
            <a:endParaRPr lang="fr-FR" sz="105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1050" dirty="0">
                <a:solidFill>
                  <a:schemeClr val="tx1"/>
                </a:solidFill>
              </a:rPr>
              <a:t>Votre identifiant et mot de passe  : </a:t>
            </a:r>
            <a:r>
              <a:rPr lang="fr-FR" sz="1050" i="1" dirty="0">
                <a:solidFill>
                  <a:schemeClr val="tx1"/>
                </a:solidFill>
              </a:rPr>
              <a:t>ISO </a:t>
            </a:r>
            <a:r>
              <a:rPr lang="fr-FR" sz="1050" i="1" dirty="0" err="1">
                <a:solidFill>
                  <a:schemeClr val="tx1"/>
                </a:solidFill>
              </a:rPr>
              <a:t>NextCloud</a:t>
            </a:r>
            <a:endParaRPr lang="fr-FR" sz="1050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sz="1050" dirty="0">
                <a:solidFill>
                  <a:schemeClr val="tx1"/>
                </a:solidFill>
              </a:rPr>
              <a:t>GVAdmin est accessible seulement lorsque le VPN est monté</a:t>
            </a: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4BE72CC0-5E13-440F-8C76-02960B686C2B}"/>
              </a:ext>
            </a:extLst>
          </p:cNvPr>
          <p:cNvSpPr/>
          <p:nvPr/>
        </p:nvSpPr>
        <p:spPr>
          <a:xfrm>
            <a:off x="2034837" y="1507004"/>
            <a:ext cx="2679437" cy="198236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https://gvadmin.canalbox.net/auth/login</a:t>
            </a:r>
          </a:p>
        </p:txBody>
      </p:sp>
      <p:sp>
        <p:nvSpPr>
          <p:cNvPr id="335" name="Espace réservé du contenu 1">
            <a:extLst>
              <a:ext uri="{FF2B5EF4-FFF2-40B4-BE49-F238E27FC236}">
                <a16:creationId xmlns:a16="http://schemas.microsoft.com/office/drawing/2014/main" id="{FCD6816C-1C97-44C8-831B-55A607F26B66}"/>
              </a:ext>
            </a:extLst>
          </p:cNvPr>
          <p:cNvSpPr txBox="1">
            <a:spLocks/>
          </p:cNvSpPr>
          <p:nvPr/>
        </p:nvSpPr>
        <p:spPr bwMode="gray">
          <a:xfrm>
            <a:off x="1629528" y="2655777"/>
            <a:ext cx="3700281" cy="106416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Depuis la page d’accueil de GVAdmin, cliquez sur le bouton « Ticket » qui se trouve en haut à droite de l’écran </a:t>
            </a:r>
          </a:p>
        </p:txBody>
      </p:sp>
      <p:pic>
        <p:nvPicPr>
          <p:cNvPr id="336" name="Image 335">
            <a:extLst>
              <a:ext uri="{FF2B5EF4-FFF2-40B4-BE49-F238E27FC236}">
                <a16:creationId xmlns:a16="http://schemas.microsoft.com/office/drawing/2014/main" id="{5EA256B1-6C52-43E0-94AE-205FC4BBD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992" y="3162330"/>
            <a:ext cx="2905125" cy="457200"/>
          </a:xfrm>
          <a:prstGeom prst="rect">
            <a:avLst/>
          </a:prstGeom>
        </p:spPr>
      </p:pic>
      <p:sp>
        <p:nvSpPr>
          <p:cNvPr id="338" name="Rectangle 337">
            <a:extLst>
              <a:ext uri="{FF2B5EF4-FFF2-40B4-BE49-F238E27FC236}">
                <a16:creationId xmlns:a16="http://schemas.microsoft.com/office/drawing/2014/main" id="{AD69B26B-FB89-480C-AE7D-8ED32C21B133}"/>
              </a:ext>
            </a:extLst>
          </p:cNvPr>
          <p:cNvSpPr/>
          <p:nvPr/>
        </p:nvSpPr>
        <p:spPr>
          <a:xfrm>
            <a:off x="1921992" y="3162330"/>
            <a:ext cx="859308" cy="4572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6D6D6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9" name="Espace réservé du contenu 1">
            <a:extLst>
              <a:ext uri="{FF2B5EF4-FFF2-40B4-BE49-F238E27FC236}">
                <a16:creationId xmlns:a16="http://schemas.microsoft.com/office/drawing/2014/main" id="{4B1C7CC0-FE73-4EE6-B058-CCF3BCC66D9F}"/>
              </a:ext>
            </a:extLst>
          </p:cNvPr>
          <p:cNvSpPr txBox="1">
            <a:spLocks/>
          </p:cNvSpPr>
          <p:nvPr/>
        </p:nvSpPr>
        <p:spPr bwMode="gray">
          <a:xfrm>
            <a:off x="1651315" y="3936279"/>
            <a:ext cx="4028664" cy="11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Choisir l’application concerné par votre demande parmi la liste suivante : </a:t>
            </a:r>
          </a:p>
          <a:p>
            <a:pPr marL="28440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82"/>
              </a:buClr>
              <a:buSzPct val="100000"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GVAdmin</a:t>
            </a:r>
          </a:p>
          <a:p>
            <a:pPr marL="28440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82"/>
              </a:buClr>
              <a:buSzPct val="100000"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CGA</a:t>
            </a:r>
          </a:p>
          <a:p>
            <a:pPr marL="28440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82"/>
              </a:buClr>
              <a:buSzPct val="100000"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Netcracker</a:t>
            </a:r>
          </a:p>
          <a:p>
            <a:pPr marL="28440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82"/>
              </a:buClr>
              <a:buSzPct val="100000"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PFS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02FBA7E1-660C-43CB-999B-D98E3C8FF57E}"/>
              </a:ext>
            </a:extLst>
          </p:cNvPr>
          <p:cNvSpPr/>
          <p:nvPr/>
        </p:nvSpPr>
        <p:spPr>
          <a:xfrm>
            <a:off x="3368108" y="4226497"/>
            <a:ext cx="231187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MapInfo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Service Now / Assistance +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Praxedo</a:t>
            </a:r>
          </a:p>
        </p:txBody>
      </p:sp>
      <p:sp>
        <p:nvSpPr>
          <p:cNvPr id="343" name="Espace réservé du contenu 1">
            <a:extLst>
              <a:ext uri="{FF2B5EF4-FFF2-40B4-BE49-F238E27FC236}">
                <a16:creationId xmlns:a16="http://schemas.microsoft.com/office/drawing/2014/main" id="{6CA1657B-30E3-4E52-8826-A7A1BFA35ECB}"/>
              </a:ext>
            </a:extLst>
          </p:cNvPr>
          <p:cNvSpPr txBox="1">
            <a:spLocks/>
          </p:cNvSpPr>
          <p:nvPr/>
        </p:nvSpPr>
        <p:spPr bwMode="gray">
          <a:xfrm>
            <a:off x="1651315" y="5224282"/>
            <a:ext cx="3736982" cy="11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Choisir un tracker qui va définir votre demande parmi la liste suivante :  </a:t>
            </a:r>
          </a:p>
          <a:p>
            <a:pPr marL="28440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82"/>
              </a:buClr>
              <a:buSzPct val="100000"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Bug</a:t>
            </a:r>
          </a:p>
          <a:p>
            <a:pPr marL="28440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82"/>
              </a:buClr>
              <a:buSzPct val="100000"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Demande d’évolution</a:t>
            </a:r>
          </a:p>
          <a:p>
            <a:pPr marL="28440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82"/>
              </a:buClr>
              <a:buSzPct val="100000"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 des données</a:t>
            </a:r>
          </a:p>
          <a:p>
            <a:pPr marL="284400" marR="0" lvl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782"/>
              </a:buClr>
              <a:buSzPct val="100000"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Mise à jour de données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BCBBF0B4-EB7F-4091-8531-D1884552D997}"/>
              </a:ext>
            </a:extLst>
          </p:cNvPr>
          <p:cNvSpPr/>
          <p:nvPr/>
        </p:nvSpPr>
        <p:spPr>
          <a:xfrm>
            <a:off x="3374554" y="5529741"/>
            <a:ext cx="1850141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Assistance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Gestion compte SI</a:t>
            </a:r>
          </a:p>
        </p:txBody>
      </p:sp>
      <p:sp>
        <p:nvSpPr>
          <p:cNvPr id="345" name="Espace réservé du contenu 1">
            <a:extLst>
              <a:ext uri="{FF2B5EF4-FFF2-40B4-BE49-F238E27FC236}">
                <a16:creationId xmlns:a16="http://schemas.microsoft.com/office/drawing/2014/main" id="{DA8E93DA-8441-4C25-86FC-39B0CCA4A90E}"/>
              </a:ext>
            </a:extLst>
          </p:cNvPr>
          <p:cNvSpPr txBox="1">
            <a:spLocks/>
          </p:cNvSpPr>
          <p:nvPr/>
        </p:nvSpPr>
        <p:spPr bwMode="gray">
          <a:xfrm>
            <a:off x="7139269" y="1316573"/>
            <a:ext cx="4028664" cy="118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Titrer votre demande en indiquant la ville concernée comme suit :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[LOM] pour Lomé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[LBV] pour Libreville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fr-FR" sz="1100" dirty="0">
                <a:solidFill>
                  <a:srgbClr val="63666A"/>
                </a:solidFill>
                <a:latin typeface="Calibri"/>
              </a:rPr>
              <a:t>[ABJ] ou [CIV] pour Abidjan</a:t>
            </a: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srgbClr val="00578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6" name="Espace réservé du contenu 1">
            <a:extLst>
              <a:ext uri="{FF2B5EF4-FFF2-40B4-BE49-F238E27FC236}">
                <a16:creationId xmlns:a16="http://schemas.microsoft.com/office/drawing/2014/main" id="{A9F28234-C87F-4D17-95B8-5C7E82183498}"/>
              </a:ext>
            </a:extLst>
          </p:cNvPr>
          <p:cNvSpPr txBox="1">
            <a:spLocks/>
          </p:cNvSpPr>
          <p:nvPr/>
        </p:nvSpPr>
        <p:spPr bwMode="gray">
          <a:xfrm>
            <a:off x="7162413" y="2835000"/>
            <a:ext cx="4028664" cy="670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Ajouter une description qui soit la plus précise &amp; complète possible. Dans le cas d’une remontée sur un cas particuliers client, veuillez ajouter tous les éléments d’analyses qui ont été réalisées au préalable </a:t>
            </a: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srgbClr val="00578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8" name="Espace réservé du contenu 1">
            <a:extLst>
              <a:ext uri="{FF2B5EF4-FFF2-40B4-BE49-F238E27FC236}">
                <a16:creationId xmlns:a16="http://schemas.microsoft.com/office/drawing/2014/main" id="{41240FD2-6BFD-45F7-8EB2-1D22763921B6}"/>
              </a:ext>
            </a:extLst>
          </p:cNvPr>
          <p:cNvSpPr txBox="1">
            <a:spLocks/>
          </p:cNvSpPr>
          <p:nvPr/>
        </p:nvSpPr>
        <p:spPr bwMode="gray">
          <a:xfrm>
            <a:off x="7139269" y="4008396"/>
            <a:ext cx="4028664" cy="670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Dans le cas d’une demande d’assistance sur un cas particulier, n’hésitez pas à inclure des copies d’écrans en pièces jointe de votre demande.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toutes les demandes de MEP joindre les fichiers à importer</a:t>
            </a:r>
            <a:endParaRPr kumimoji="0" lang="fr-FR" sz="105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9" name="Espace réservé du contenu 1">
            <a:extLst>
              <a:ext uri="{FF2B5EF4-FFF2-40B4-BE49-F238E27FC236}">
                <a16:creationId xmlns:a16="http://schemas.microsoft.com/office/drawing/2014/main" id="{AC032624-1CB8-4312-895A-9707D1B018C2}"/>
              </a:ext>
            </a:extLst>
          </p:cNvPr>
          <p:cNvSpPr txBox="1">
            <a:spLocks/>
          </p:cNvSpPr>
          <p:nvPr/>
        </p:nvSpPr>
        <p:spPr bwMode="gray">
          <a:xfrm>
            <a:off x="7139269" y="5307439"/>
            <a:ext cx="4028664" cy="670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Une fois avoir cliqué sur Soumettre, pensez à noter le numéro de ticket qui apparaît en haut de l’écran. </a:t>
            </a:r>
            <a:r>
              <a:rPr kumimoji="0" lang="fr-FR" sz="105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Il vous sera nécessaire en cas de demande de statut. </a:t>
            </a: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351" name="Image 350">
            <a:extLst>
              <a:ext uri="{FF2B5EF4-FFF2-40B4-BE49-F238E27FC236}">
                <a16:creationId xmlns:a16="http://schemas.microsoft.com/office/drawing/2014/main" id="{B95EE4B0-A99A-4F52-BBD2-C1F3C5EF7D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551"/>
          <a:stretch/>
        </p:blipFill>
        <p:spPr>
          <a:xfrm>
            <a:off x="7458913" y="5924721"/>
            <a:ext cx="3389375" cy="513021"/>
          </a:xfrm>
          <a:prstGeom prst="rect">
            <a:avLst/>
          </a:prstGeom>
        </p:spPr>
      </p:pic>
      <p:sp>
        <p:nvSpPr>
          <p:cNvPr id="352" name="Rectangle 351">
            <a:extLst>
              <a:ext uri="{FF2B5EF4-FFF2-40B4-BE49-F238E27FC236}">
                <a16:creationId xmlns:a16="http://schemas.microsoft.com/office/drawing/2014/main" id="{B62D54F7-67CB-4527-AAD9-AB1314315201}"/>
              </a:ext>
            </a:extLst>
          </p:cNvPr>
          <p:cNvSpPr/>
          <p:nvPr/>
        </p:nvSpPr>
        <p:spPr>
          <a:xfrm>
            <a:off x="7551353" y="5913292"/>
            <a:ext cx="859308" cy="457200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6D6D6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8820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18F31C2-202D-43E2-B60F-E494BBB1001F}"/>
              </a:ext>
            </a:extLst>
          </p:cNvPr>
          <p:cNvSpPr/>
          <p:nvPr/>
        </p:nvSpPr>
        <p:spPr>
          <a:xfrm>
            <a:off x="7672824" y="4937681"/>
            <a:ext cx="3765363" cy="1030325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6D6D6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48B8049-4B6C-4729-8125-B88EB2FD5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0" y="1494001"/>
            <a:ext cx="4949308" cy="4622639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Depuis Chrome/Firefox, rendez-vous sur :</a:t>
            </a: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	Votre identifiant et mot de 	passe  : </a:t>
            </a:r>
            <a:r>
              <a:rPr lang="fr-FR" i="1" dirty="0">
                <a:solidFill>
                  <a:schemeClr val="tx1"/>
                </a:solidFill>
              </a:rPr>
              <a:t>ISO </a:t>
            </a:r>
            <a:r>
              <a:rPr lang="fr-FR" i="1" dirty="0" err="1">
                <a:solidFill>
                  <a:schemeClr val="tx1"/>
                </a:solidFill>
              </a:rPr>
              <a:t>NextCloud</a:t>
            </a:r>
            <a:endParaRPr lang="fr-FR" i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fr-FR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fr-FR" dirty="0">
                <a:solidFill>
                  <a:schemeClr val="tx1"/>
                </a:solidFill>
              </a:rPr>
              <a:t>	GVAdmin est accessible 	seulement sur le réseau GVA 		ou lorsque le VPN est monté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C8041AA8-4435-4026-B46D-9F8E626B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GVAdmin : Accès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33EC238-1800-4959-A5C0-2545456D14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C9B421-AC9F-4128-90FF-923A4AF1FAC5}"/>
              </a:ext>
            </a:extLst>
          </p:cNvPr>
          <p:cNvSpPr/>
          <p:nvPr/>
        </p:nvSpPr>
        <p:spPr>
          <a:xfrm>
            <a:off x="1056207" y="2526108"/>
            <a:ext cx="4067050" cy="432048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https://gvadmin.canalbox.net/auth/login</a:t>
            </a:r>
          </a:p>
        </p:txBody>
      </p:sp>
      <p:grpSp>
        <p:nvGrpSpPr>
          <p:cNvPr id="6" name="Group 300">
            <a:extLst>
              <a:ext uri="{FF2B5EF4-FFF2-40B4-BE49-F238E27FC236}">
                <a16:creationId xmlns:a16="http://schemas.microsoft.com/office/drawing/2014/main" id="{76C08703-BDBE-44C4-8BAA-AE8546EB95AD}"/>
              </a:ext>
            </a:extLst>
          </p:cNvPr>
          <p:cNvGrpSpPr/>
          <p:nvPr/>
        </p:nvGrpSpPr>
        <p:grpSpPr>
          <a:xfrm>
            <a:off x="6165668" y="1577929"/>
            <a:ext cx="5689784" cy="2880859"/>
            <a:chOff x="2844800" y="1304396"/>
            <a:chExt cx="2803525" cy="1466250"/>
          </a:xfrm>
        </p:grpSpPr>
        <p:grpSp>
          <p:nvGrpSpPr>
            <p:cNvPr id="7" name="Group 44">
              <a:extLst>
                <a:ext uri="{FF2B5EF4-FFF2-40B4-BE49-F238E27FC236}">
                  <a16:creationId xmlns:a16="http://schemas.microsoft.com/office/drawing/2014/main" id="{D60A45A3-1B37-41F5-A805-6381F02B9AE5}"/>
                </a:ext>
              </a:extLst>
            </p:cNvPr>
            <p:cNvGrpSpPr/>
            <p:nvPr/>
          </p:nvGrpSpPr>
          <p:grpSpPr>
            <a:xfrm>
              <a:off x="3209925" y="1304396"/>
              <a:ext cx="2073275" cy="1397000"/>
              <a:chOff x="4843457" y="992546"/>
              <a:chExt cx="2073275" cy="1397000"/>
            </a:xfrm>
          </p:grpSpPr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4CF95CBE-5295-442B-B960-5F9D5828B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43457" y="992546"/>
                <a:ext cx="2073275" cy="1397000"/>
              </a:xfrm>
              <a:custGeom>
                <a:avLst/>
                <a:gdLst/>
                <a:ahLst/>
                <a:cxnLst>
                  <a:cxn ang="0">
                    <a:pos x="1146" y="737"/>
                  </a:cxn>
                  <a:cxn ang="0">
                    <a:pos x="1120" y="772"/>
                  </a:cxn>
                  <a:cxn ang="0">
                    <a:pos x="26" y="772"/>
                  </a:cxn>
                  <a:cxn ang="0">
                    <a:pos x="0" y="737"/>
                  </a:cxn>
                  <a:cxn ang="0">
                    <a:pos x="0" y="35"/>
                  </a:cxn>
                  <a:cxn ang="0">
                    <a:pos x="26" y="0"/>
                  </a:cxn>
                  <a:cxn ang="0">
                    <a:pos x="1120" y="0"/>
                  </a:cxn>
                  <a:cxn ang="0">
                    <a:pos x="1146" y="35"/>
                  </a:cxn>
                  <a:cxn ang="0">
                    <a:pos x="1146" y="737"/>
                  </a:cxn>
                </a:cxnLst>
                <a:rect l="0" t="0" r="r" b="b"/>
                <a:pathLst>
                  <a:path w="1146" h="772">
                    <a:moveTo>
                      <a:pt x="1146" y="737"/>
                    </a:moveTo>
                    <a:cubicBezTo>
                      <a:pt x="1146" y="756"/>
                      <a:pt x="1134" y="772"/>
                      <a:pt x="1120" y="772"/>
                    </a:cubicBezTo>
                    <a:cubicBezTo>
                      <a:pt x="26" y="772"/>
                      <a:pt x="26" y="772"/>
                      <a:pt x="26" y="772"/>
                    </a:cubicBezTo>
                    <a:cubicBezTo>
                      <a:pt x="12" y="772"/>
                      <a:pt x="0" y="756"/>
                      <a:pt x="0" y="737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6"/>
                      <a:pt x="12" y="0"/>
                      <a:pt x="26" y="0"/>
                    </a:cubicBezTo>
                    <a:cubicBezTo>
                      <a:pt x="1120" y="0"/>
                      <a:pt x="1120" y="0"/>
                      <a:pt x="1120" y="0"/>
                    </a:cubicBezTo>
                    <a:cubicBezTo>
                      <a:pt x="1134" y="0"/>
                      <a:pt x="1146" y="16"/>
                      <a:pt x="1146" y="35"/>
                    </a:cubicBezTo>
                    <a:cubicBezTo>
                      <a:pt x="1146" y="737"/>
                      <a:pt x="1146" y="737"/>
                      <a:pt x="1146" y="737"/>
                    </a:cubicBezTo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Rectangle 13">
                <a:extLst>
                  <a:ext uri="{FF2B5EF4-FFF2-40B4-BE49-F238E27FC236}">
                    <a16:creationId xmlns:a16="http://schemas.microsoft.com/office/drawing/2014/main" id="{8B92B44D-C068-4FB2-9A7D-E985857135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6007" y="1068746"/>
                <a:ext cx="1914525" cy="11811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" name="Freeform 21">
                <a:extLst>
                  <a:ext uri="{FF2B5EF4-FFF2-40B4-BE49-F238E27FC236}">
                    <a16:creationId xmlns:a16="http://schemas.microsoft.com/office/drawing/2014/main" id="{9EDBA18B-E486-4666-9C00-F9D1E6E3D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6351" y="1068746"/>
                <a:ext cx="1901825" cy="1089025"/>
              </a:xfrm>
              <a:custGeom>
                <a:avLst/>
                <a:gdLst/>
                <a:ahLst/>
                <a:cxnLst>
                  <a:cxn ang="0">
                    <a:pos x="1198" y="0"/>
                  </a:cxn>
                  <a:cxn ang="0">
                    <a:pos x="0" y="0"/>
                  </a:cxn>
                  <a:cxn ang="0">
                    <a:pos x="1198" y="686"/>
                  </a:cxn>
                  <a:cxn ang="0">
                    <a:pos x="1198" y="0"/>
                  </a:cxn>
                </a:cxnLst>
                <a:rect l="0" t="0" r="r" b="b"/>
                <a:pathLst>
                  <a:path w="1198" h="686">
                    <a:moveTo>
                      <a:pt x="1198" y="0"/>
                    </a:moveTo>
                    <a:lnTo>
                      <a:pt x="0" y="0"/>
                    </a:lnTo>
                    <a:lnTo>
                      <a:pt x="1198" y="686"/>
                    </a:lnTo>
                    <a:lnTo>
                      <a:pt x="1198" y="0"/>
                    </a:lnTo>
                    <a:close/>
                  </a:path>
                </a:pathLst>
              </a:custGeom>
              <a:solidFill>
                <a:schemeClr val="bg1">
                  <a:alpha val="23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43">
              <a:extLst>
                <a:ext uri="{FF2B5EF4-FFF2-40B4-BE49-F238E27FC236}">
                  <a16:creationId xmlns:a16="http://schemas.microsoft.com/office/drawing/2014/main" id="{D4A52A76-1F63-43AA-B35E-CC11E4A45490}"/>
                </a:ext>
              </a:extLst>
            </p:cNvPr>
            <p:cNvGrpSpPr/>
            <p:nvPr/>
          </p:nvGrpSpPr>
          <p:grpSpPr>
            <a:xfrm>
              <a:off x="2844800" y="2648409"/>
              <a:ext cx="2803525" cy="122237"/>
              <a:chOff x="4462463" y="2425701"/>
              <a:chExt cx="2803525" cy="122237"/>
            </a:xfrm>
          </p:grpSpPr>
          <p:sp>
            <p:nvSpPr>
              <p:cNvPr id="9" name="Freeform 15">
                <a:extLst>
                  <a:ext uri="{FF2B5EF4-FFF2-40B4-BE49-F238E27FC236}">
                    <a16:creationId xmlns:a16="http://schemas.microsoft.com/office/drawing/2014/main" id="{C41252DB-2A51-4180-988D-A14A0152D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2463" y="2481263"/>
                <a:ext cx="2800350" cy="66675"/>
              </a:xfrm>
              <a:custGeom>
                <a:avLst/>
                <a:gdLst/>
                <a:ahLst/>
                <a:cxnLst>
                  <a:cxn ang="0">
                    <a:pos x="10" y="5"/>
                  </a:cxn>
                  <a:cxn ang="0">
                    <a:pos x="68" y="37"/>
                  </a:cxn>
                  <a:cxn ang="0">
                    <a:pos x="1487" y="37"/>
                  </a:cxn>
                  <a:cxn ang="0">
                    <a:pos x="1546" y="12"/>
                  </a:cxn>
                  <a:cxn ang="0">
                    <a:pos x="1547" y="0"/>
                  </a:cxn>
                  <a:cxn ang="0">
                    <a:pos x="10" y="5"/>
                  </a:cxn>
                </a:cxnLst>
                <a:rect l="0" t="0" r="r" b="b"/>
                <a:pathLst>
                  <a:path w="1547" h="37">
                    <a:moveTo>
                      <a:pt x="10" y="5"/>
                    </a:moveTo>
                    <a:cubicBezTo>
                      <a:pt x="10" y="5"/>
                      <a:pt x="0" y="23"/>
                      <a:pt x="68" y="37"/>
                    </a:cubicBezTo>
                    <a:cubicBezTo>
                      <a:pt x="1487" y="37"/>
                      <a:pt x="1487" y="37"/>
                      <a:pt x="1487" y="37"/>
                    </a:cubicBezTo>
                    <a:cubicBezTo>
                      <a:pt x="1487" y="37"/>
                      <a:pt x="1534" y="34"/>
                      <a:pt x="1546" y="12"/>
                    </a:cubicBezTo>
                    <a:cubicBezTo>
                      <a:pt x="1547" y="0"/>
                      <a:pt x="1547" y="0"/>
                      <a:pt x="1547" y="0"/>
                    </a:cubicBezTo>
                    <a:lnTo>
                      <a:pt x="10" y="5"/>
                    </a:ln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Freeform 16">
                <a:extLst>
                  <a:ext uri="{FF2B5EF4-FFF2-40B4-BE49-F238E27FC236}">
                    <a16:creationId xmlns:a16="http://schemas.microsoft.com/office/drawing/2014/main" id="{A1B5CF4D-DD57-4A45-AA1F-A7B705480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8338" y="2425701"/>
                <a:ext cx="2787650" cy="8413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38"/>
                  </a:cxn>
                  <a:cxn ang="0">
                    <a:pos x="16" y="43"/>
                  </a:cxn>
                  <a:cxn ang="0">
                    <a:pos x="1522" y="43"/>
                  </a:cxn>
                  <a:cxn ang="0">
                    <a:pos x="1538" y="40"/>
                  </a:cxn>
                  <a:cxn ang="0">
                    <a:pos x="1538" y="0"/>
                  </a:cxn>
                  <a:cxn ang="0">
                    <a:pos x="1" y="0"/>
                  </a:cxn>
                </a:cxnLst>
                <a:rect l="0" t="0" r="r" b="b"/>
                <a:pathLst>
                  <a:path w="1540" h="47">
                    <a:moveTo>
                      <a:pt x="1" y="0"/>
                    </a:moveTo>
                    <a:cubicBezTo>
                      <a:pt x="0" y="38"/>
                      <a:pt x="0" y="38"/>
                      <a:pt x="0" y="38"/>
                    </a:cubicBezTo>
                    <a:cubicBezTo>
                      <a:pt x="1" y="47"/>
                      <a:pt x="16" y="43"/>
                      <a:pt x="16" y="43"/>
                    </a:cubicBezTo>
                    <a:cubicBezTo>
                      <a:pt x="1522" y="43"/>
                      <a:pt x="1522" y="43"/>
                      <a:pt x="1522" y="43"/>
                    </a:cubicBezTo>
                    <a:cubicBezTo>
                      <a:pt x="1540" y="45"/>
                      <a:pt x="1538" y="40"/>
                      <a:pt x="1538" y="40"/>
                    </a:cubicBezTo>
                    <a:cubicBezTo>
                      <a:pt x="1538" y="0"/>
                      <a:pt x="1538" y="0"/>
                      <a:pt x="1538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gradFill>
                <a:gsLst>
                  <a:gs pos="42000">
                    <a:schemeClr val="bg1">
                      <a:lumMod val="75000"/>
                    </a:schemeClr>
                  </a:gs>
                  <a:gs pos="6000">
                    <a:schemeClr val="bg1">
                      <a:lumMod val="85000"/>
                    </a:schemeClr>
                  </a:gs>
                  <a:gs pos="0">
                    <a:schemeClr val="bg1">
                      <a:lumMod val="65000"/>
                    </a:schemeClr>
                  </a:gs>
                </a:gsLst>
                <a:lin ang="5400000" scaled="0"/>
              </a:gra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Freeform 31">
                <a:extLst>
                  <a:ext uri="{FF2B5EF4-FFF2-40B4-BE49-F238E27FC236}">
                    <a16:creationId xmlns:a16="http://schemas.microsoft.com/office/drawing/2014/main" id="{1AF96073-E212-47C7-8344-ABBD72DAF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72138" y="2425701"/>
                <a:ext cx="392113" cy="44450"/>
              </a:xfrm>
              <a:custGeom>
                <a:avLst/>
                <a:gdLst/>
                <a:ahLst/>
                <a:cxnLst>
                  <a:cxn ang="0">
                    <a:pos x="20" y="22"/>
                  </a:cxn>
                  <a:cxn ang="0">
                    <a:pos x="198" y="22"/>
                  </a:cxn>
                  <a:cxn ang="0">
                    <a:pos x="215" y="1"/>
                  </a:cxn>
                  <a:cxn ang="0">
                    <a:pos x="6" y="0"/>
                  </a:cxn>
                  <a:cxn ang="0">
                    <a:pos x="20" y="22"/>
                  </a:cxn>
                </a:cxnLst>
                <a:rect l="0" t="0" r="r" b="b"/>
                <a:pathLst>
                  <a:path w="217" h="25">
                    <a:moveTo>
                      <a:pt x="20" y="22"/>
                    </a:moveTo>
                    <a:cubicBezTo>
                      <a:pt x="198" y="22"/>
                      <a:pt x="198" y="22"/>
                      <a:pt x="198" y="22"/>
                    </a:cubicBezTo>
                    <a:cubicBezTo>
                      <a:pt x="198" y="22"/>
                      <a:pt x="217" y="25"/>
                      <a:pt x="215" y="1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6" y="0"/>
                      <a:pt x="0" y="20"/>
                      <a:pt x="20" y="22"/>
                    </a:cubicBezTo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63666A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4098" name="Picture 2" descr="RÃ©sultat de recherche d'images pour &quot;open vpn gui&quot;">
            <a:extLst>
              <a:ext uri="{FF2B5EF4-FFF2-40B4-BE49-F238E27FC236}">
                <a16:creationId xmlns:a16="http://schemas.microsoft.com/office/drawing/2014/main" id="{24B83064-DC0C-4C28-813B-FD35718542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450" y="4937681"/>
            <a:ext cx="706598" cy="706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C4449C7-CA0E-4B0F-B512-9E9206FA1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4563" y="1737727"/>
            <a:ext cx="3885549" cy="2288542"/>
          </a:xfrm>
          <a:prstGeom prst="rect">
            <a:avLst/>
          </a:prstGeom>
        </p:spPr>
      </p:pic>
      <p:pic>
        <p:nvPicPr>
          <p:cNvPr id="18" name="Picture 70" descr="Fotolia_interrogation">
            <a:extLst>
              <a:ext uri="{FF2B5EF4-FFF2-40B4-BE49-F238E27FC236}">
                <a16:creationId xmlns:a16="http://schemas.microsoft.com/office/drawing/2014/main" id="{9841C135-BD18-4B92-A886-06CE9AB650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63" y="4658215"/>
            <a:ext cx="1018901" cy="1421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65C4FC85-9C16-4A87-A74E-8AE796B8C3BB}"/>
              </a:ext>
            </a:extLst>
          </p:cNvPr>
          <p:cNvSpPr txBox="1"/>
          <p:nvPr/>
        </p:nvSpPr>
        <p:spPr>
          <a:xfrm>
            <a:off x="7888448" y="5028310"/>
            <a:ext cx="3549739" cy="9520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Vous n’arrivez pas à accéder à GVAdmin?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Aidez vous d’un collègue pour ouvrir un ticket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Envoyez un mail à </a:t>
            </a:r>
            <a:r>
              <a:rPr kumimoji="0" lang="fr-FR" sz="1400" b="0" i="0" u="sng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si@canalbox.net </a:t>
            </a:r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1D1C3B05-5B6E-47D3-BA49-43A1AEA76329}"/>
              </a:ext>
            </a:extLst>
          </p:cNvPr>
          <p:cNvGrpSpPr/>
          <p:nvPr/>
        </p:nvGrpSpPr>
        <p:grpSpPr>
          <a:xfrm>
            <a:off x="4404066" y="3715124"/>
            <a:ext cx="589089" cy="369441"/>
            <a:chOff x="365879" y="3272647"/>
            <a:chExt cx="1079744" cy="706598"/>
          </a:xfrm>
        </p:grpSpPr>
        <p:sp>
          <p:nvSpPr>
            <p:cNvPr id="21" name="Freeform 54">
              <a:extLst>
                <a:ext uri="{FF2B5EF4-FFF2-40B4-BE49-F238E27FC236}">
                  <a16:creationId xmlns:a16="http://schemas.microsoft.com/office/drawing/2014/main" id="{3C9208E1-CEF5-46FA-A069-AD5DDF6E63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879" y="3272647"/>
              <a:ext cx="1079744" cy="706598"/>
            </a:xfrm>
            <a:custGeom>
              <a:avLst/>
              <a:gdLst/>
              <a:ahLst/>
              <a:cxnLst>
                <a:cxn ang="0">
                  <a:pos x="55" y="50"/>
                </a:cxn>
                <a:cxn ang="0">
                  <a:pos x="16" y="50"/>
                </a:cxn>
                <a:cxn ang="0">
                  <a:pos x="0" y="34"/>
                </a:cxn>
                <a:cxn ang="0">
                  <a:pos x="9" y="20"/>
                </a:cxn>
                <a:cxn ang="0">
                  <a:pos x="9" y="18"/>
                </a:cxn>
                <a:cxn ang="0">
                  <a:pos x="27" y="0"/>
                </a:cxn>
                <a:cxn ang="0">
                  <a:pos x="44" y="11"/>
                </a:cxn>
                <a:cxn ang="0">
                  <a:pos x="50" y="9"/>
                </a:cxn>
                <a:cxn ang="0">
                  <a:pos x="59" y="18"/>
                </a:cxn>
                <a:cxn ang="0">
                  <a:pos x="58" y="23"/>
                </a:cxn>
                <a:cxn ang="0">
                  <a:pos x="68" y="36"/>
                </a:cxn>
                <a:cxn ang="0">
                  <a:pos x="55" y="50"/>
                </a:cxn>
                <a:cxn ang="0">
                  <a:pos x="45" y="25"/>
                </a:cxn>
                <a:cxn ang="0">
                  <a:pos x="33" y="13"/>
                </a:cxn>
                <a:cxn ang="0">
                  <a:pos x="32" y="12"/>
                </a:cxn>
                <a:cxn ang="0">
                  <a:pos x="31" y="13"/>
                </a:cxn>
                <a:cxn ang="0">
                  <a:pos x="18" y="25"/>
                </a:cxn>
                <a:cxn ang="0">
                  <a:pos x="18" y="26"/>
                </a:cxn>
                <a:cxn ang="0">
                  <a:pos x="19" y="27"/>
                </a:cxn>
                <a:cxn ang="0">
                  <a:pos x="27" y="27"/>
                </a:cxn>
                <a:cxn ang="0">
                  <a:pos x="27" y="40"/>
                </a:cxn>
                <a:cxn ang="0">
                  <a:pos x="28" y="41"/>
                </a:cxn>
                <a:cxn ang="0">
                  <a:pos x="35" y="41"/>
                </a:cxn>
                <a:cxn ang="0">
                  <a:pos x="36" y="40"/>
                </a:cxn>
                <a:cxn ang="0">
                  <a:pos x="36" y="27"/>
                </a:cxn>
                <a:cxn ang="0">
                  <a:pos x="44" y="27"/>
                </a:cxn>
                <a:cxn ang="0">
                  <a:pos x="45" y="26"/>
                </a:cxn>
                <a:cxn ang="0">
                  <a:pos x="45" y="25"/>
                </a:cxn>
              </a:cxnLst>
              <a:rect l="0" t="0" r="r" b="b"/>
              <a:pathLst>
                <a:path w="68" h="50">
                  <a:moveTo>
                    <a:pt x="55" y="50"/>
                  </a:moveTo>
                  <a:cubicBezTo>
                    <a:pt x="16" y="50"/>
                    <a:pt x="16" y="50"/>
                    <a:pt x="16" y="50"/>
                  </a:cubicBezTo>
                  <a:cubicBezTo>
                    <a:pt x="7" y="50"/>
                    <a:pt x="0" y="43"/>
                    <a:pt x="0" y="34"/>
                  </a:cubicBezTo>
                  <a:cubicBezTo>
                    <a:pt x="0" y="28"/>
                    <a:pt x="3" y="22"/>
                    <a:pt x="9" y="20"/>
                  </a:cubicBezTo>
                  <a:cubicBezTo>
                    <a:pt x="9" y="19"/>
                    <a:pt x="9" y="19"/>
                    <a:pt x="9" y="18"/>
                  </a:cubicBezTo>
                  <a:cubicBezTo>
                    <a:pt x="9" y="8"/>
                    <a:pt x="17" y="0"/>
                    <a:pt x="27" y="0"/>
                  </a:cubicBezTo>
                  <a:cubicBezTo>
                    <a:pt x="35" y="0"/>
                    <a:pt x="41" y="4"/>
                    <a:pt x="44" y="11"/>
                  </a:cubicBezTo>
                  <a:cubicBezTo>
                    <a:pt x="46" y="10"/>
                    <a:pt x="48" y="9"/>
                    <a:pt x="50" y="9"/>
                  </a:cubicBezTo>
                  <a:cubicBezTo>
                    <a:pt x="55" y="9"/>
                    <a:pt x="59" y="13"/>
                    <a:pt x="59" y="18"/>
                  </a:cubicBezTo>
                  <a:cubicBezTo>
                    <a:pt x="59" y="20"/>
                    <a:pt x="59" y="22"/>
                    <a:pt x="58" y="23"/>
                  </a:cubicBezTo>
                  <a:cubicBezTo>
                    <a:pt x="64" y="25"/>
                    <a:pt x="68" y="30"/>
                    <a:pt x="68" y="36"/>
                  </a:cubicBezTo>
                  <a:cubicBezTo>
                    <a:pt x="68" y="44"/>
                    <a:pt x="62" y="50"/>
                    <a:pt x="55" y="50"/>
                  </a:cubicBezTo>
                  <a:close/>
                  <a:moveTo>
                    <a:pt x="45" y="25"/>
                  </a:moveTo>
                  <a:cubicBezTo>
                    <a:pt x="33" y="13"/>
                    <a:pt x="33" y="13"/>
                    <a:pt x="33" y="13"/>
                  </a:cubicBezTo>
                  <a:cubicBezTo>
                    <a:pt x="32" y="13"/>
                    <a:pt x="32" y="12"/>
                    <a:pt x="32" y="12"/>
                  </a:cubicBezTo>
                  <a:cubicBezTo>
                    <a:pt x="31" y="12"/>
                    <a:pt x="31" y="13"/>
                    <a:pt x="31" y="13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8" y="26"/>
                    <a:pt x="18" y="26"/>
                    <a:pt x="18" y="26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7" y="41"/>
                    <a:pt x="28" y="41"/>
                    <a:pt x="28" y="41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6" y="41"/>
                    <a:pt x="36" y="41"/>
                    <a:pt x="36" y="40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45" y="27"/>
                    <a:pt x="45" y="27"/>
                    <a:pt x="45" y="26"/>
                  </a:cubicBezTo>
                  <a:cubicBezTo>
                    <a:pt x="45" y="26"/>
                    <a:pt x="45" y="26"/>
                    <a:pt x="45" y="25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accent5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742A68F-D5E0-4471-8BDB-0FCC9CA87436}"/>
                </a:ext>
              </a:extLst>
            </p:cNvPr>
            <p:cNvSpPr/>
            <p:nvPr/>
          </p:nvSpPr>
          <p:spPr>
            <a:xfrm>
              <a:off x="626103" y="3436021"/>
              <a:ext cx="459264" cy="438340"/>
            </a:xfrm>
            <a:prstGeom prst="rect">
              <a:avLst/>
            </a:prstGeom>
            <a:solidFill>
              <a:schemeClr val="bg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1C197103-41FB-400D-82B1-38561E2D24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2265" y="3496939"/>
              <a:ext cx="706971" cy="417157"/>
            </a:xfrm>
            <a:prstGeom prst="rect">
              <a:avLst/>
            </a:prstGeom>
          </p:spPr>
        </p:pic>
      </p:grpSp>
      <p:grpSp>
        <p:nvGrpSpPr>
          <p:cNvPr id="27" name="Group 75">
            <a:extLst>
              <a:ext uri="{FF2B5EF4-FFF2-40B4-BE49-F238E27FC236}">
                <a16:creationId xmlns:a16="http://schemas.microsoft.com/office/drawing/2014/main" id="{9E4F5113-F408-48EE-86D1-B1879C3C1417}"/>
              </a:ext>
            </a:extLst>
          </p:cNvPr>
          <p:cNvGrpSpPr/>
          <p:nvPr/>
        </p:nvGrpSpPr>
        <p:grpSpPr>
          <a:xfrm>
            <a:off x="603620" y="3373745"/>
            <a:ext cx="706597" cy="706597"/>
            <a:chOff x="3036888" y="1909763"/>
            <a:chExt cx="355600" cy="360363"/>
          </a:xfrm>
          <a:solidFill>
            <a:schemeClr val="accent5"/>
          </a:solidFill>
        </p:grpSpPr>
        <p:sp>
          <p:nvSpPr>
            <p:cNvPr id="28" name="Freeform 159">
              <a:extLst>
                <a:ext uri="{FF2B5EF4-FFF2-40B4-BE49-F238E27FC236}">
                  <a16:creationId xmlns:a16="http://schemas.microsoft.com/office/drawing/2014/main" id="{C6AD105D-9530-4532-AF9D-C387A81FCC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36888" y="1909763"/>
              <a:ext cx="355600" cy="360363"/>
            </a:xfrm>
            <a:custGeom>
              <a:avLst/>
              <a:gdLst/>
              <a:ahLst/>
              <a:cxnLst>
                <a:cxn ang="0">
                  <a:pos x="84" y="0"/>
                </a:cxn>
                <a:cxn ang="0">
                  <a:pos x="46" y="38"/>
                </a:cxn>
                <a:cxn ang="0">
                  <a:pos x="48" y="52"/>
                </a:cxn>
                <a:cxn ang="0">
                  <a:pos x="2" y="99"/>
                </a:cxn>
                <a:cxn ang="0">
                  <a:pos x="0" y="103"/>
                </a:cxn>
                <a:cxn ang="0">
                  <a:pos x="0" y="115"/>
                </a:cxn>
                <a:cxn ang="0">
                  <a:pos x="7" y="123"/>
                </a:cxn>
                <a:cxn ang="0">
                  <a:pos x="19" y="123"/>
                </a:cxn>
                <a:cxn ang="0">
                  <a:pos x="24" y="120"/>
                </a:cxn>
                <a:cxn ang="0">
                  <a:pos x="29" y="115"/>
                </a:cxn>
                <a:cxn ang="0">
                  <a:pos x="38" y="115"/>
                </a:cxn>
                <a:cxn ang="0">
                  <a:pos x="46" y="107"/>
                </a:cxn>
                <a:cxn ang="0">
                  <a:pos x="46" y="100"/>
                </a:cxn>
                <a:cxn ang="0">
                  <a:pos x="53" y="100"/>
                </a:cxn>
                <a:cxn ang="0">
                  <a:pos x="61" y="92"/>
                </a:cxn>
                <a:cxn ang="0">
                  <a:pos x="61" y="83"/>
                </a:cxn>
                <a:cxn ang="0">
                  <a:pos x="70" y="74"/>
                </a:cxn>
                <a:cxn ang="0">
                  <a:pos x="84" y="77"/>
                </a:cxn>
                <a:cxn ang="0">
                  <a:pos x="122" y="38"/>
                </a:cxn>
                <a:cxn ang="0">
                  <a:pos x="84" y="0"/>
                </a:cxn>
                <a:cxn ang="0">
                  <a:pos x="84" y="69"/>
                </a:cxn>
                <a:cxn ang="0">
                  <a:pos x="69" y="65"/>
                </a:cxn>
                <a:cxn ang="0">
                  <a:pos x="67" y="66"/>
                </a:cxn>
                <a:cxn ang="0">
                  <a:pos x="63" y="70"/>
                </a:cxn>
                <a:cxn ang="0">
                  <a:pos x="56" y="77"/>
                </a:cxn>
                <a:cxn ang="0">
                  <a:pos x="53" y="83"/>
                </a:cxn>
                <a:cxn ang="0">
                  <a:pos x="53" y="92"/>
                </a:cxn>
                <a:cxn ang="0">
                  <a:pos x="46" y="92"/>
                </a:cxn>
                <a:cxn ang="0">
                  <a:pos x="38" y="100"/>
                </a:cxn>
                <a:cxn ang="0">
                  <a:pos x="38" y="107"/>
                </a:cxn>
                <a:cxn ang="0">
                  <a:pos x="29" y="107"/>
                </a:cxn>
                <a:cxn ang="0">
                  <a:pos x="24" y="109"/>
                </a:cxn>
                <a:cxn ang="0">
                  <a:pos x="18" y="115"/>
                </a:cxn>
                <a:cxn ang="0">
                  <a:pos x="7" y="115"/>
                </a:cxn>
                <a:cxn ang="0">
                  <a:pos x="7" y="104"/>
                </a:cxn>
                <a:cxn ang="0">
                  <a:pos x="52" y="59"/>
                </a:cxn>
                <a:cxn ang="0">
                  <a:pos x="52" y="59"/>
                </a:cxn>
                <a:cxn ang="0">
                  <a:pos x="58" y="54"/>
                </a:cxn>
                <a:cxn ang="0">
                  <a:pos x="53" y="38"/>
                </a:cxn>
                <a:cxn ang="0">
                  <a:pos x="84" y="7"/>
                </a:cxn>
                <a:cxn ang="0">
                  <a:pos x="115" y="38"/>
                </a:cxn>
                <a:cxn ang="0">
                  <a:pos x="84" y="69"/>
                </a:cxn>
                <a:cxn ang="0">
                  <a:pos x="84" y="69"/>
                </a:cxn>
                <a:cxn ang="0">
                  <a:pos x="84" y="69"/>
                </a:cxn>
              </a:cxnLst>
              <a:rect l="0" t="0" r="r" b="b"/>
              <a:pathLst>
                <a:path w="122" h="123">
                  <a:moveTo>
                    <a:pt x="84" y="0"/>
                  </a:moveTo>
                  <a:cubicBezTo>
                    <a:pt x="63" y="0"/>
                    <a:pt x="46" y="17"/>
                    <a:pt x="46" y="38"/>
                  </a:cubicBezTo>
                  <a:cubicBezTo>
                    <a:pt x="46" y="43"/>
                    <a:pt x="47" y="48"/>
                    <a:pt x="48" y="52"/>
                  </a:cubicBezTo>
                  <a:cubicBezTo>
                    <a:pt x="2" y="99"/>
                    <a:pt x="2" y="99"/>
                    <a:pt x="2" y="99"/>
                  </a:cubicBezTo>
                  <a:cubicBezTo>
                    <a:pt x="1" y="100"/>
                    <a:pt x="0" y="101"/>
                    <a:pt x="0" y="103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19"/>
                    <a:pt x="3" y="123"/>
                    <a:pt x="7" y="123"/>
                  </a:cubicBezTo>
                  <a:cubicBezTo>
                    <a:pt x="19" y="123"/>
                    <a:pt x="19" y="123"/>
                    <a:pt x="19" y="123"/>
                  </a:cubicBezTo>
                  <a:cubicBezTo>
                    <a:pt x="21" y="123"/>
                    <a:pt x="22" y="122"/>
                    <a:pt x="24" y="120"/>
                  </a:cubicBezTo>
                  <a:cubicBezTo>
                    <a:pt x="29" y="115"/>
                    <a:pt x="29" y="115"/>
                    <a:pt x="29" y="115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42" y="115"/>
                    <a:pt x="46" y="111"/>
                    <a:pt x="46" y="107"/>
                  </a:cubicBezTo>
                  <a:cubicBezTo>
                    <a:pt x="46" y="100"/>
                    <a:pt x="46" y="100"/>
                    <a:pt x="46" y="100"/>
                  </a:cubicBezTo>
                  <a:cubicBezTo>
                    <a:pt x="53" y="100"/>
                    <a:pt x="53" y="100"/>
                    <a:pt x="53" y="100"/>
                  </a:cubicBezTo>
                  <a:cubicBezTo>
                    <a:pt x="58" y="100"/>
                    <a:pt x="61" y="96"/>
                    <a:pt x="61" y="92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70" y="74"/>
                    <a:pt x="70" y="74"/>
                    <a:pt x="70" y="74"/>
                  </a:cubicBezTo>
                  <a:cubicBezTo>
                    <a:pt x="74" y="76"/>
                    <a:pt x="79" y="77"/>
                    <a:pt x="84" y="77"/>
                  </a:cubicBezTo>
                  <a:cubicBezTo>
                    <a:pt x="105" y="77"/>
                    <a:pt x="122" y="59"/>
                    <a:pt x="122" y="38"/>
                  </a:cubicBezTo>
                  <a:cubicBezTo>
                    <a:pt x="122" y="17"/>
                    <a:pt x="105" y="0"/>
                    <a:pt x="84" y="0"/>
                  </a:cubicBezTo>
                  <a:close/>
                  <a:moveTo>
                    <a:pt x="84" y="69"/>
                  </a:moveTo>
                  <a:cubicBezTo>
                    <a:pt x="78" y="69"/>
                    <a:pt x="73" y="67"/>
                    <a:pt x="69" y="65"/>
                  </a:cubicBezTo>
                  <a:cubicBezTo>
                    <a:pt x="67" y="66"/>
                    <a:pt x="67" y="66"/>
                    <a:pt x="67" y="66"/>
                  </a:cubicBezTo>
                  <a:cubicBezTo>
                    <a:pt x="63" y="70"/>
                    <a:pt x="63" y="70"/>
                    <a:pt x="63" y="70"/>
                  </a:cubicBezTo>
                  <a:cubicBezTo>
                    <a:pt x="56" y="77"/>
                    <a:pt x="56" y="77"/>
                    <a:pt x="56" y="77"/>
                  </a:cubicBezTo>
                  <a:cubicBezTo>
                    <a:pt x="54" y="79"/>
                    <a:pt x="53" y="81"/>
                    <a:pt x="53" y="83"/>
                  </a:cubicBezTo>
                  <a:cubicBezTo>
                    <a:pt x="53" y="92"/>
                    <a:pt x="53" y="92"/>
                    <a:pt x="53" y="92"/>
                  </a:cubicBezTo>
                  <a:cubicBezTo>
                    <a:pt x="46" y="92"/>
                    <a:pt x="46" y="92"/>
                    <a:pt x="46" y="92"/>
                  </a:cubicBezTo>
                  <a:cubicBezTo>
                    <a:pt x="41" y="92"/>
                    <a:pt x="38" y="95"/>
                    <a:pt x="38" y="100"/>
                  </a:cubicBezTo>
                  <a:cubicBezTo>
                    <a:pt x="38" y="107"/>
                    <a:pt x="38" y="107"/>
                    <a:pt x="38" y="107"/>
                  </a:cubicBezTo>
                  <a:cubicBezTo>
                    <a:pt x="29" y="107"/>
                    <a:pt x="29" y="107"/>
                    <a:pt x="29" y="107"/>
                  </a:cubicBezTo>
                  <a:cubicBezTo>
                    <a:pt x="27" y="107"/>
                    <a:pt x="25" y="108"/>
                    <a:pt x="24" y="109"/>
                  </a:cubicBezTo>
                  <a:cubicBezTo>
                    <a:pt x="18" y="115"/>
                    <a:pt x="18" y="115"/>
                    <a:pt x="18" y="115"/>
                  </a:cubicBezTo>
                  <a:cubicBezTo>
                    <a:pt x="7" y="115"/>
                    <a:pt x="7" y="115"/>
                    <a:pt x="7" y="115"/>
                  </a:cubicBezTo>
                  <a:cubicBezTo>
                    <a:pt x="7" y="104"/>
                    <a:pt x="7" y="104"/>
                    <a:pt x="7" y="104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8" y="54"/>
                    <a:pt x="58" y="54"/>
                    <a:pt x="58" y="54"/>
                  </a:cubicBezTo>
                  <a:cubicBezTo>
                    <a:pt x="55" y="49"/>
                    <a:pt x="53" y="44"/>
                    <a:pt x="53" y="38"/>
                  </a:cubicBezTo>
                  <a:cubicBezTo>
                    <a:pt x="53" y="21"/>
                    <a:pt x="67" y="7"/>
                    <a:pt x="84" y="7"/>
                  </a:cubicBezTo>
                  <a:cubicBezTo>
                    <a:pt x="101" y="7"/>
                    <a:pt x="115" y="21"/>
                    <a:pt x="115" y="38"/>
                  </a:cubicBezTo>
                  <a:cubicBezTo>
                    <a:pt x="115" y="55"/>
                    <a:pt x="101" y="69"/>
                    <a:pt x="84" y="69"/>
                  </a:cubicBezTo>
                  <a:close/>
                  <a:moveTo>
                    <a:pt x="84" y="69"/>
                  </a:moveTo>
                  <a:cubicBezTo>
                    <a:pt x="84" y="69"/>
                    <a:pt x="84" y="69"/>
                    <a:pt x="84" y="69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9" name="Freeform 160">
              <a:extLst>
                <a:ext uri="{FF2B5EF4-FFF2-40B4-BE49-F238E27FC236}">
                  <a16:creationId xmlns:a16="http://schemas.microsoft.com/office/drawing/2014/main" id="{CE36A620-6562-46AF-B7AF-E68720817C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59138" y="1952626"/>
              <a:ext cx="90488" cy="92075"/>
            </a:xfrm>
            <a:custGeom>
              <a:avLst/>
              <a:gdLst/>
              <a:ahLst/>
              <a:cxnLst>
                <a:cxn ang="0">
                  <a:pos x="30" y="16"/>
                </a:cxn>
                <a:cxn ang="0">
                  <a:pos x="15" y="1"/>
                </a:cxn>
                <a:cxn ang="0">
                  <a:pos x="11" y="0"/>
                </a:cxn>
                <a:cxn ang="0">
                  <a:pos x="1" y="11"/>
                </a:cxn>
                <a:cxn ang="0">
                  <a:pos x="0" y="12"/>
                </a:cxn>
                <a:cxn ang="0">
                  <a:pos x="1" y="15"/>
                </a:cxn>
                <a:cxn ang="0">
                  <a:pos x="17" y="30"/>
                </a:cxn>
                <a:cxn ang="0">
                  <a:pos x="20" y="31"/>
                </a:cxn>
                <a:cxn ang="0">
                  <a:pos x="31" y="20"/>
                </a:cxn>
                <a:cxn ang="0">
                  <a:pos x="31" y="19"/>
                </a:cxn>
                <a:cxn ang="0">
                  <a:pos x="30" y="16"/>
                </a:cxn>
                <a:cxn ang="0">
                  <a:pos x="19" y="27"/>
                </a:cxn>
                <a:cxn ang="0">
                  <a:pos x="4" y="13"/>
                </a:cxn>
                <a:cxn ang="0">
                  <a:pos x="13" y="4"/>
                </a:cxn>
                <a:cxn ang="0">
                  <a:pos x="27" y="19"/>
                </a:cxn>
                <a:cxn ang="0">
                  <a:pos x="19" y="27"/>
                </a:cxn>
                <a:cxn ang="0">
                  <a:pos x="19" y="27"/>
                </a:cxn>
                <a:cxn ang="0">
                  <a:pos x="19" y="27"/>
                </a:cxn>
              </a:cxnLst>
              <a:rect l="0" t="0" r="r" b="b"/>
              <a:pathLst>
                <a:path w="31" h="31">
                  <a:moveTo>
                    <a:pt x="30" y="16"/>
                  </a:moveTo>
                  <a:cubicBezTo>
                    <a:pt x="26" y="10"/>
                    <a:pt x="21" y="5"/>
                    <a:pt x="15" y="1"/>
                  </a:cubicBezTo>
                  <a:cubicBezTo>
                    <a:pt x="14" y="0"/>
                    <a:pt x="13" y="0"/>
                    <a:pt x="11" y="0"/>
                  </a:cubicBezTo>
                  <a:cubicBezTo>
                    <a:pt x="6" y="2"/>
                    <a:pt x="2" y="6"/>
                    <a:pt x="1" y="11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1" y="14"/>
                    <a:pt x="1" y="15"/>
                  </a:cubicBezTo>
                  <a:cubicBezTo>
                    <a:pt x="5" y="21"/>
                    <a:pt x="11" y="26"/>
                    <a:pt x="17" y="30"/>
                  </a:cubicBezTo>
                  <a:cubicBezTo>
                    <a:pt x="18" y="31"/>
                    <a:pt x="19" y="31"/>
                    <a:pt x="20" y="31"/>
                  </a:cubicBezTo>
                  <a:cubicBezTo>
                    <a:pt x="25" y="29"/>
                    <a:pt x="29" y="25"/>
                    <a:pt x="31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8"/>
                    <a:pt x="31" y="17"/>
                    <a:pt x="30" y="16"/>
                  </a:cubicBezTo>
                  <a:close/>
                  <a:moveTo>
                    <a:pt x="19" y="27"/>
                  </a:moveTo>
                  <a:cubicBezTo>
                    <a:pt x="13" y="23"/>
                    <a:pt x="8" y="18"/>
                    <a:pt x="4" y="13"/>
                  </a:cubicBezTo>
                  <a:cubicBezTo>
                    <a:pt x="6" y="8"/>
                    <a:pt x="8" y="6"/>
                    <a:pt x="13" y="4"/>
                  </a:cubicBezTo>
                  <a:cubicBezTo>
                    <a:pt x="18" y="8"/>
                    <a:pt x="23" y="13"/>
                    <a:pt x="27" y="19"/>
                  </a:cubicBezTo>
                  <a:cubicBezTo>
                    <a:pt x="26" y="23"/>
                    <a:pt x="23" y="26"/>
                    <a:pt x="19" y="27"/>
                  </a:cubicBezTo>
                  <a:close/>
                  <a:moveTo>
                    <a:pt x="19" y="27"/>
                  </a:moveTo>
                  <a:cubicBezTo>
                    <a:pt x="19" y="27"/>
                    <a:pt x="19" y="27"/>
                    <a:pt x="19" y="27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" name="Ellipse 30">
            <a:extLst>
              <a:ext uri="{FF2B5EF4-FFF2-40B4-BE49-F238E27FC236}">
                <a16:creationId xmlns:a16="http://schemas.microsoft.com/office/drawing/2014/main" id="{152D6838-D6B1-4618-92DC-26EA52A9BABF}"/>
              </a:ext>
            </a:extLst>
          </p:cNvPr>
          <p:cNvSpPr/>
          <p:nvPr/>
        </p:nvSpPr>
        <p:spPr>
          <a:xfrm>
            <a:off x="11342937" y="228333"/>
            <a:ext cx="642605" cy="5508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95301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59CB2A8-955E-46F5-B150-ADAE9F6BC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GVAdmin : une fois connecté…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E3ED37C-4763-463D-A9AC-C7E3D12682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1BCCFC1-280F-4A98-8A90-EAD2339A6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01" y="1320945"/>
            <a:ext cx="8543109" cy="4803551"/>
          </a:xfrm>
          <a:prstGeom prst="rect">
            <a:avLst/>
          </a:prstGeom>
        </p:spPr>
      </p:pic>
      <p:sp>
        <p:nvSpPr>
          <p:cNvPr id="6" name="Légende : double flèche courbée 5">
            <a:extLst>
              <a:ext uri="{FF2B5EF4-FFF2-40B4-BE49-F238E27FC236}">
                <a16:creationId xmlns:a16="http://schemas.microsoft.com/office/drawing/2014/main" id="{1B5027AC-9AB9-43AE-9A3E-88888646D474}"/>
              </a:ext>
            </a:extLst>
          </p:cNvPr>
          <p:cNvSpPr/>
          <p:nvPr/>
        </p:nvSpPr>
        <p:spPr>
          <a:xfrm>
            <a:off x="6226628" y="1541418"/>
            <a:ext cx="470263" cy="330925"/>
          </a:xfrm>
          <a:prstGeom prst="borderCallout3">
            <a:avLst>
              <a:gd name="adj1" fmla="val -7565"/>
              <a:gd name="adj2" fmla="val 54630"/>
              <a:gd name="adj3" fmla="val -131251"/>
              <a:gd name="adj4" fmla="val 55555"/>
              <a:gd name="adj5" fmla="val -134211"/>
              <a:gd name="adj6" fmla="val 612962"/>
              <a:gd name="adj7" fmla="val 57700"/>
              <a:gd name="adj8" fmla="val 652777"/>
            </a:avLst>
          </a:prstGeom>
          <a:noFill/>
          <a:ln w="38100">
            <a:solidFill>
              <a:srgbClr val="FF0000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6D6D6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697E427-6E67-4B3C-A848-57BCDF887A26}"/>
              </a:ext>
            </a:extLst>
          </p:cNvPr>
          <p:cNvSpPr txBox="1"/>
          <p:nvPr/>
        </p:nvSpPr>
        <p:spPr>
          <a:xfrm>
            <a:off x="9265919" y="1872343"/>
            <a:ext cx="2351314" cy="8011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D4021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Cliquez ici </a:t>
            </a: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accéder au module de création de ticket 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16E17CBE-633E-47BF-8991-3C7528E191EF}"/>
              </a:ext>
            </a:extLst>
          </p:cNvPr>
          <p:cNvSpPr/>
          <p:nvPr/>
        </p:nvSpPr>
        <p:spPr>
          <a:xfrm>
            <a:off x="11342937" y="228333"/>
            <a:ext cx="642605" cy="5508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5EF25A-3932-4FC8-BA3A-28B833275C17}"/>
              </a:ext>
            </a:extLst>
          </p:cNvPr>
          <p:cNvSpPr/>
          <p:nvPr/>
        </p:nvSpPr>
        <p:spPr>
          <a:xfrm>
            <a:off x="7672824" y="4937681"/>
            <a:ext cx="3765363" cy="1030325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6D6D6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70" descr="Fotolia_interrogation">
            <a:extLst>
              <a:ext uri="{FF2B5EF4-FFF2-40B4-BE49-F238E27FC236}">
                <a16:creationId xmlns:a16="http://schemas.microsoft.com/office/drawing/2014/main" id="{4414187F-5F31-4DAB-9354-1B6FDCAC8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563" y="4658215"/>
            <a:ext cx="1018901" cy="1421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5944BBCF-D56A-415D-B525-E73CE09BAF9D}"/>
              </a:ext>
            </a:extLst>
          </p:cNvPr>
          <p:cNvSpPr txBox="1"/>
          <p:nvPr/>
        </p:nvSpPr>
        <p:spPr>
          <a:xfrm>
            <a:off x="7888448" y="5028310"/>
            <a:ext cx="3549739" cy="95207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Vous ne voyez pas le bouton  ‘Ticket’ ?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Aidez vous d’un collègue pour ouvrir un ticket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4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Envoyez un mail à </a:t>
            </a:r>
            <a:r>
              <a:rPr kumimoji="0" lang="fr-FR" sz="1400" b="0" i="0" u="sng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si@canalbox.net </a:t>
            </a:r>
          </a:p>
        </p:txBody>
      </p:sp>
    </p:spTree>
    <p:extLst>
      <p:ext uri="{BB962C8B-B14F-4D97-AF65-F5344CB8AC3E}">
        <p14:creationId xmlns:p14="http://schemas.microsoft.com/office/powerpoint/2010/main" val="384703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2441D806-A1E5-4B6D-8FEF-D3E56D96E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GVAdmin : le formulaire de création de ticket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C89551-172F-4DD8-A40E-8592E0BD41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FAAFF73-A9E6-4FF4-A819-3249B6A8D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60" y="1434153"/>
            <a:ext cx="8201707" cy="4577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883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D1A5ADB9-6CCA-43AF-80DB-986D4ACD3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1" y="1411401"/>
            <a:ext cx="11520000" cy="462263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Ici sélectionnez l’application concerné par votre demande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i="1" dirty="0">
                <a:solidFill>
                  <a:schemeClr val="accent5"/>
                </a:solidFill>
              </a:rPr>
              <a:t>Quelques exemples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BC54BA2-F5E9-41E1-8E2E-2B87E049C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GVAdmin : choix application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D1583C6-AB7E-46BF-B4E2-C11B45C7D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F2253C7-40D0-41A6-B467-485CDF6A835C}"/>
              </a:ext>
            </a:extLst>
          </p:cNvPr>
          <p:cNvSpPr/>
          <p:nvPr/>
        </p:nvSpPr>
        <p:spPr>
          <a:xfrm>
            <a:off x="11342937" y="228333"/>
            <a:ext cx="642605" cy="5508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</a:p>
        </p:txBody>
      </p:sp>
      <p:sp>
        <p:nvSpPr>
          <p:cNvPr id="9" name="Bulle narrative : ronde 8">
            <a:extLst>
              <a:ext uri="{FF2B5EF4-FFF2-40B4-BE49-F238E27FC236}">
                <a16:creationId xmlns:a16="http://schemas.microsoft.com/office/drawing/2014/main" id="{D872BA22-5309-4247-AEB4-D935B533CED5}"/>
              </a:ext>
            </a:extLst>
          </p:cNvPr>
          <p:cNvSpPr/>
          <p:nvPr/>
        </p:nvSpPr>
        <p:spPr>
          <a:xfrm>
            <a:off x="181506" y="3134175"/>
            <a:ext cx="3435901" cy="1333500"/>
          </a:xfrm>
          <a:prstGeom prst="wedgeEllipseCallou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Suite à une modification de l’éligibilité, après avoir compléter la désinstallation je ne vois pas arriver la tâche d’installation dans l’OSS. Le client 1782163 est au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statut VF impossible dans CGA </a:t>
            </a:r>
          </a:p>
        </p:txBody>
      </p:sp>
      <p:sp>
        <p:nvSpPr>
          <p:cNvPr id="11" name="Bulle narrative : rectangle 10">
            <a:extLst>
              <a:ext uri="{FF2B5EF4-FFF2-40B4-BE49-F238E27FC236}">
                <a16:creationId xmlns:a16="http://schemas.microsoft.com/office/drawing/2014/main" id="{B4BBBA4A-15ED-4582-AA87-7219570F96D4}"/>
              </a:ext>
            </a:extLst>
          </p:cNvPr>
          <p:cNvSpPr/>
          <p:nvPr/>
        </p:nvSpPr>
        <p:spPr>
          <a:xfrm>
            <a:off x="1819275" y="4607748"/>
            <a:ext cx="1293742" cy="452047"/>
          </a:xfrm>
          <a:prstGeom prst="wedgeRectCallout">
            <a:avLst>
              <a:gd name="adj1" fmla="val -3278"/>
              <a:gd name="adj2" fmla="val 125601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6D6D6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642B627-F634-4D55-965F-7B707F468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457" y="4689483"/>
            <a:ext cx="1133377" cy="287122"/>
          </a:xfrm>
          <a:prstGeom prst="rect">
            <a:avLst/>
          </a:prstGeom>
        </p:spPr>
      </p:pic>
      <p:sp>
        <p:nvSpPr>
          <p:cNvPr id="12" name="Bulle narrative : ronde 11">
            <a:extLst>
              <a:ext uri="{FF2B5EF4-FFF2-40B4-BE49-F238E27FC236}">
                <a16:creationId xmlns:a16="http://schemas.microsoft.com/office/drawing/2014/main" id="{630A84E0-23C1-4FD4-985A-F3546958B645}"/>
              </a:ext>
            </a:extLst>
          </p:cNvPr>
          <p:cNvSpPr/>
          <p:nvPr/>
        </p:nvSpPr>
        <p:spPr>
          <a:xfrm>
            <a:off x="4495800" y="2684495"/>
            <a:ext cx="2066925" cy="1038225"/>
          </a:xfrm>
          <a:prstGeom prst="wedgeEllipseCallout">
            <a:avLst>
              <a:gd name="adj1" fmla="val 55665"/>
              <a:gd name="adj2" fmla="val 70757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Nous souhaitons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mettre en prod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second Splitter de l’OTB CBX-1/7-22</a:t>
            </a:r>
          </a:p>
        </p:txBody>
      </p:sp>
      <p:sp>
        <p:nvSpPr>
          <p:cNvPr id="13" name="Bulle narrative : rectangle 12">
            <a:extLst>
              <a:ext uri="{FF2B5EF4-FFF2-40B4-BE49-F238E27FC236}">
                <a16:creationId xmlns:a16="http://schemas.microsoft.com/office/drawing/2014/main" id="{8960717C-01FB-4CB4-9D07-FCA8A0E9569F}"/>
              </a:ext>
            </a:extLst>
          </p:cNvPr>
          <p:cNvSpPr/>
          <p:nvPr/>
        </p:nvSpPr>
        <p:spPr>
          <a:xfrm>
            <a:off x="4591050" y="3821154"/>
            <a:ext cx="1293742" cy="368868"/>
          </a:xfrm>
          <a:prstGeom prst="wedgeRectCallout">
            <a:avLst>
              <a:gd name="adj1" fmla="val -40826"/>
              <a:gd name="adj2" fmla="val 98209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6D6D6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E59DBDD-AC9F-44DA-BB93-D0DE52B2E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918" y="3885683"/>
            <a:ext cx="1138005" cy="239810"/>
          </a:xfrm>
          <a:prstGeom prst="rect">
            <a:avLst/>
          </a:prstGeom>
        </p:spPr>
      </p:pic>
      <p:sp>
        <p:nvSpPr>
          <p:cNvPr id="15" name="Bulle narrative : ronde 14">
            <a:extLst>
              <a:ext uri="{FF2B5EF4-FFF2-40B4-BE49-F238E27FC236}">
                <a16:creationId xmlns:a16="http://schemas.microsoft.com/office/drawing/2014/main" id="{55C21412-195A-403C-9639-906F220C84A6}"/>
              </a:ext>
            </a:extLst>
          </p:cNvPr>
          <p:cNvSpPr/>
          <p:nvPr/>
        </p:nvSpPr>
        <p:spPr>
          <a:xfrm>
            <a:off x="5149920" y="4607748"/>
            <a:ext cx="2695575" cy="1127822"/>
          </a:xfrm>
          <a:prstGeom prst="wedgeEllipseCallou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Une erreur s’est glissé dans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articles du compte rendu d’installation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 l’abonné 19474397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6D6D6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Bulle narrative : rectangle 15">
            <a:extLst>
              <a:ext uri="{FF2B5EF4-FFF2-40B4-BE49-F238E27FC236}">
                <a16:creationId xmlns:a16="http://schemas.microsoft.com/office/drawing/2014/main" id="{851E2027-B771-454C-9B63-78058DCAE29C}"/>
              </a:ext>
            </a:extLst>
          </p:cNvPr>
          <p:cNvSpPr/>
          <p:nvPr/>
        </p:nvSpPr>
        <p:spPr>
          <a:xfrm>
            <a:off x="6657975" y="5815643"/>
            <a:ext cx="1293742" cy="452047"/>
          </a:xfrm>
          <a:prstGeom prst="wedgeRectCallout">
            <a:avLst>
              <a:gd name="adj1" fmla="val -3278"/>
              <a:gd name="adj2" fmla="val 125601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6D6D6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F611767-0251-44EB-AD2F-157D24757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5349" y="5896771"/>
            <a:ext cx="1118994" cy="354611"/>
          </a:xfrm>
          <a:prstGeom prst="rect">
            <a:avLst/>
          </a:prstGeom>
        </p:spPr>
      </p:pic>
      <p:sp>
        <p:nvSpPr>
          <p:cNvPr id="18" name="Bulle narrative : ronde 17">
            <a:extLst>
              <a:ext uri="{FF2B5EF4-FFF2-40B4-BE49-F238E27FC236}">
                <a16:creationId xmlns:a16="http://schemas.microsoft.com/office/drawing/2014/main" id="{83A61B9A-D042-4B8C-8973-420515057CF1}"/>
              </a:ext>
            </a:extLst>
          </p:cNvPr>
          <p:cNvSpPr/>
          <p:nvPr/>
        </p:nvSpPr>
        <p:spPr>
          <a:xfrm>
            <a:off x="8075549" y="3276057"/>
            <a:ext cx="2695575" cy="630586"/>
          </a:xfrm>
          <a:prstGeom prst="wedgeEllipseCallou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 n’arrive pas à me connecter au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 GVA  </a:t>
            </a:r>
          </a:p>
        </p:txBody>
      </p:sp>
      <p:sp>
        <p:nvSpPr>
          <p:cNvPr id="19" name="Bulle narrative : rectangle 18">
            <a:extLst>
              <a:ext uri="{FF2B5EF4-FFF2-40B4-BE49-F238E27FC236}">
                <a16:creationId xmlns:a16="http://schemas.microsoft.com/office/drawing/2014/main" id="{D4DAAFCF-9050-4B87-841D-C7AB69CF60FD}"/>
              </a:ext>
            </a:extLst>
          </p:cNvPr>
          <p:cNvSpPr/>
          <p:nvPr/>
        </p:nvSpPr>
        <p:spPr>
          <a:xfrm>
            <a:off x="9772655" y="4006099"/>
            <a:ext cx="1293742" cy="367846"/>
          </a:xfrm>
          <a:prstGeom prst="wedgeRectCallout">
            <a:avLst>
              <a:gd name="adj1" fmla="val -9168"/>
              <a:gd name="adj2" fmla="val 84171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</a:t>
            </a:r>
          </a:p>
        </p:txBody>
      </p:sp>
    </p:spTree>
    <p:extLst>
      <p:ext uri="{BB962C8B-B14F-4D97-AF65-F5344CB8AC3E}">
        <p14:creationId xmlns:p14="http://schemas.microsoft.com/office/powerpoint/2010/main" val="253286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950BDE0-D3A7-4FF8-91D0-6E12098A0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52" y="1411401"/>
            <a:ext cx="11520000" cy="462263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Ici sélectionnez le tracker qui définit au mieux votre demande. </a:t>
            </a:r>
          </a:p>
          <a:p>
            <a:pPr marL="0" indent="0">
              <a:buNone/>
            </a:pPr>
            <a:endParaRPr lang="fr-FR" b="1" i="1" dirty="0">
              <a:solidFill>
                <a:schemeClr val="accent5"/>
              </a:solidFill>
            </a:endParaRPr>
          </a:p>
          <a:p>
            <a:pPr marL="0" indent="0">
              <a:buNone/>
            </a:pPr>
            <a:r>
              <a:rPr lang="fr-FR" b="1" i="1" dirty="0">
                <a:solidFill>
                  <a:schemeClr val="accent5"/>
                </a:solidFill>
              </a:rPr>
              <a:t>Quelques exemples </a:t>
            </a:r>
          </a:p>
          <a:p>
            <a:pPr marL="0" indent="0">
              <a:buNone/>
            </a:pPr>
            <a:r>
              <a:rPr lang="fr-FR" dirty="0"/>
              <a:t> </a:t>
            </a:r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6A4CAB59-CDFE-486A-88DF-F23BEAFA3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GVAdmin : choix tracker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0A2765A-E656-42DE-923F-BCD77BE80995}"/>
              </a:ext>
            </a:extLst>
          </p:cNvPr>
          <p:cNvSpPr/>
          <p:nvPr/>
        </p:nvSpPr>
        <p:spPr>
          <a:xfrm>
            <a:off x="11342937" y="228333"/>
            <a:ext cx="642605" cy="550842"/>
          </a:xfrm>
          <a:prstGeom prst="ellipse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9" name="Bulle narrative : ronde 8">
            <a:extLst>
              <a:ext uri="{FF2B5EF4-FFF2-40B4-BE49-F238E27FC236}">
                <a16:creationId xmlns:a16="http://schemas.microsoft.com/office/drawing/2014/main" id="{D8587B13-3584-428E-95F5-2A7731C5B7B8}"/>
              </a:ext>
            </a:extLst>
          </p:cNvPr>
          <p:cNvSpPr/>
          <p:nvPr/>
        </p:nvSpPr>
        <p:spPr>
          <a:xfrm>
            <a:off x="212442" y="3068002"/>
            <a:ext cx="2542644" cy="1333500"/>
          </a:xfrm>
          <a:prstGeom prst="wedgeEllipseCallou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J’ai un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message d’erreur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X lorsque je tente d’accéder aux Logs OLT de l’abonné 129173 sur GVAdmin. La page est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inaccessible. </a:t>
            </a:r>
          </a:p>
        </p:txBody>
      </p:sp>
      <p:sp>
        <p:nvSpPr>
          <p:cNvPr id="10" name="Bulle narrative : rectangle 9">
            <a:extLst>
              <a:ext uri="{FF2B5EF4-FFF2-40B4-BE49-F238E27FC236}">
                <a16:creationId xmlns:a16="http://schemas.microsoft.com/office/drawing/2014/main" id="{F9BCB136-494D-4E6B-BFA1-277079361701}"/>
              </a:ext>
            </a:extLst>
          </p:cNvPr>
          <p:cNvSpPr/>
          <p:nvPr/>
        </p:nvSpPr>
        <p:spPr>
          <a:xfrm>
            <a:off x="1265018" y="4588097"/>
            <a:ext cx="714375" cy="319863"/>
          </a:xfrm>
          <a:prstGeom prst="wedgeRectCallout">
            <a:avLst>
              <a:gd name="adj1" fmla="val -1945"/>
              <a:gd name="adj2" fmla="val 95823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BUG</a:t>
            </a:r>
          </a:p>
        </p:txBody>
      </p:sp>
      <p:sp>
        <p:nvSpPr>
          <p:cNvPr id="11" name="Bulle narrative : ronde 10">
            <a:extLst>
              <a:ext uri="{FF2B5EF4-FFF2-40B4-BE49-F238E27FC236}">
                <a16:creationId xmlns:a16="http://schemas.microsoft.com/office/drawing/2014/main" id="{3AB5A007-DBBA-489A-A1A1-352B63AA4BDB}"/>
              </a:ext>
            </a:extLst>
          </p:cNvPr>
          <p:cNvSpPr/>
          <p:nvPr/>
        </p:nvSpPr>
        <p:spPr>
          <a:xfrm>
            <a:off x="2497095" y="4748029"/>
            <a:ext cx="2542644" cy="1333500"/>
          </a:xfrm>
          <a:prstGeom prst="wedgeEllipseCallou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Serait-ce possible d’ajouter le diagnostic de résolution « Achat Répéteur » dans Service Now  </a:t>
            </a:r>
            <a:endParaRPr kumimoji="0" lang="fr-FR" sz="1200" b="1" i="0" u="none" strike="noStrike" kern="1200" cap="none" spc="0" normalizeH="0" baseline="0" noProof="0" dirty="0">
              <a:ln>
                <a:noFill/>
              </a:ln>
              <a:solidFill>
                <a:srgbClr val="6D6D6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Bulle narrative : rectangle 11">
            <a:extLst>
              <a:ext uri="{FF2B5EF4-FFF2-40B4-BE49-F238E27FC236}">
                <a16:creationId xmlns:a16="http://schemas.microsoft.com/office/drawing/2014/main" id="{BEF68258-6677-4ED8-8747-D85F21EE2D35}"/>
              </a:ext>
            </a:extLst>
          </p:cNvPr>
          <p:cNvSpPr/>
          <p:nvPr/>
        </p:nvSpPr>
        <p:spPr>
          <a:xfrm>
            <a:off x="3567862" y="6154462"/>
            <a:ext cx="1610256" cy="319863"/>
          </a:xfrm>
          <a:prstGeom prst="wedgeRectCallout">
            <a:avLst>
              <a:gd name="adj1" fmla="val -3278"/>
              <a:gd name="adj2" fmla="val 125601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Demande d’évolution</a:t>
            </a:r>
          </a:p>
        </p:txBody>
      </p:sp>
      <p:sp>
        <p:nvSpPr>
          <p:cNvPr id="13" name="Bulle narrative : ronde 12">
            <a:extLst>
              <a:ext uri="{FF2B5EF4-FFF2-40B4-BE49-F238E27FC236}">
                <a16:creationId xmlns:a16="http://schemas.microsoft.com/office/drawing/2014/main" id="{054A663B-3524-4FCB-A2C7-664782F75CEC}"/>
              </a:ext>
            </a:extLst>
          </p:cNvPr>
          <p:cNvSpPr/>
          <p:nvPr/>
        </p:nvSpPr>
        <p:spPr>
          <a:xfrm>
            <a:off x="3475835" y="2942940"/>
            <a:ext cx="2542644" cy="863507"/>
          </a:xfrm>
          <a:prstGeom prst="wedgeEllipseCallout">
            <a:avLst>
              <a:gd name="adj1" fmla="val 37981"/>
              <a:gd name="adj2" fmla="val 71786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 souhaiter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ajouter le bâtiment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LOM_19721 dans l’OSS. </a:t>
            </a:r>
          </a:p>
        </p:txBody>
      </p:sp>
      <p:sp>
        <p:nvSpPr>
          <p:cNvPr id="14" name="Bulle narrative : rectangle 13">
            <a:extLst>
              <a:ext uri="{FF2B5EF4-FFF2-40B4-BE49-F238E27FC236}">
                <a16:creationId xmlns:a16="http://schemas.microsoft.com/office/drawing/2014/main" id="{41FF1F03-83E8-409F-B4EF-51AF132B9DC6}"/>
              </a:ext>
            </a:extLst>
          </p:cNvPr>
          <p:cNvSpPr/>
          <p:nvPr/>
        </p:nvSpPr>
        <p:spPr>
          <a:xfrm>
            <a:off x="3567862" y="3915060"/>
            <a:ext cx="1610256" cy="319863"/>
          </a:xfrm>
          <a:prstGeom prst="wedgeRectCallout">
            <a:avLst>
              <a:gd name="adj1" fmla="val 863"/>
              <a:gd name="adj2" fmla="val 98801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Import de données</a:t>
            </a:r>
          </a:p>
        </p:txBody>
      </p:sp>
      <p:sp>
        <p:nvSpPr>
          <p:cNvPr id="15" name="Bulle narrative : ronde 14">
            <a:extLst>
              <a:ext uri="{FF2B5EF4-FFF2-40B4-BE49-F238E27FC236}">
                <a16:creationId xmlns:a16="http://schemas.microsoft.com/office/drawing/2014/main" id="{911D3C5F-EAC6-4E7E-8627-858E24229F5A}"/>
              </a:ext>
            </a:extLst>
          </p:cNvPr>
          <p:cNvSpPr/>
          <p:nvPr/>
        </p:nvSpPr>
        <p:spPr>
          <a:xfrm>
            <a:off x="5311468" y="4435488"/>
            <a:ext cx="2808429" cy="1029840"/>
          </a:xfrm>
          <a:prstGeom prst="wedgeEllipseCallou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Serait-il possible d’obtenir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valeurs de longueur de drop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les installations du mois de Juillet 2018?</a:t>
            </a:r>
          </a:p>
        </p:txBody>
      </p:sp>
      <p:sp>
        <p:nvSpPr>
          <p:cNvPr id="16" name="Bulle narrative : rectangle 15">
            <a:extLst>
              <a:ext uri="{FF2B5EF4-FFF2-40B4-BE49-F238E27FC236}">
                <a16:creationId xmlns:a16="http://schemas.microsoft.com/office/drawing/2014/main" id="{88D564DA-366C-4F1D-8D6F-0878AA5DE6A7}"/>
              </a:ext>
            </a:extLst>
          </p:cNvPr>
          <p:cNvSpPr/>
          <p:nvPr/>
        </p:nvSpPr>
        <p:spPr>
          <a:xfrm>
            <a:off x="6509641" y="5577990"/>
            <a:ext cx="950336" cy="319863"/>
          </a:xfrm>
          <a:prstGeom prst="wedgeRectCallout">
            <a:avLst>
              <a:gd name="adj1" fmla="val -911"/>
              <a:gd name="adj2" fmla="val 116668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Extractions</a:t>
            </a:r>
          </a:p>
        </p:txBody>
      </p:sp>
      <p:sp>
        <p:nvSpPr>
          <p:cNvPr id="17" name="Bulle narrative : ronde 16">
            <a:extLst>
              <a:ext uri="{FF2B5EF4-FFF2-40B4-BE49-F238E27FC236}">
                <a16:creationId xmlns:a16="http://schemas.microsoft.com/office/drawing/2014/main" id="{DC664BC4-8C41-447C-ACC8-648AC1D02F97}"/>
              </a:ext>
            </a:extLst>
          </p:cNvPr>
          <p:cNvSpPr/>
          <p:nvPr/>
        </p:nvSpPr>
        <p:spPr>
          <a:xfrm>
            <a:off x="7459977" y="3110118"/>
            <a:ext cx="3112773" cy="1124805"/>
          </a:xfrm>
          <a:prstGeom prst="wedgeEllipseCallou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résultat d’éligibilité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le bâtiment LBV_8731 indique que le PBO est full. Or, dans l’OSS, le second Splitter est bien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 statut « in service »</a:t>
            </a:r>
          </a:p>
        </p:txBody>
      </p:sp>
      <p:sp>
        <p:nvSpPr>
          <p:cNvPr id="18" name="Bulle narrative : rectangle 17">
            <a:extLst>
              <a:ext uri="{FF2B5EF4-FFF2-40B4-BE49-F238E27FC236}">
                <a16:creationId xmlns:a16="http://schemas.microsoft.com/office/drawing/2014/main" id="{D10903AF-68D7-4245-8B36-5A1DD4BBEBBB}"/>
              </a:ext>
            </a:extLst>
          </p:cNvPr>
          <p:cNvSpPr/>
          <p:nvPr/>
        </p:nvSpPr>
        <p:spPr>
          <a:xfrm>
            <a:off x="8789770" y="4307743"/>
            <a:ext cx="916205" cy="319863"/>
          </a:xfrm>
          <a:prstGeom prst="wedgeRectCallout">
            <a:avLst>
              <a:gd name="adj1" fmla="val -911"/>
              <a:gd name="adj2" fmla="val 116668"/>
            </a:avLst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Assistance</a:t>
            </a:r>
          </a:p>
        </p:txBody>
      </p:sp>
    </p:spTree>
    <p:extLst>
      <p:ext uri="{BB962C8B-B14F-4D97-AF65-F5344CB8AC3E}">
        <p14:creationId xmlns:p14="http://schemas.microsoft.com/office/powerpoint/2010/main" val="980154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BB9D0B7-FC7C-464E-BA73-DB27B886C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Est-ce que je peux </a:t>
            </a:r>
            <a:r>
              <a:rPr lang="fr-FR" dirty="0" err="1"/>
              <a:t>logguer</a:t>
            </a:r>
            <a:r>
              <a:rPr lang="fr-FR" dirty="0"/>
              <a:t> plusieurs demandes sur le même ticket ? </a:t>
            </a:r>
          </a:p>
          <a:p>
            <a:pPr lvl="1"/>
            <a:r>
              <a:rPr lang="fr-FR" dirty="0"/>
              <a:t>Oui, si, et seulement si, ces demandes sont du même types. Par exemple : </a:t>
            </a:r>
          </a:p>
          <a:p>
            <a:pPr lvl="2"/>
            <a:r>
              <a:rPr lang="fr-FR" dirty="0"/>
              <a:t>Une mise en prod d’un OTB et d’un bâtiment et d’un poteaux</a:t>
            </a:r>
          </a:p>
          <a:p>
            <a:pPr lvl="2"/>
            <a:r>
              <a:rPr lang="fr-FR" dirty="0"/>
              <a:t>Une création de compte SI pour deux nouveaux salariés </a:t>
            </a:r>
          </a:p>
          <a:p>
            <a:pPr lvl="2"/>
            <a:r>
              <a:rPr lang="fr-FR" dirty="0"/>
              <a:t>Une demande d’assistance sur deux cas particuliers avec le même « symptôme »</a:t>
            </a:r>
          </a:p>
          <a:p>
            <a:pPr lvl="2"/>
            <a:r>
              <a:rPr lang="fr-FR" dirty="0"/>
              <a:t>Ajout/Suppression de bâtiments dans une/des zone(s) d’influence</a:t>
            </a:r>
          </a:p>
          <a:p>
            <a:pPr marL="833946" lvl="2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Comment suivre le traitement d’un ticket ? </a:t>
            </a:r>
          </a:p>
          <a:p>
            <a:pPr lvl="1"/>
            <a:r>
              <a:rPr lang="fr-FR" dirty="0"/>
              <a:t>Veillez à bien noter votre numéro de ticket </a:t>
            </a:r>
          </a:p>
          <a:p>
            <a:pPr lvl="1"/>
            <a:r>
              <a:rPr lang="fr-FR" dirty="0"/>
              <a:t>Envoyez un message via mail ou WhatsApp avec le numéro de votre ticket. Une personne du N3 vous informera sur le statut de traitement</a:t>
            </a:r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E6488C5-75A5-4105-80DD-10C3489E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FAQ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282DF5-021A-4F92-9477-89D93B8A06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2466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3BB9D0B7-FC7C-464E-BA73-DB27B886C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Est-ce que les délais de traitement sont définis par type de demandes? </a:t>
            </a:r>
          </a:p>
          <a:p>
            <a:pPr lvl="1"/>
            <a:r>
              <a:rPr lang="fr-FR" dirty="0"/>
              <a:t>Pas encore, mais l’objectif est que chaque type de demande ai un SLA prédéfini </a:t>
            </a:r>
          </a:p>
          <a:p>
            <a:pPr marL="833946" lvl="2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FE6488C5-75A5-4105-80DD-10C3489E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FAQ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282DF5-021A-4F92-9477-89D93B8A065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691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157053-0164-4087-AF45-0281E91AF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Normalisation des demandes</a:t>
            </a:r>
          </a:p>
        </p:txBody>
      </p:sp>
    </p:spTree>
    <p:extLst>
      <p:ext uri="{BB962C8B-B14F-4D97-AF65-F5344CB8AC3E}">
        <p14:creationId xmlns:p14="http://schemas.microsoft.com/office/powerpoint/2010/main" val="870687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8C8B9B4-808F-4448-AC89-2999DA040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138" y="1305993"/>
            <a:ext cx="11520000" cy="1334657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Il existe deux façon de ne plus faire apparaître un ticket du </a:t>
            </a:r>
            <a:r>
              <a:rPr lang="fr-FR" dirty="0" err="1"/>
              <a:t>backlog</a:t>
            </a:r>
            <a:r>
              <a:rPr lang="fr-FR" dirty="0"/>
              <a:t> </a:t>
            </a:r>
            <a:r>
              <a:rPr lang="fr-FR" dirty="0" err="1"/>
              <a:t>Praxedo</a:t>
            </a:r>
            <a:r>
              <a:rPr lang="fr-FR" dirty="0"/>
              <a:t> : </a:t>
            </a:r>
          </a:p>
          <a:p>
            <a:pPr lvl="1"/>
            <a:r>
              <a:rPr lang="fr-FR" sz="1800" b="1" i="1" dirty="0"/>
              <a:t>l'annuler, </a:t>
            </a:r>
            <a:r>
              <a:rPr lang="fr-FR" sz="1800" dirty="0"/>
              <a:t>ainsi le ticket reste présent et consultable. Si tu demandes une annulation cette dernière doit systématiquement être accompagné d'une motif : par exemple "remboursement", "impossibilité technique"... </a:t>
            </a:r>
          </a:p>
          <a:p>
            <a:pPr lvl="1"/>
            <a:r>
              <a:rPr lang="fr-FR" b="1" i="1" dirty="0"/>
              <a:t>le supprimer, </a:t>
            </a:r>
            <a:r>
              <a:rPr lang="fr-FR" dirty="0"/>
              <a:t>ainsi le ticket disparaît complètement du système. Il est irrécupérable</a:t>
            </a:r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3B2FB86-BD72-4A99-9490-7E8119B8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Praxedo</a:t>
            </a:r>
            <a:r>
              <a:rPr lang="fr-FR" dirty="0"/>
              <a:t> – Suppression ou annulation de ticket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294A98-F047-4144-AE73-9813AA900A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C69F61DD-9F72-4F2A-BD75-EFF8971D0127}"/>
              </a:ext>
            </a:extLst>
          </p:cNvPr>
          <p:cNvSpPr txBox="1">
            <a:spLocks/>
          </p:cNvSpPr>
          <p:nvPr/>
        </p:nvSpPr>
        <p:spPr bwMode="gray">
          <a:xfrm>
            <a:off x="336000" y="3002544"/>
            <a:ext cx="9297545" cy="3747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faciliter le traitement : 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J’indique le numéro de ticket tel que présenté dans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Praxedo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 ticket d’installation/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sav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= 1 ticket RM (dans le cas d’une demande en masse sollicité SI Paris)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 précise pour chaque ticket s’il s’agit d’une annulation ou d’une suppression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67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Dans le cas d’une annulation je précise le motif parmi les choix suivants : 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Annulation client – remboursement 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KO installation – remboursement 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Erreur saisie abonnement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Autre motif d’annulation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67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 n’hésite pas à donner du contexte afin de permettre au N3 de documenter dans </a:t>
            </a:r>
            <a:r>
              <a:rPr kumimoji="0" lang="fr-FR" sz="1867" b="0" i="0" u="none" strike="noStrike" kern="1200" cap="none" spc="0" normalizeH="0" baseline="0" noProof="0" dirty="0" err="1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Praxedo</a:t>
            </a:r>
            <a:endParaRPr kumimoji="0" lang="fr-FR" sz="1867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endParaRPr kumimoji="0" lang="fr-FR" sz="1867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578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FFD9B0-8D61-40C6-9BA3-838062E1CC69}"/>
              </a:ext>
            </a:extLst>
          </p:cNvPr>
          <p:cNvSpPr/>
          <p:nvPr/>
        </p:nvSpPr>
        <p:spPr>
          <a:xfrm>
            <a:off x="9633545" y="4626036"/>
            <a:ext cx="2221907" cy="165533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Les tickets d’installation au statut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« Validé »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signifient que le décompte de la facturation à débuté !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Sélectionner « Customer »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dans le menu déroulant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791383-2841-4B33-A758-3E806FCA34F6}"/>
              </a:ext>
            </a:extLst>
          </p:cNvPr>
          <p:cNvSpPr/>
          <p:nvPr/>
        </p:nvSpPr>
        <p:spPr>
          <a:xfrm>
            <a:off x="9400373" y="4335479"/>
            <a:ext cx="2170631" cy="444381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POINT D’ATTENTION</a:t>
            </a:r>
          </a:p>
        </p:txBody>
      </p:sp>
    </p:spTree>
    <p:extLst>
      <p:ext uri="{BB962C8B-B14F-4D97-AF65-F5344CB8AC3E}">
        <p14:creationId xmlns:p14="http://schemas.microsoft.com/office/powerpoint/2010/main" val="1252705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28C8B9B4-808F-4448-AC89-2999DA040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1" y="1305993"/>
            <a:ext cx="11520000" cy="1334657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Il existe deux types de comptes : </a:t>
            </a:r>
          </a:p>
          <a:p>
            <a:pPr lvl="1"/>
            <a:r>
              <a:rPr lang="fr-FR" sz="1800" b="1" i="1" dirty="0"/>
              <a:t>Utilisateur : </a:t>
            </a:r>
            <a:r>
              <a:rPr lang="fr-FR" sz="1800" dirty="0"/>
              <a:t>qui permet d’accéder à la version desktop de </a:t>
            </a:r>
            <a:r>
              <a:rPr lang="fr-FR" sz="1800" dirty="0" err="1"/>
              <a:t>Praxedo</a:t>
            </a:r>
            <a:r>
              <a:rPr lang="fr-FR" sz="1800" dirty="0"/>
              <a:t>. L’accès et les droits sont différentiés selon le profil</a:t>
            </a:r>
          </a:p>
          <a:p>
            <a:pPr lvl="1"/>
            <a:r>
              <a:rPr lang="fr-FR" b="1" i="1" dirty="0"/>
              <a:t>Technicien : </a:t>
            </a:r>
            <a:r>
              <a:rPr lang="fr-FR" dirty="0"/>
              <a:t>qui permet d’accéder à l’application </a:t>
            </a:r>
            <a:r>
              <a:rPr lang="fr-FR" dirty="0" err="1"/>
              <a:t>Praxedo</a:t>
            </a:r>
            <a:r>
              <a:rPr lang="fr-FR" dirty="0"/>
              <a:t> </a:t>
            </a:r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33B2FB86-BD72-4A99-9490-7E8119B8F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Praxedo</a:t>
            </a:r>
            <a:r>
              <a:rPr lang="fr-FR" dirty="0"/>
              <a:t> – Création de compte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A294A98-F047-4144-AE73-9813AA900A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8" name="Espace réservé du contenu 1">
            <a:extLst>
              <a:ext uri="{FF2B5EF4-FFF2-40B4-BE49-F238E27FC236}">
                <a16:creationId xmlns:a16="http://schemas.microsoft.com/office/drawing/2014/main" id="{C69F61DD-9F72-4F2A-BD75-EFF8971D0127}"/>
              </a:ext>
            </a:extLst>
          </p:cNvPr>
          <p:cNvSpPr txBox="1">
            <a:spLocks/>
          </p:cNvSpPr>
          <p:nvPr/>
        </p:nvSpPr>
        <p:spPr bwMode="gray">
          <a:xfrm>
            <a:off x="336001" y="3002543"/>
            <a:ext cx="9064372" cy="3278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faciliter le traitement : 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J’indique les noms et prénoms complets de l’utilisateur/technicien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Utilisateur ? je précise une adresse mail valide 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533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 mail de confirmation, d’une durée très limitée, est transmis pour valider la création du compte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67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Utilisateur ? Je précise le type de profil 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Lecteur : visualisation ONLY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Superviseur : en charge du dispatch, peut planifier les demandes d’installation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67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Technicien ? Je précise sa date de début 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67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Technicien ? Je précise ses fonctions 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Installations 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SAV 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endParaRPr kumimoji="0" lang="fr-FR" sz="1867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578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FFD9B0-8D61-40C6-9BA3-838062E1CC69}"/>
              </a:ext>
            </a:extLst>
          </p:cNvPr>
          <p:cNvSpPr/>
          <p:nvPr/>
        </p:nvSpPr>
        <p:spPr>
          <a:xfrm>
            <a:off x="9633545" y="4626036"/>
            <a:ext cx="2221907" cy="165533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 un utilisateur ou un technicien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remplace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un existant MERCI de le préciser.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 plus, si une personne quitte la société c’est aussi une raison de créer un ticket !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791383-2841-4B33-A758-3E806FCA34F6}"/>
              </a:ext>
            </a:extLst>
          </p:cNvPr>
          <p:cNvSpPr/>
          <p:nvPr/>
        </p:nvSpPr>
        <p:spPr>
          <a:xfrm>
            <a:off x="9400373" y="4344024"/>
            <a:ext cx="2170631" cy="444381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POINT D’ATTENTION</a:t>
            </a:r>
          </a:p>
        </p:txBody>
      </p:sp>
    </p:spTree>
    <p:extLst>
      <p:ext uri="{BB962C8B-B14F-4D97-AF65-F5344CB8AC3E}">
        <p14:creationId xmlns:p14="http://schemas.microsoft.com/office/powerpoint/2010/main" val="1317640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DB0C358-BD13-4E25-8DA0-CBC30ACE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OSP – Création d’OTB/OTBB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740EC9-EB9F-4193-AD96-DF512D33EE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DAA93DF7-8F19-41F9-9E41-BFCC3B93D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1" y="1411401"/>
            <a:ext cx="9645488" cy="462263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Deux fichiers EXCEL sont à produire :</a:t>
            </a:r>
          </a:p>
          <a:p>
            <a:pPr lvl="1"/>
            <a:r>
              <a:rPr lang="fr-FR" sz="1800" b="1" i="1" dirty="0"/>
              <a:t>Influence Area Infrastructure : </a:t>
            </a:r>
            <a:r>
              <a:rPr lang="fr-FR" sz="1800" dirty="0"/>
              <a:t>document permettant de créer « l’objet » OTB dans le système</a:t>
            </a:r>
          </a:p>
          <a:p>
            <a:pPr lvl="1"/>
            <a:r>
              <a:rPr lang="fr-FR" b="1" i="1" dirty="0"/>
              <a:t>Influence Area Connectivity : </a:t>
            </a:r>
            <a:r>
              <a:rPr lang="fr-FR" dirty="0"/>
              <a:t>document permettant de créer le lien logique entre l’OLT et l’OTB dans le système</a:t>
            </a:r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66C704-258D-4DE9-9BD1-0F5265999235}"/>
              </a:ext>
            </a:extLst>
          </p:cNvPr>
          <p:cNvSpPr/>
          <p:nvPr/>
        </p:nvSpPr>
        <p:spPr>
          <a:xfrm>
            <a:off x="10472762" y="1687703"/>
            <a:ext cx="1542624" cy="773387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Retrouvez les Template dans la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‘Naming Convention’ </a:t>
            </a:r>
          </a:p>
        </p:txBody>
      </p:sp>
      <p:grpSp>
        <p:nvGrpSpPr>
          <p:cNvPr id="6" name="Group 78">
            <a:extLst>
              <a:ext uri="{FF2B5EF4-FFF2-40B4-BE49-F238E27FC236}">
                <a16:creationId xmlns:a16="http://schemas.microsoft.com/office/drawing/2014/main" id="{68092B0D-7A10-4B71-A9C3-0D84220EA6C9}"/>
              </a:ext>
            </a:extLst>
          </p:cNvPr>
          <p:cNvGrpSpPr/>
          <p:nvPr/>
        </p:nvGrpSpPr>
        <p:grpSpPr>
          <a:xfrm rot="20361795">
            <a:off x="10343281" y="1501649"/>
            <a:ext cx="446968" cy="510355"/>
            <a:chOff x="4075113" y="1909763"/>
            <a:chExt cx="247650" cy="360363"/>
          </a:xfrm>
          <a:solidFill>
            <a:schemeClr val="accent5"/>
          </a:solidFill>
        </p:grpSpPr>
        <p:sp>
          <p:nvSpPr>
            <p:cNvPr id="7" name="Freeform 78">
              <a:extLst>
                <a:ext uri="{FF2B5EF4-FFF2-40B4-BE49-F238E27FC236}">
                  <a16:creationId xmlns:a16="http://schemas.microsoft.com/office/drawing/2014/main" id="{A2E78DA4-2062-41B7-B915-62E13B57A1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Freeform 79">
              <a:extLst>
                <a:ext uri="{FF2B5EF4-FFF2-40B4-BE49-F238E27FC236}">
                  <a16:creationId xmlns:a16="http://schemas.microsoft.com/office/drawing/2014/main" id="{5C2E3781-9149-464C-8DA7-20E6E155B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Espace réservé du contenu 1">
            <a:extLst>
              <a:ext uri="{FF2B5EF4-FFF2-40B4-BE49-F238E27FC236}">
                <a16:creationId xmlns:a16="http://schemas.microsoft.com/office/drawing/2014/main" id="{2FC633EA-2F0C-4FD2-8EF1-7BA22F48E2AC}"/>
              </a:ext>
            </a:extLst>
          </p:cNvPr>
          <p:cNvSpPr txBox="1">
            <a:spLocks/>
          </p:cNvSpPr>
          <p:nvPr/>
        </p:nvSpPr>
        <p:spPr bwMode="gray">
          <a:xfrm>
            <a:off x="336001" y="3002543"/>
            <a:ext cx="9064372" cy="3278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faciliter le traitement : 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J’effectue les vérifications préalables dans l’OSS : 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533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Est-ce que le poteaux/bâtiments auquel est rattaché l’OTB, le splitter de 1</a:t>
            </a:r>
            <a:r>
              <a:rPr kumimoji="0" lang="fr-FR" sz="1533" b="0" i="0" u="none" strike="noStrike" kern="1200" cap="none" spc="0" normalizeH="0" baseline="3000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</a:t>
            </a:r>
            <a:r>
              <a:rPr kumimoji="0" lang="fr-FR" sz="1533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niveau et l’ODF existe? Si non, je l’ajoute au fichier IA Infrastructure ou </a:t>
            </a:r>
            <a:r>
              <a:rPr kumimoji="0" lang="fr-FR" sz="1533" b="0" i="0" u="none" strike="noStrike" kern="1200" cap="none" spc="0" normalizeH="0" baseline="0" noProof="0" dirty="0" err="1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Market</a:t>
            </a:r>
            <a:r>
              <a:rPr kumimoji="0" lang="fr-FR" sz="1533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Qualif 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533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Est-ce que les bâtiments compris dans la zone d’influence de l’OTB sont créés? Si non, je joins une mise à jour de la </a:t>
            </a:r>
            <a:r>
              <a:rPr kumimoji="0" lang="fr-FR" sz="1533" b="0" i="0" u="none" strike="noStrike" kern="1200" cap="none" spc="0" normalizeH="0" baseline="0" noProof="0" dirty="0" err="1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Market</a:t>
            </a:r>
            <a:r>
              <a:rPr kumimoji="0" lang="fr-FR" sz="1533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Qualif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 regroupe mes demandes : ne pas hésiter à demander la mise en production de plusieurs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OTBs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OTBBs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dans un même ticket 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 n’hésite pas à compléter le volet « 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Demand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Area » pour que les zones d’influences soient prise en compte dès la mise en production</a:t>
            </a:r>
          </a:p>
          <a:p>
            <a:pPr marL="450840" marR="0" lvl="1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None/>
              <a:tabLst>
                <a:tab pos="831830" algn="l"/>
              </a:tabLst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endParaRPr kumimoji="0" lang="fr-FR" sz="1867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endParaRPr kumimoji="0" lang="fr-FR" sz="1867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578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FA6337-9254-4D8B-8DDD-AEF5F03E8200}"/>
              </a:ext>
            </a:extLst>
          </p:cNvPr>
          <p:cNvSpPr/>
          <p:nvPr/>
        </p:nvSpPr>
        <p:spPr>
          <a:xfrm>
            <a:off x="9633545" y="4626036"/>
            <a:ext cx="2221907" cy="165533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accélérer le traitement,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signifier une urgence commerciale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ne pas hésiter à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mentionner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dans le ticket !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Vous pouvez également solliciter la DSI en direct muni du numéro de ticket.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B3D0A-97D7-401F-BB04-A96A85EEAF3B}"/>
              </a:ext>
            </a:extLst>
          </p:cNvPr>
          <p:cNvSpPr/>
          <p:nvPr/>
        </p:nvSpPr>
        <p:spPr>
          <a:xfrm>
            <a:off x="9400373" y="4344024"/>
            <a:ext cx="2170631" cy="444381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POINT D’ATTENTION</a:t>
            </a:r>
          </a:p>
        </p:txBody>
      </p:sp>
    </p:spTree>
    <p:extLst>
      <p:ext uri="{BB962C8B-B14F-4D97-AF65-F5344CB8AC3E}">
        <p14:creationId xmlns:p14="http://schemas.microsoft.com/office/powerpoint/2010/main" val="480054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DB0C358-BD13-4E25-8DA0-CBC30ACE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OSP – Activation du 2nd Splitter d’un OTB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D740EC9-EB9F-4193-AD96-DF512D33EE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contenu 1">
            <a:extLst>
              <a:ext uri="{FF2B5EF4-FFF2-40B4-BE49-F238E27FC236}">
                <a16:creationId xmlns:a16="http://schemas.microsoft.com/office/drawing/2014/main" id="{DAA93DF7-8F19-41F9-9E41-BFCC3B93D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01" y="1411401"/>
            <a:ext cx="9645488" cy="462263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Un seul fichier EXCEL est à produire :</a:t>
            </a:r>
          </a:p>
          <a:p>
            <a:pPr lvl="1"/>
            <a:r>
              <a:rPr lang="fr-FR" b="1" i="1" dirty="0"/>
              <a:t>Influence Area Connectivity : </a:t>
            </a:r>
            <a:r>
              <a:rPr lang="fr-FR" dirty="0"/>
              <a:t>document permettant de créer le lien logique entre l’OLT et l’OTB dans le système</a:t>
            </a:r>
          </a:p>
          <a:p>
            <a:pPr lvl="1"/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66C704-258D-4DE9-9BD1-0F5265999235}"/>
              </a:ext>
            </a:extLst>
          </p:cNvPr>
          <p:cNvSpPr/>
          <p:nvPr/>
        </p:nvSpPr>
        <p:spPr>
          <a:xfrm>
            <a:off x="10472762" y="1687703"/>
            <a:ext cx="1542624" cy="773387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Retrouvez les Template dans la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80276C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‘Naming Convention’ </a:t>
            </a:r>
          </a:p>
        </p:txBody>
      </p:sp>
      <p:grpSp>
        <p:nvGrpSpPr>
          <p:cNvPr id="6" name="Group 78">
            <a:extLst>
              <a:ext uri="{FF2B5EF4-FFF2-40B4-BE49-F238E27FC236}">
                <a16:creationId xmlns:a16="http://schemas.microsoft.com/office/drawing/2014/main" id="{68092B0D-7A10-4B71-A9C3-0D84220EA6C9}"/>
              </a:ext>
            </a:extLst>
          </p:cNvPr>
          <p:cNvGrpSpPr/>
          <p:nvPr/>
        </p:nvGrpSpPr>
        <p:grpSpPr>
          <a:xfrm rot="20361795">
            <a:off x="10343281" y="1501649"/>
            <a:ext cx="446968" cy="510355"/>
            <a:chOff x="4075113" y="1909763"/>
            <a:chExt cx="247650" cy="360363"/>
          </a:xfrm>
          <a:solidFill>
            <a:schemeClr val="accent5"/>
          </a:solidFill>
        </p:grpSpPr>
        <p:sp>
          <p:nvSpPr>
            <p:cNvPr id="7" name="Freeform 78">
              <a:extLst>
                <a:ext uri="{FF2B5EF4-FFF2-40B4-BE49-F238E27FC236}">
                  <a16:creationId xmlns:a16="http://schemas.microsoft.com/office/drawing/2014/main" id="{A2E78DA4-2062-41B7-B915-62E13B57A1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5113" y="1909763"/>
              <a:ext cx="247650" cy="3603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42"/>
                </a:cxn>
                <a:cxn ang="0">
                  <a:pos x="19" y="88"/>
                </a:cxn>
                <a:cxn ang="0">
                  <a:pos x="42" y="123"/>
                </a:cxn>
                <a:cxn ang="0">
                  <a:pos x="65" y="88"/>
                </a:cxn>
                <a:cxn ang="0">
                  <a:pos x="85" y="42"/>
                </a:cxn>
                <a:cxn ang="0">
                  <a:pos x="42" y="0"/>
                </a:cxn>
                <a:cxn ang="0">
                  <a:pos x="52" y="104"/>
                </a:cxn>
                <a:cxn ang="0">
                  <a:pos x="33" y="106"/>
                </a:cxn>
                <a:cxn ang="0">
                  <a:pos x="31" y="99"/>
                </a:cxn>
                <a:cxn ang="0">
                  <a:pos x="31" y="99"/>
                </a:cxn>
                <a:cxn ang="0">
                  <a:pos x="55" y="96"/>
                </a:cxn>
                <a:cxn ang="0">
                  <a:pos x="54" y="99"/>
                </a:cxn>
                <a:cxn ang="0">
                  <a:pos x="52" y="104"/>
                </a:cxn>
                <a:cxn ang="0">
                  <a:pos x="30" y="95"/>
                </a:cxn>
                <a:cxn ang="0">
                  <a:pos x="27" y="88"/>
                </a:cxn>
                <a:cxn ang="0">
                  <a:pos x="57" y="88"/>
                </a:cxn>
                <a:cxn ang="0">
                  <a:pos x="56" y="92"/>
                </a:cxn>
                <a:cxn ang="0">
                  <a:pos x="30" y="95"/>
                </a:cxn>
                <a:cxn ang="0">
                  <a:pos x="42" y="115"/>
                </a:cxn>
                <a:cxn ang="0">
                  <a:pos x="35" y="110"/>
                </a:cxn>
                <a:cxn ang="0">
                  <a:pos x="51" y="108"/>
                </a:cxn>
                <a:cxn ang="0">
                  <a:pos x="42" y="115"/>
                </a:cxn>
                <a:cxn ang="0">
                  <a:pos x="60" y="80"/>
                </a:cxn>
                <a:cxn ang="0">
                  <a:pos x="24" y="80"/>
                </a:cxn>
                <a:cxn ang="0">
                  <a:pos x="18" y="68"/>
                </a:cxn>
                <a:cxn ang="0">
                  <a:pos x="8" y="42"/>
                </a:cxn>
                <a:cxn ang="0">
                  <a:pos x="42" y="8"/>
                </a:cxn>
                <a:cxn ang="0">
                  <a:pos x="77" y="42"/>
                </a:cxn>
                <a:cxn ang="0">
                  <a:pos x="67" y="68"/>
                </a:cxn>
                <a:cxn ang="0">
                  <a:pos x="60" y="80"/>
                </a:cxn>
                <a:cxn ang="0">
                  <a:pos x="60" y="80"/>
                </a:cxn>
                <a:cxn ang="0">
                  <a:pos x="60" y="80"/>
                </a:cxn>
              </a:cxnLst>
              <a:rect l="0" t="0" r="r" b="b"/>
              <a:pathLst>
                <a:path w="85" h="123">
                  <a:moveTo>
                    <a:pt x="42" y="0"/>
                  </a:moveTo>
                  <a:cubicBezTo>
                    <a:pt x="19" y="0"/>
                    <a:pt x="0" y="19"/>
                    <a:pt x="0" y="42"/>
                  </a:cubicBezTo>
                  <a:cubicBezTo>
                    <a:pt x="0" y="57"/>
                    <a:pt x="14" y="74"/>
                    <a:pt x="19" y="88"/>
                  </a:cubicBezTo>
                  <a:cubicBezTo>
                    <a:pt x="27" y="110"/>
                    <a:pt x="26" y="123"/>
                    <a:pt x="42" y="123"/>
                  </a:cubicBezTo>
                  <a:cubicBezTo>
                    <a:pt x="59" y="123"/>
                    <a:pt x="58" y="110"/>
                    <a:pt x="65" y="88"/>
                  </a:cubicBezTo>
                  <a:cubicBezTo>
                    <a:pt x="70" y="74"/>
                    <a:pt x="85" y="57"/>
                    <a:pt x="85" y="42"/>
                  </a:cubicBezTo>
                  <a:cubicBezTo>
                    <a:pt x="85" y="19"/>
                    <a:pt x="66" y="0"/>
                    <a:pt x="42" y="0"/>
                  </a:cubicBezTo>
                  <a:close/>
                  <a:moveTo>
                    <a:pt x="52" y="104"/>
                  </a:moveTo>
                  <a:cubicBezTo>
                    <a:pt x="33" y="106"/>
                    <a:pt x="33" y="106"/>
                    <a:pt x="33" y="106"/>
                  </a:cubicBezTo>
                  <a:cubicBezTo>
                    <a:pt x="33" y="104"/>
                    <a:pt x="32" y="102"/>
                    <a:pt x="31" y="99"/>
                  </a:cubicBezTo>
                  <a:cubicBezTo>
                    <a:pt x="31" y="99"/>
                    <a:pt x="31" y="99"/>
                    <a:pt x="31" y="99"/>
                  </a:cubicBezTo>
                  <a:cubicBezTo>
                    <a:pt x="55" y="96"/>
                    <a:pt x="55" y="96"/>
                    <a:pt x="55" y="96"/>
                  </a:cubicBezTo>
                  <a:cubicBezTo>
                    <a:pt x="54" y="97"/>
                    <a:pt x="54" y="98"/>
                    <a:pt x="54" y="99"/>
                  </a:cubicBezTo>
                  <a:cubicBezTo>
                    <a:pt x="53" y="101"/>
                    <a:pt x="53" y="103"/>
                    <a:pt x="52" y="104"/>
                  </a:cubicBezTo>
                  <a:close/>
                  <a:moveTo>
                    <a:pt x="30" y="95"/>
                  </a:moveTo>
                  <a:cubicBezTo>
                    <a:pt x="29" y="93"/>
                    <a:pt x="28" y="91"/>
                    <a:pt x="27" y="88"/>
                  </a:cubicBezTo>
                  <a:cubicBezTo>
                    <a:pt x="57" y="88"/>
                    <a:pt x="57" y="88"/>
                    <a:pt x="57" y="88"/>
                  </a:cubicBezTo>
                  <a:cubicBezTo>
                    <a:pt x="57" y="89"/>
                    <a:pt x="56" y="91"/>
                    <a:pt x="56" y="92"/>
                  </a:cubicBezTo>
                  <a:lnTo>
                    <a:pt x="30" y="95"/>
                  </a:lnTo>
                  <a:close/>
                  <a:moveTo>
                    <a:pt x="42" y="115"/>
                  </a:moveTo>
                  <a:cubicBezTo>
                    <a:pt x="38" y="115"/>
                    <a:pt x="37" y="114"/>
                    <a:pt x="35" y="110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49" y="114"/>
                    <a:pt x="47" y="115"/>
                    <a:pt x="42" y="115"/>
                  </a:cubicBezTo>
                  <a:close/>
                  <a:moveTo>
                    <a:pt x="60" y="80"/>
                  </a:moveTo>
                  <a:cubicBezTo>
                    <a:pt x="24" y="80"/>
                    <a:pt x="24" y="80"/>
                    <a:pt x="24" y="80"/>
                  </a:cubicBezTo>
                  <a:cubicBezTo>
                    <a:pt x="23" y="76"/>
                    <a:pt x="20" y="72"/>
                    <a:pt x="18" y="68"/>
                  </a:cubicBezTo>
                  <a:cubicBezTo>
                    <a:pt x="13" y="59"/>
                    <a:pt x="8" y="50"/>
                    <a:pt x="8" y="42"/>
                  </a:cubicBezTo>
                  <a:cubicBezTo>
                    <a:pt x="8" y="23"/>
                    <a:pt x="23" y="8"/>
                    <a:pt x="42" y="8"/>
                  </a:cubicBezTo>
                  <a:cubicBezTo>
                    <a:pt x="61" y="8"/>
                    <a:pt x="77" y="23"/>
                    <a:pt x="77" y="42"/>
                  </a:cubicBezTo>
                  <a:cubicBezTo>
                    <a:pt x="77" y="50"/>
                    <a:pt x="72" y="59"/>
                    <a:pt x="67" y="68"/>
                  </a:cubicBezTo>
                  <a:cubicBezTo>
                    <a:pt x="64" y="72"/>
                    <a:pt x="62" y="76"/>
                    <a:pt x="60" y="80"/>
                  </a:cubicBezTo>
                  <a:close/>
                  <a:moveTo>
                    <a:pt x="60" y="80"/>
                  </a:moveTo>
                  <a:cubicBezTo>
                    <a:pt x="60" y="80"/>
                    <a:pt x="60" y="80"/>
                    <a:pt x="60" y="8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Freeform 79">
              <a:extLst>
                <a:ext uri="{FF2B5EF4-FFF2-40B4-BE49-F238E27FC236}">
                  <a16:creationId xmlns:a16="http://schemas.microsoft.com/office/drawing/2014/main" id="{5C2E3781-9149-464C-8DA7-20E6E155BD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0675" y="1965326"/>
              <a:ext cx="73025" cy="73025"/>
            </a:xfrm>
            <a:custGeom>
              <a:avLst/>
              <a:gdLst/>
              <a:ahLst/>
              <a:cxnLst>
                <a:cxn ang="0">
                  <a:pos x="23" y="0"/>
                </a:cxn>
                <a:cxn ang="0">
                  <a:pos x="0" y="23"/>
                </a:cxn>
                <a:cxn ang="0">
                  <a:pos x="2" y="25"/>
                </a:cxn>
                <a:cxn ang="0">
                  <a:pos x="4" y="23"/>
                </a:cxn>
                <a:cxn ang="0">
                  <a:pos x="23" y="4"/>
                </a:cxn>
                <a:cxn ang="0">
                  <a:pos x="25" y="2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23" y="0"/>
                </a:cxn>
              </a:cxnLst>
              <a:rect l="0" t="0" r="r" b="b"/>
              <a:pathLst>
                <a:path w="25" h="25">
                  <a:moveTo>
                    <a:pt x="23" y="0"/>
                  </a:moveTo>
                  <a:cubicBezTo>
                    <a:pt x="11" y="0"/>
                    <a:pt x="0" y="10"/>
                    <a:pt x="0" y="23"/>
                  </a:cubicBezTo>
                  <a:cubicBezTo>
                    <a:pt x="0" y="24"/>
                    <a:pt x="1" y="25"/>
                    <a:pt x="2" y="25"/>
                  </a:cubicBezTo>
                  <a:cubicBezTo>
                    <a:pt x="3" y="25"/>
                    <a:pt x="4" y="24"/>
                    <a:pt x="4" y="23"/>
                  </a:cubicBezTo>
                  <a:cubicBezTo>
                    <a:pt x="4" y="12"/>
                    <a:pt x="13" y="4"/>
                    <a:pt x="23" y="4"/>
                  </a:cubicBezTo>
                  <a:cubicBezTo>
                    <a:pt x="24" y="4"/>
                    <a:pt x="25" y="3"/>
                    <a:pt x="25" y="2"/>
                  </a:cubicBezTo>
                  <a:cubicBezTo>
                    <a:pt x="25" y="1"/>
                    <a:pt x="24" y="0"/>
                    <a:pt x="23" y="0"/>
                  </a:cubicBezTo>
                  <a:close/>
                  <a:moveTo>
                    <a:pt x="23" y="0"/>
                  </a:moveTo>
                  <a:cubicBezTo>
                    <a:pt x="23" y="0"/>
                    <a:pt x="23" y="0"/>
                    <a:pt x="23" y="0"/>
                  </a:cubicBezTo>
                </a:path>
              </a:pathLst>
            </a:custGeom>
            <a:grpFill/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103162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10" name="Espace réservé du contenu 1">
            <a:extLst>
              <a:ext uri="{FF2B5EF4-FFF2-40B4-BE49-F238E27FC236}">
                <a16:creationId xmlns:a16="http://schemas.microsoft.com/office/drawing/2014/main" id="{2FC633EA-2F0C-4FD2-8EF1-7BA22F48E2AC}"/>
              </a:ext>
            </a:extLst>
          </p:cNvPr>
          <p:cNvSpPr txBox="1">
            <a:spLocks/>
          </p:cNvSpPr>
          <p:nvPr/>
        </p:nvSpPr>
        <p:spPr bwMode="gray">
          <a:xfrm>
            <a:off x="336001" y="3002543"/>
            <a:ext cx="9064372" cy="32788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80990" marR="0" indent="-38099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tabLst/>
              <a:defRPr sz="2400" kern="1200" baseline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831830" marR="0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 sz="18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3124" marR="0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294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Symbol" panose="05050102010706020507" pitchFamily="18" charset="2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4888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Pct val="85000"/>
              <a:buFont typeface="Courier New" panose="02070309020205020404" pitchFamily="49" charset="0"/>
              <a:buChar char="o"/>
              <a:tabLst>
                <a:tab pos="1674242" algn="l"/>
              </a:tabLst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75360" marR="0" indent="-247644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Calibri" panose="020F0502020204030204" pitchFamily="34" charset="0"/>
              <a:buChar char="»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7pPr>
            <a:lvl8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8pPr>
            <a:lvl9pPr marL="1022374" indent="-249594" algn="l" defTabSz="1219170" rtl="0" eaLnBrk="1" latinLnBrk="0" hangingPunct="1">
              <a:spcBef>
                <a:spcPts val="667"/>
              </a:spcBef>
              <a:buClr>
                <a:schemeClr val="tx1"/>
              </a:buClr>
              <a:buFont typeface="Calibri" panose="020F0502020204030204" pitchFamily="34" charset="0"/>
              <a:buChar char="»"/>
              <a:defRPr sz="1867" kern="1200" baseline="0">
                <a:solidFill>
                  <a:srgbClr val="6D6D6D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578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faciliter le traitement : 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J’effectue les vérifications préalables dans l’OSS : </a:t>
            </a:r>
          </a:p>
          <a:p>
            <a:pPr marL="1073124" marR="0" lvl="2" indent="-239178" algn="l" defTabSz="1219170" rtl="0" eaLnBrk="1" fontAlgn="auto" latinLnBrk="0" hangingPunct="1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63666A"/>
              </a:buClr>
              <a:buSzTx/>
              <a:buFont typeface="Arial" panose="020B0604020202020204" pitchFamily="34" charset="0"/>
              <a:buChar char="•"/>
              <a:tabLst>
                <a:tab pos="952476" algn="l"/>
              </a:tabLst>
              <a:defRPr/>
            </a:pPr>
            <a:r>
              <a:rPr kumimoji="0" lang="fr-FR" sz="1533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Est-ce que le splitter de 1</a:t>
            </a:r>
            <a:r>
              <a:rPr kumimoji="0" lang="fr-FR" sz="1533" b="0" i="0" u="none" strike="noStrike" kern="1200" cap="none" spc="0" normalizeH="0" baseline="3000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</a:t>
            </a:r>
            <a:r>
              <a:rPr kumimoji="0" lang="fr-FR" sz="1533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niveau et l’ODF auxquels sont connectés le 2</a:t>
            </a:r>
            <a:r>
              <a:rPr kumimoji="0" lang="fr-FR" sz="1533" b="0" i="0" u="none" strike="noStrike" kern="1200" cap="none" spc="0" normalizeH="0" baseline="3000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nd</a:t>
            </a:r>
            <a:r>
              <a:rPr kumimoji="0" lang="fr-FR" sz="1533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splitter existe? Si non, j’ajoute un fichier IA Infrastructure à ma demande</a:t>
            </a: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Je regroupe mes demandes : ne pas hésiter à demander la mise en production de plusieurs seconds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splitters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63666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même de zones différentes </a:t>
            </a:r>
          </a:p>
          <a:p>
            <a:pPr marL="450840" marR="0" lvl="1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None/>
              <a:tabLst>
                <a:tab pos="831830" algn="l"/>
              </a:tabLst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endParaRPr kumimoji="0" lang="fr-FR" sz="1867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831830" marR="0" lvl="1" indent="-38099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D7404"/>
              </a:buClr>
              <a:buSzPct val="105000"/>
              <a:buFont typeface="Wingdings" panose="05000000000000000000" pitchFamily="2" charset="2"/>
              <a:buChar char="§"/>
              <a:tabLst>
                <a:tab pos="831830" algn="l"/>
              </a:tabLst>
              <a:defRPr/>
            </a:pPr>
            <a:endParaRPr kumimoji="0" lang="fr-FR" sz="1867" b="0" i="0" u="none" strike="noStrike" kern="1200" cap="none" spc="0" normalizeH="0" baseline="0" noProof="0" dirty="0">
              <a:ln>
                <a:noFill/>
              </a:ln>
              <a:solidFill>
                <a:srgbClr val="63666A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267"/>
              </a:spcAft>
              <a:buClr>
                <a:srgbClr val="005782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5782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FA6337-9254-4D8B-8DDD-AEF5F03E8200}"/>
              </a:ext>
            </a:extLst>
          </p:cNvPr>
          <p:cNvSpPr/>
          <p:nvPr/>
        </p:nvSpPr>
        <p:spPr>
          <a:xfrm>
            <a:off x="9633545" y="4626036"/>
            <a:ext cx="2221907" cy="1655330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Pour accélérer le traitement,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signifier une urgence commerciale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ne pas hésiter à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 mentionner 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dans le ticket !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srgbClr val="6D6D6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Vous pouvez également solliciter la DSI en direct muni du numéro de ticket.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2B3D0A-97D7-401F-BB04-A96A85EEAF3B}"/>
              </a:ext>
            </a:extLst>
          </p:cNvPr>
          <p:cNvSpPr/>
          <p:nvPr/>
        </p:nvSpPr>
        <p:spPr>
          <a:xfrm>
            <a:off x="9400373" y="4344024"/>
            <a:ext cx="2170631" cy="444381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POINT D’ATTENTION</a:t>
            </a:r>
          </a:p>
        </p:txBody>
      </p:sp>
    </p:spTree>
    <p:extLst>
      <p:ext uri="{BB962C8B-B14F-4D97-AF65-F5344CB8AC3E}">
        <p14:creationId xmlns:p14="http://schemas.microsoft.com/office/powerpoint/2010/main" val="12180594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GVA">
  <a:themeElements>
    <a:clrScheme name="GVA">
      <a:dk1>
        <a:srgbClr val="63666A"/>
      </a:dk1>
      <a:lt1>
        <a:sysClr val="window" lastClr="FFFFFF"/>
      </a:lt1>
      <a:dk2>
        <a:srgbClr val="ED7404"/>
      </a:dk2>
      <a:lt2>
        <a:srgbClr val="D4021D"/>
      </a:lt2>
      <a:accent1>
        <a:srgbClr val="80A3CA"/>
      </a:accent1>
      <a:accent2>
        <a:srgbClr val="005782"/>
      </a:accent2>
      <a:accent3>
        <a:srgbClr val="B5B5B5"/>
      </a:accent3>
      <a:accent4>
        <a:srgbClr val="484B47"/>
      </a:accent4>
      <a:accent5>
        <a:srgbClr val="80276C"/>
      </a:accent5>
      <a:accent6>
        <a:srgbClr val="323C18"/>
      </a:accent6>
      <a:hlink>
        <a:srgbClr val="80A3CA"/>
      </a:hlink>
      <a:folHlink>
        <a:srgbClr val="00578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3175">
          <a:solidFill>
            <a:schemeClr val="accent1"/>
          </a:solidFill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 algn="ctr">
          <a:defRPr sz="1200" b="1" dirty="0">
            <a:solidFill>
              <a:srgbClr val="6D6D6D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Template CanalBox" id="{18EF81D5-AB5A-4EB9-9447-665E8979DD17}" vid="{EFEEC22A-CA18-449D-B7AA-0B29F31189E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DF1FA9B8EB82418B12BA4E71E5BF84" ma:contentTypeVersion="6" ma:contentTypeDescription="Crée un document." ma:contentTypeScope="" ma:versionID="3d72d3f0a1d079442af3f2783bf61a7c">
  <xsd:schema xmlns:xsd="http://www.w3.org/2001/XMLSchema" xmlns:xs="http://www.w3.org/2001/XMLSchema" xmlns:p="http://schemas.microsoft.com/office/2006/metadata/properties" xmlns:ns2="5fc4bdf1-4b1e-4f60-bd90-df6e66652117" targetNamespace="http://schemas.microsoft.com/office/2006/metadata/properties" ma:root="true" ma:fieldsID="6c79033ad03f1340f0293218024c32ba" ns2:_="">
    <xsd:import namespace="5fc4bdf1-4b1e-4f60-bd90-df6e666521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c4bdf1-4b1e-4f60-bd90-df6e666521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A6B168-D120-4734-9BBB-F7BFC382F213}">
  <ds:schemaRefs>
    <ds:schemaRef ds:uri="http://purl.org/dc/elements/1.1/"/>
    <ds:schemaRef ds:uri="5fc4bdf1-4b1e-4f60-bd90-df6e66652117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A1895E73-A846-4391-BAD9-976E2F6968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c4bdf1-4b1e-4f60-bd90-df6e666521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D0D8384-5D10-4A37-9409-ADA40B326F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1519</Words>
  <Application>Microsoft Office PowerPoint</Application>
  <PresentationFormat>Widescreen</PresentationFormat>
  <Paragraphs>181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Abadi</vt:lpstr>
      <vt:lpstr>Arial</vt:lpstr>
      <vt:lpstr>Arial Narrow</vt:lpstr>
      <vt:lpstr>Calibri</vt:lpstr>
      <vt:lpstr>Canal+</vt:lpstr>
      <vt:lpstr>Courier New</vt:lpstr>
      <vt:lpstr>Symbol</vt:lpstr>
      <vt:lpstr>Wingdings</vt:lpstr>
      <vt:lpstr>GVA</vt:lpstr>
      <vt:lpstr>think-cell Slide</vt:lpstr>
      <vt:lpstr>Open a ticket to GVA Central support</vt:lpstr>
      <vt:lpstr>All lifts to the Level 3 (GVA Central) pass through GVAdmin</vt:lpstr>
      <vt:lpstr>8 ‘easy’ steps </vt:lpstr>
      <vt:lpstr>GVAdmin : Accès </vt:lpstr>
      <vt:lpstr>GVAdmin : une fois connecté…</vt:lpstr>
      <vt:lpstr>GVAdmin : le formulaire de création de ticket</vt:lpstr>
      <vt:lpstr>GVAdmin : choix application</vt:lpstr>
      <vt:lpstr>GVAdmin : choix tracker</vt:lpstr>
      <vt:lpstr>FAQ </vt:lpstr>
      <vt:lpstr>FAQ </vt:lpstr>
      <vt:lpstr>Normalisation des demandes</vt:lpstr>
      <vt:lpstr>Praxedo – Suppression ou annulation de ticket </vt:lpstr>
      <vt:lpstr>Praxedo – Création de compte</vt:lpstr>
      <vt:lpstr>OSP – Création d’OTB/OTBB</vt:lpstr>
      <vt:lpstr>OSP – Activation du 2nd Splitter d’un OTB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a ticket to GVA Central support</dc:title>
  <dc:creator>MELLOUK Djellali</dc:creator>
  <cp:lastModifiedBy>Cherifane AWI ALHER</cp:lastModifiedBy>
  <cp:revision>4</cp:revision>
  <dcterms:created xsi:type="dcterms:W3CDTF">2020-03-23T13:58:48Z</dcterms:created>
  <dcterms:modified xsi:type="dcterms:W3CDTF">2021-05-19T16:11:16Z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0x010100AADF1FA9B8EB82418B12BA4E71E5BF84</vt:lpwstr>
  </property>
</Properties>
</file>