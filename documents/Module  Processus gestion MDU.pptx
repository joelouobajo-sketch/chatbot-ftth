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3"/>
  </p:notesMasterIdLst>
  <p:sldIdLst>
    <p:sldId id="268" r:id="rId5"/>
    <p:sldId id="285" r:id="rId6"/>
    <p:sldId id="297" r:id="rId7"/>
    <p:sldId id="272" r:id="rId8"/>
    <p:sldId id="273" r:id="rId9"/>
    <p:sldId id="274" r:id="rId10"/>
    <p:sldId id="336" r:id="rId11"/>
    <p:sldId id="260" r:id="rId12"/>
    <p:sldId id="261" r:id="rId13"/>
    <p:sldId id="263" r:id="rId14"/>
    <p:sldId id="335" r:id="rId15"/>
    <p:sldId id="267" r:id="rId16"/>
    <p:sldId id="264" r:id="rId17"/>
    <p:sldId id="266" r:id="rId18"/>
    <p:sldId id="294" r:id="rId19"/>
    <p:sldId id="262" r:id="rId20"/>
    <p:sldId id="301" r:id="rId21"/>
    <p:sldId id="298" r:id="rId22"/>
    <p:sldId id="299" r:id="rId23"/>
    <p:sldId id="300" r:id="rId24"/>
    <p:sldId id="303" r:id="rId25"/>
    <p:sldId id="338" r:id="rId26"/>
    <p:sldId id="302" r:id="rId27"/>
    <p:sldId id="337" r:id="rId28"/>
    <p:sldId id="304" r:id="rId29"/>
    <p:sldId id="305" r:id="rId30"/>
    <p:sldId id="306" r:id="rId31"/>
    <p:sldId id="307" r:id="rId32"/>
    <p:sldId id="308" r:id="rId33"/>
    <p:sldId id="310" r:id="rId34"/>
    <p:sldId id="311" r:id="rId35"/>
    <p:sldId id="315" r:id="rId36"/>
    <p:sldId id="317" r:id="rId37"/>
    <p:sldId id="319" r:id="rId38"/>
    <p:sldId id="324" r:id="rId39"/>
    <p:sldId id="325" r:id="rId40"/>
    <p:sldId id="330" r:id="rId41"/>
    <p:sldId id="332" r:id="rId42"/>
  </p:sldIdLst>
  <p:sldSz cx="12192000" cy="6858000"/>
  <p:notesSz cx="6858000" cy="9144000"/>
  <p:defaultTextStyle>
    <a:defPPr>
      <a:defRPr lang="en-US"/>
    </a:defPPr>
    <a:lvl1pPr marL="0" algn="l" defTabSz="914357" rtl="0" eaLnBrk="1" latinLnBrk="0" hangingPunct="1">
      <a:defRPr sz="1800" kern="1200">
        <a:solidFill>
          <a:schemeClr val="tx1"/>
        </a:solidFill>
        <a:latin typeface="+mn-lt"/>
        <a:ea typeface="+mn-ea"/>
        <a:cs typeface="+mn-cs"/>
      </a:defRPr>
    </a:lvl1pPr>
    <a:lvl2pPr marL="457178" algn="l" defTabSz="914357" rtl="0" eaLnBrk="1" latinLnBrk="0" hangingPunct="1">
      <a:defRPr sz="1800" kern="1200">
        <a:solidFill>
          <a:schemeClr val="tx1"/>
        </a:solidFill>
        <a:latin typeface="+mn-lt"/>
        <a:ea typeface="+mn-ea"/>
        <a:cs typeface="+mn-cs"/>
      </a:defRPr>
    </a:lvl2pPr>
    <a:lvl3pPr marL="914357" algn="l" defTabSz="914357" rtl="0" eaLnBrk="1" latinLnBrk="0" hangingPunct="1">
      <a:defRPr sz="1800" kern="1200">
        <a:solidFill>
          <a:schemeClr val="tx1"/>
        </a:solidFill>
        <a:latin typeface="+mn-lt"/>
        <a:ea typeface="+mn-ea"/>
        <a:cs typeface="+mn-cs"/>
      </a:defRPr>
    </a:lvl3pPr>
    <a:lvl4pPr marL="1371536" algn="l" defTabSz="914357" rtl="0" eaLnBrk="1" latinLnBrk="0" hangingPunct="1">
      <a:defRPr sz="1800" kern="1200">
        <a:solidFill>
          <a:schemeClr val="tx1"/>
        </a:solidFill>
        <a:latin typeface="+mn-lt"/>
        <a:ea typeface="+mn-ea"/>
        <a:cs typeface="+mn-cs"/>
      </a:defRPr>
    </a:lvl4pPr>
    <a:lvl5pPr marL="1828714" algn="l" defTabSz="914357" rtl="0" eaLnBrk="1" latinLnBrk="0" hangingPunct="1">
      <a:defRPr sz="1800" kern="1200">
        <a:solidFill>
          <a:schemeClr val="tx1"/>
        </a:solidFill>
        <a:latin typeface="+mn-lt"/>
        <a:ea typeface="+mn-ea"/>
        <a:cs typeface="+mn-cs"/>
      </a:defRPr>
    </a:lvl5pPr>
    <a:lvl6pPr marL="2285892" algn="l" defTabSz="914357" rtl="0" eaLnBrk="1" latinLnBrk="0" hangingPunct="1">
      <a:defRPr sz="1800" kern="1200">
        <a:solidFill>
          <a:schemeClr val="tx1"/>
        </a:solidFill>
        <a:latin typeface="+mn-lt"/>
        <a:ea typeface="+mn-ea"/>
        <a:cs typeface="+mn-cs"/>
      </a:defRPr>
    </a:lvl6pPr>
    <a:lvl7pPr marL="2743070" algn="l" defTabSz="914357" rtl="0" eaLnBrk="1" latinLnBrk="0" hangingPunct="1">
      <a:defRPr sz="1800" kern="1200">
        <a:solidFill>
          <a:schemeClr val="tx1"/>
        </a:solidFill>
        <a:latin typeface="+mn-lt"/>
        <a:ea typeface="+mn-ea"/>
        <a:cs typeface="+mn-cs"/>
      </a:defRPr>
    </a:lvl7pPr>
    <a:lvl8pPr marL="3200249" algn="l" defTabSz="914357" rtl="0" eaLnBrk="1" latinLnBrk="0" hangingPunct="1">
      <a:defRPr sz="1800" kern="1200">
        <a:solidFill>
          <a:schemeClr val="tx1"/>
        </a:solidFill>
        <a:latin typeface="+mn-lt"/>
        <a:ea typeface="+mn-ea"/>
        <a:cs typeface="+mn-cs"/>
      </a:defRPr>
    </a:lvl8pPr>
    <a:lvl9pPr marL="3657428" algn="l" defTabSz="91435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393C"/>
    <a:srgbClr val="ADC8E8"/>
    <a:srgbClr val="6C9CD6"/>
    <a:srgbClr val="BB7FAC"/>
    <a:srgbClr val="005782"/>
    <a:srgbClr val="C49ABB"/>
    <a:srgbClr val="B5B5B5"/>
    <a:srgbClr val="80A3CA"/>
    <a:srgbClr val="97BC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93979" autoAdjust="0"/>
  </p:normalViewPr>
  <p:slideViewPr>
    <p:cSldViewPr snapToGrid="0">
      <p:cViewPr varScale="1">
        <p:scale>
          <a:sx n="107" d="100"/>
          <a:sy n="107" d="100"/>
        </p:scale>
        <p:origin x="72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173B44-FD18-4456-9769-24CBC422124D}" type="datetimeFigureOut">
              <a:rPr lang="en-GB" smtClean="0"/>
              <a:t>06/01/2021</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8F89EB-EF95-4FEA-A5B8-7E221D8FF265}" type="slidenum">
              <a:rPr lang="en-GB" smtClean="0"/>
              <a:t>‹N°›</a:t>
            </a:fld>
            <a:endParaRPr lang="en-GB"/>
          </a:p>
        </p:txBody>
      </p:sp>
    </p:spTree>
    <p:extLst>
      <p:ext uri="{BB962C8B-B14F-4D97-AF65-F5344CB8AC3E}">
        <p14:creationId xmlns:p14="http://schemas.microsoft.com/office/powerpoint/2010/main" val="4225835929"/>
      </p:ext>
    </p:extLst>
  </p:cSld>
  <p:clrMap bg1="lt1" tx1="dk1" bg2="lt2" tx2="dk2" accent1="accent1" accent2="accent2" accent3="accent3" accent4="accent4" accent5="accent5" accent6="accent6" hlink="hlink" folHlink="folHlink"/>
  <p:notesStyle>
    <a:lvl1pPr marL="0" algn="l" defTabSz="914357" rtl="0" eaLnBrk="1" latinLnBrk="0" hangingPunct="1">
      <a:defRPr sz="1200" kern="1200">
        <a:solidFill>
          <a:schemeClr val="tx1"/>
        </a:solidFill>
        <a:latin typeface="+mn-lt"/>
        <a:ea typeface="+mn-ea"/>
        <a:cs typeface="+mn-cs"/>
      </a:defRPr>
    </a:lvl1pPr>
    <a:lvl2pPr marL="457178" algn="l" defTabSz="914357" rtl="0" eaLnBrk="1" latinLnBrk="0" hangingPunct="1">
      <a:defRPr sz="1200" kern="1200">
        <a:solidFill>
          <a:schemeClr val="tx1"/>
        </a:solidFill>
        <a:latin typeface="+mn-lt"/>
        <a:ea typeface="+mn-ea"/>
        <a:cs typeface="+mn-cs"/>
      </a:defRPr>
    </a:lvl2pPr>
    <a:lvl3pPr marL="914357" algn="l" defTabSz="914357" rtl="0" eaLnBrk="1" latinLnBrk="0" hangingPunct="1">
      <a:defRPr sz="1200" kern="1200">
        <a:solidFill>
          <a:schemeClr val="tx1"/>
        </a:solidFill>
        <a:latin typeface="+mn-lt"/>
        <a:ea typeface="+mn-ea"/>
        <a:cs typeface="+mn-cs"/>
      </a:defRPr>
    </a:lvl3pPr>
    <a:lvl4pPr marL="1371536" algn="l" defTabSz="914357" rtl="0" eaLnBrk="1" latinLnBrk="0" hangingPunct="1">
      <a:defRPr sz="1200" kern="1200">
        <a:solidFill>
          <a:schemeClr val="tx1"/>
        </a:solidFill>
        <a:latin typeface="+mn-lt"/>
        <a:ea typeface="+mn-ea"/>
        <a:cs typeface="+mn-cs"/>
      </a:defRPr>
    </a:lvl4pPr>
    <a:lvl5pPr marL="1828714" algn="l" defTabSz="914357" rtl="0" eaLnBrk="1" latinLnBrk="0" hangingPunct="1">
      <a:defRPr sz="1200" kern="1200">
        <a:solidFill>
          <a:schemeClr val="tx1"/>
        </a:solidFill>
        <a:latin typeface="+mn-lt"/>
        <a:ea typeface="+mn-ea"/>
        <a:cs typeface="+mn-cs"/>
      </a:defRPr>
    </a:lvl5pPr>
    <a:lvl6pPr marL="2285892" algn="l" defTabSz="914357" rtl="0" eaLnBrk="1" latinLnBrk="0" hangingPunct="1">
      <a:defRPr sz="1200" kern="1200">
        <a:solidFill>
          <a:schemeClr val="tx1"/>
        </a:solidFill>
        <a:latin typeface="+mn-lt"/>
        <a:ea typeface="+mn-ea"/>
        <a:cs typeface="+mn-cs"/>
      </a:defRPr>
    </a:lvl6pPr>
    <a:lvl7pPr marL="2743070" algn="l" defTabSz="914357" rtl="0" eaLnBrk="1" latinLnBrk="0" hangingPunct="1">
      <a:defRPr sz="1200" kern="1200">
        <a:solidFill>
          <a:schemeClr val="tx1"/>
        </a:solidFill>
        <a:latin typeface="+mn-lt"/>
        <a:ea typeface="+mn-ea"/>
        <a:cs typeface="+mn-cs"/>
      </a:defRPr>
    </a:lvl7pPr>
    <a:lvl8pPr marL="3200249" algn="l" defTabSz="914357" rtl="0" eaLnBrk="1" latinLnBrk="0" hangingPunct="1">
      <a:defRPr sz="1200" kern="1200">
        <a:solidFill>
          <a:schemeClr val="tx1"/>
        </a:solidFill>
        <a:latin typeface="+mn-lt"/>
        <a:ea typeface="+mn-ea"/>
        <a:cs typeface="+mn-cs"/>
      </a:defRPr>
    </a:lvl8pPr>
    <a:lvl9pPr marL="3657428" algn="l" defTabSz="91435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X n’est pas une valeur arrêtée</a:t>
            </a:r>
            <a:r>
              <a:rPr lang="fr-FR" baseline="0" dirty="0"/>
              <a:t> à date : 7, 8 ou 10 selon les supports de travail </a:t>
            </a:r>
            <a:endParaRPr lang="fr-FR" dirty="0"/>
          </a:p>
        </p:txBody>
      </p:sp>
      <p:sp>
        <p:nvSpPr>
          <p:cNvPr id="4" name="Espace réservé du numéro de diapositive 3"/>
          <p:cNvSpPr>
            <a:spLocks noGrp="1"/>
          </p:cNvSpPr>
          <p:nvPr>
            <p:ph type="sldNum" sz="quarter" idx="10"/>
          </p:nvPr>
        </p:nvSpPr>
        <p:spPr/>
        <p:txBody>
          <a:bodyPr/>
          <a:lstStyle/>
          <a:p>
            <a:fld id="{918F89EB-EF95-4FEA-A5B8-7E221D8FF265}" type="slidenum">
              <a:rPr lang="en-GB" smtClean="0"/>
              <a:t>4</a:t>
            </a:fld>
            <a:endParaRPr lang="en-GB"/>
          </a:p>
        </p:txBody>
      </p:sp>
    </p:spTree>
    <p:extLst>
      <p:ext uri="{BB962C8B-B14F-4D97-AF65-F5344CB8AC3E}">
        <p14:creationId xmlns:p14="http://schemas.microsoft.com/office/powerpoint/2010/main" val="40829716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918F89EB-EF95-4FEA-A5B8-7E221D8FF265}" type="slidenum">
              <a:rPr lang="en-GB" smtClean="0"/>
              <a:t>5</a:t>
            </a:fld>
            <a:endParaRPr lang="en-GB"/>
          </a:p>
        </p:txBody>
      </p:sp>
    </p:spTree>
    <p:extLst>
      <p:ext uri="{BB962C8B-B14F-4D97-AF65-F5344CB8AC3E}">
        <p14:creationId xmlns:p14="http://schemas.microsoft.com/office/powerpoint/2010/main" val="1503233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X n’est pas une valeur arrêtée</a:t>
            </a:r>
            <a:r>
              <a:rPr lang="fr-FR" baseline="0" dirty="0"/>
              <a:t> à date : 7, 8 ou 10 selon les supports de travail </a:t>
            </a:r>
            <a:endParaRPr lang="fr-FR" dirty="0"/>
          </a:p>
        </p:txBody>
      </p:sp>
      <p:sp>
        <p:nvSpPr>
          <p:cNvPr id="4" name="Espace réservé du numéro de diapositive 3"/>
          <p:cNvSpPr>
            <a:spLocks noGrp="1"/>
          </p:cNvSpPr>
          <p:nvPr>
            <p:ph type="sldNum" sz="quarter" idx="10"/>
          </p:nvPr>
        </p:nvSpPr>
        <p:spPr/>
        <p:txBody>
          <a:bodyPr/>
          <a:lstStyle/>
          <a:p>
            <a:fld id="{918F89EB-EF95-4FEA-A5B8-7E221D8FF265}" type="slidenum">
              <a:rPr lang="en-GB" smtClean="0"/>
              <a:t>8</a:t>
            </a:fld>
            <a:endParaRPr lang="en-GB"/>
          </a:p>
        </p:txBody>
      </p:sp>
    </p:spTree>
    <p:extLst>
      <p:ext uri="{BB962C8B-B14F-4D97-AF65-F5344CB8AC3E}">
        <p14:creationId xmlns:p14="http://schemas.microsoft.com/office/powerpoint/2010/main" val="92331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918F89EB-EF95-4FEA-A5B8-7E221D8FF265}" type="slidenum">
              <a:rPr lang="en-GB" smtClean="0"/>
              <a:t>9</a:t>
            </a:fld>
            <a:endParaRPr lang="en-GB"/>
          </a:p>
        </p:txBody>
      </p:sp>
    </p:spTree>
    <p:extLst>
      <p:ext uri="{BB962C8B-B14F-4D97-AF65-F5344CB8AC3E}">
        <p14:creationId xmlns:p14="http://schemas.microsoft.com/office/powerpoint/2010/main" val="30594350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918F89EB-EF95-4FEA-A5B8-7E221D8FF265}" type="slidenum">
              <a:rPr lang="en-GB" smtClean="0"/>
              <a:t>13</a:t>
            </a:fld>
            <a:endParaRPr lang="en-GB"/>
          </a:p>
        </p:txBody>
      </p:sp>
    </p:spTree>
    <p:extLst>
      <p:ext uri="{BB962C8B-B14F-4D97-AF65-F5344CB8AC3E}">
        <p14:creationId xmlns:p14="http://schemas.microsoft.com/office/powerpoint/2010/main" val="32403508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1239559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Manque </a:t>
            </a:r>
            <a:r>
              <a:rPr lang="fr-FR" dirty="0" err="1"/>
              <a:t>screenshot</a:t>
            </a:r>
            <a:r>
              <a:rPr lang="fr-FR" dirty="0"/>
              <a:t> section verte</a:t>
            </a:r>
          </a:p>
        </p:txBody>
      </p:sp>
      <p:sp>
        <p:nvSpPr>
          <p:cNvPr id="4" name="Espace réservé du numéro de diapositive 3"/>
          <p:cNvSpPr>
            <a:spLocks noGrp="1"/>
          </p:cNvSpPr>
          <p:nvPr>
            <p:ph type="sldNum" sz="quarter" idx="5"/>
          </p:nvPr>
        </p:nvSpPr>
        <p:spPr/>
        <p:txBody>
          <a:bodyPr/>
          <a:lstStyle/>
          <a:p>
            <a:fld id="{918F89EB-EF95-4FEA-A5B8-7E221D8FF265}" type="slidenum">
              <a:rPr lang="en-GB" smtClean="0"/>
              <a:t>34</a:t>
            </a:fld>
            <a:endParaRPr lang="en-GB"/>
          </a:p>
        </p:txBody>
      </p:sp>
    </p:spTree>
    <p:extLst>
      <p:ext uri="{BB962C8B-B14F-4D97-AF65-F5344CB8AC3E}">
        <p14:creationId xmlns:p14="http://schemas.microsoft.com/office/powerpoint/2010/main" val="39234801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3.jpe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 Gray">
    <p:spTree>
      <p:nvGrpSpPr>
        <p:cNvPr id="1" name=""/>
        <p:cNvGrpSpPr/>
        <p:nvPr/>
      </p:nvGrpSpPr>
      <p:grpSpPr>
        <a:xfrm>
          <a:off x="0" y="0"/>
          <a:ext cx="0" cy="0"/>
          <a:chOff x="0" y="0"/>
          <a:chExt cx="0" cy="0"/>
        </a:xfrm>
      </p:grpSpPr>
      <p:graphicFrame>
        <p:nvGraphicFramePr>
          <p:cNvPr id="3" name="Object 2" hidden="1"/>
          <p:cNvGraphicFramePr>
            <a:graphicFrameLocks/>
          </p:cNvGraphicFramePr>
          <p:nvPr>
            <p:custDataLst>
              <p:tags r:id="rId1"/>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2119" y="1589"/>
                        <a:ext cx="2116" cy="1587"/>
                      </a:xfrm>
                      <a:prstGeom prst="rect">
                        <a:avLst/>
                      </a:prstGeom>
                    </p:spPr>
                  </p:pic>
                </p:oleObj>
              </mc:Fallback>
            </mc:AlternateContent>
          </a:graphicData>
        </a:graphic>
      </p:graphicFrame>
      <p:sp>
        <p:nvSpPr>
          <p:cNvPr id="15" name="Freeform 5"/>
          <p:cNvSpPr>
            <a:spLocks/>
          </p:cNvSpPr>
          <p:nvPr/>
        </p:nvSpPr>
        <p:spPr bwMode="gray">
          <a:xfrm>
            <a:off x="10058403" y="411344"/>
            <a:ext cx="1578713" cy="1155367"/>
          </a:xfrm>
          <a:custGeom>
            <a:avLst/>
            <a:gdLst>
              <a:gd name="T0" fmla="*/ 0 w 2970"/>
              <a:gd name="T1" fmla="*/ 1517 h 2630"/>
              <a:gd name="T2" fmla="*/ 6 w 2970"/>
              <a:gd name="T3" fmla="*/ 1378 h 2630"/>
              <a:gd name="T4" fmla="*/ 19 w 2970"/>
              <a:gd name="T5" fmla="*/ 1234 h 2630"/>
              <a:gd name="T6" fmla="*/ 40 w 2970"/>
              <a:gd name="T7" fmla="*/ 1099 h 2630"/>
              <a:gd name="T8" fmla="*/ 71 w 2970"/>
              <a:gd name="T9" fmla="*/ 963 h 2630"/>
              <a:gd name="T10" fmla="*/ 115 w 2970"/>
              <a:gd name="T11" fmla="*/ 830 h 2630"/>
              <a:gd name="T12" fmla="*/ 167 w 2970"/>
              <a:gd name="T13" fmla="*/ 705 h 2630"/>
              <a:gd name="T14" fmla="*/ 233 w 2970"/>
              <a:gd name="T15" fmla="*/ 587 h 2630"/>
              <a:gd name="T16" fmla="*/ 310 w 2970"/>
              <a:gd name="T17" fmla="*/ 476 h 2630"/>
              <a:gd name="T18" fmla="*/ 403 w 2970"/>
              <a:gd name="T19" fmla="*/ 376 h 2630"/>
              <a:gd name="T20" fmla="*/ 512 w 2970"/>
              <a:gd name="T21" fmla="*/ 283 h 2630"/>
              <a:gd name="T22" fmla="*/ 636 w 2970"/>
              <a:gd name="T23" fmla="*/ 200 h 2630"/>
              <a:gd name="T24" fmla="*/ 775 w 2970"/>
              <a:gd name="T25" fmla="*/ 132 h 2630"/>
              <a:gd name="T26" fmla="*/ 933 w 2970"/>
              <a:gd name="T27" fmla="*/ 75 h 2630"/>
              <a:gd name="T28" fmla="*/ 1110 w 2970"/>
              <a:gd name="T29" fmla="*/ 36 h 2630"/>
              <a:gd name="T30" fmla="*/ 1305 w 2970"/>
              <a:gd name="T31" fmla="*/ 11 h 2630"/>
              <a:gd name="T32" fmla="*/ 1522 w 2970"/>
              <a:gd name="T33" fmla="*/ 0 h 2630"/>
              <a:gd name="T34" fmla="*/ 1615 w 2970"/>
              <a:gd name="T35" fmla="*/ 4 h 2630"/>
              <a:gd name="T36" fmla="*/ 1798 w 2970"/>
              <a:gd name="T37" fmla="*/ 18 h 2630"/>
              <a:gd name="T38" fmla="*/ 1972 w 2970"/>
              <a:gd name="T39" fmla="*/ 47 h 2630"/>
              <a:gd name="T40" fmla="*/ 2136 w 2970"/>
              <a:gd name="T41" fmla="*/ 89 h 2630"/>
              <a:gd name="T42" fmla="*/ 2288 w 2970"/>
              <a:gd name="T43" fmla="*/ 154 h 2630"/>
              <a:gd name="T44" fmla="*/ 2427 w 2970"/>
              <a:gd name="T45" fmla="*/ 233 h 2630"/>
              <a:gd name="T46" fmla="*/ 2558 w 2970"/>
              <a:gd name="T47" fmla="*/ 329 h 2630"/>
              <a:gd name="T48" fmla="*/ 2675 w 2970"/>
              <a:gd name="T49" fmla="*/ 447 h 2630"/>
              <a:gd name="T50" fmla="*/ 2728 w 2970"/>
              <a:gd name="T51" fmla="*/ 512 h 2630"/>
              <a:gd name="T52" fmla="*/ 2830 w 2970"/>
              <a:gd name="T53" fmla="*/ 669 h 2630"/>
              <a:gd name="T54" fmla="*/ 2905 w 2970"/>
              <a:gd name="T55" fmla="*/ 834 h 2630"/>
              <a:gd name="T56" fmla="*/ 2951 w 2970"/>
              <a:gd name="T57" fmla="*/ 1005 h 2630"/>
              <a:gd name="T58" fmla="*/ 2970 w 2970"/>
              <a:gd name="T59" fmla="*/ 1181 h 2630"/>
              <a:gd name="T60" fmla="*/ 2970 w 2970"/>
              <a:gd name="T61" fmla="*/ 1256 h 2630"/>
              <a:gd name="T62" fmla="*/ 2961 w 2970"/>
              <a:gd name="T63" fmla="*/ 1403 h 2630"/>
              <a:gd name="T64" fmla="*/ 2936 w 2970"/>
              <a:gd name="T65" fmla="*/ 1542 h 2630"/>
              <a:gd name="T66" fmla="*/ 2902 w 2970"/>
              <a:gd name="T67" fmla="*/ 1675 h 2630"/>
              <a:gd name="T68" fmla="*/ 2855 w 2970"/>
              <a:gd name="T69" fmla="*/ 1796 h 2630"/>
              <a:gd name="T70" fmla="*/ 2796 w 2970"/>
              <a:gd name="T71" fmla="*/ 1914 h 2630"/>
              <a:gd name="T72" fmla="*/ 2728 w 2970"/>
              <a:gd name="T73" fmla="*/ 2022 h 2630"/>
              <a:gd name="T74" fmla="*/ 2648 w 2970"/>
              <a:gd name="T75" fmla="*/ 2122 h 2630"/>
              <a:gd name="T76" fmla="*/ 2604 w 2970"/>
              <a:gd name="T77" fmla="*/ 2168 h 2630"/>
              <a:gd name="T78" fmla="*/ 2486 w 2970"/>
              <a:gd name="T79" fmla="*/ 2272 h 2630"/>
              <a:gd name="T80" fmla="*/ 2356 w 2970"/>
              <a:gd name="T81" fmla="*/ 2365 h 2630"/>
              <a:gd name="T82" fmla="*/ 2214 w 2970"/>
              <a:gd name="T83" fmla="*/ 2448 h 2630"/>
              <a:gd name="T84" fmla="*/ 2059 w 2970"/>
              <a:gd name="T85" fmla="*/ 2512 h 2630"/>
              <a:gd name="T86" fmla="*/ 1894 w 2970"/>
              <a:gd name="T87" fmla="*/ 2566 h 2630"/>
              <a:gd name="T88" fmla="*/ 1724 w 2970"/>
              <a:gd name="T89" fmla="*/ 2601 h 2630"/>
              <a:gd name="T90" fmla="*/ 1547 w 2970"/>
              <a:gd name="T91" fmla="*/ 2623 h 2630"/>
              <a:gd name="T92" fmla="*/ 1361 w 2970"/>
              <a:gd name="T93" fmla="*/ 2630 h 2630"/>
              <a:gd name="T94" fmla="*/ 0 w 2970"/>
              <a:gd name="T95" fmla="*/ 2630 h 2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970" h="2630">
                <a:moveTo>
                  <a:pt x="0" y="1517"/>
                </a:moveTo>
                <a:lnTo>
                  <a:pt x="0" y="1517"/>
                </a:lnTo>
                <a:lnTo>
                  <a:pt x="3" y="1446"/>
                </a:lnTo>
                <a:lnTo>
                  <a:pt x="6" y="1378"/>
                </a:lnTo>
                <a:lnTo>
                  <a:pt x="12" y="1306"/>
                </a:lnTo>
                <a:lnTo>
                  <a:pt x="19" y="1234"/>
                </a:lnTo>
                <a:lnTo>
                  <a:pt x="28" y="1167"/>
                </a:lnTo>
                <a:lnTo>
                  <a:pt x="40" y="1099"/>
                </a:lnTo>
                <a:lnTo>
                  <a:pt x="56" y="1031"/>
                </a:lnTo>
                <a:lnTo>
                  <a:pt x="71" y="963"/>
                </a:lnTo>
                <a:lnTo>
                  <a:pt x="93" y="895"/>
                </a:lnTo>
                <a:lnTo>
                  <a:pt x="115" y="830"/>
                </a:lnTo>
                <a:lnTo>
                  <a:pt x="140" y="769"/>
                </a:lnTo>
                <a:lnTo>
                  <a:pt x="167" y="705"/>
                </a:lnTo>
                <a:lnTo>
                  <a:pt x="198" y="644"/>
                </a:lnTo>
                <a:lnTo>
                  <a:pt x="233" y="587"/>
                </a:lnTo>
                <a:lnTo>
                  <a:pt x="270" y="530"/>
                </a:lnTo>
                <a:lnTo>
                  <a:pt x="310" y="476"/>
                </a:lnTo>
                <a:lnTo>
                  <a:pt x="357" y="426"/>
                </a:lnTo>
                <a:lnTo>
                  <a:pt x="403" y="376"/>
                </a:lnTo>
                <a:lnTo>
                  <a:pt x="456" y="326"/>
                </a:lnTo>
                <a:lnTo>
                  <a:pt x="512" y="283"/>
                </a:lnTo>
                <a:lnTo>
                  <a:pt x="570" y="240"/>
                </a:lnTo>
                <a:lnTo>
                  <a:pt x="636" y="200"/>
                </a:lnTo>
                <a:lnTo>
                  <a:pt x="704" y="165"/>
                </a:lnTo>
                <a:lnTo>
                  <a:pt x="775" y="132"/>
                </a:lnTo>
                <a:lnTo>
                  <a:pt x="853" y="104"/>
                </a:lnTo>
                <a:lnTo>
                  <a:pt x="933" y="75"/>
                </a:lnTo>
                <a:lnTo>
                  <a:pt x="1020" y="54"/>
                </a:lnTo>
                <a:lnTo>
                  <a:pt x="1110" y="36"/>
                </a:lnTo>
                <a:lnTo>
                  <a:pt x="1206" y="21"/>
                </a:lnTo>
                <a:lnTo>
                  <a:pt x="1305" y="11"/>
                </a:lnTo>
                <a:lnTo>
                  <a:pt x="1411" y="4"/>
                </a:lnTo>
                <a:lnTo>
                  <a:pt x="1522" y="0"/>
                </a:lnTo>
                <a:lnTo>
                  <a:pt x="1522" y="0"/>
                </a:lnTo>
                <a:lnTo>
                  <a:pt x="1615" y="4"/>
                </a:lnTo>
                <a:lnTo>
                  <a:pt x="1708" y="7"/>
                </a:lnTo>
                <a:lnTo>
                  <a:pt x="1798" y="18"/>
                </a:lnTo>
                <a:lnTo>
                  <a:pt x="1888" y="29"/>
                </a:lnTo>
                <a:lnTo>
                  <a:pt x="1972" y="47"/>
                </a:lnTo>
                <a:lnTo>
                  <a:pt x="2055" y="68"/>
                </a:lnTo>
                <a:lnTo>
                  <a:pt x="2136" y="89"/>
                </a:lnTo>
                <a:lnTo>
                  <a:pt x="2214" y="118"/>
                </a:lnTo>
                <a:lnTo>
                  <a:pt x="2288" y="154"/>
                </a:lnTo>
                <a:lnTo>
                  <a:pt x="2359" y="190"/>
                </a:lnTo>
                <a:lnTo>
                  <a:pt x="2427" y="233"/>
                </a:lnTo>
                <a:lnTo>
                  <a:pt x="2493" y="279"/>
                </a:lnTo>
                <a:lnTo>
                  <a:pt x="2558" y="329"/>
                </a:lnTo>
                <a:lnTo>
                  <a:pt x="2617" y="386"/>
                </a:lnTo>
                <a:lnTo>
                  <a:pt x="2675" y="447"/>
                </a:lnTo>
                <a:lnTo>
                  <a:pt x="2728" y="512"/>
                </a:lnTo>
                <a:lnTo>
                  <a:pt x="2728" y="512"/>
                </a:lnTo>
                <a:lnTo>
                  <a:pt x="2784" y="590"/>
                </a:lnTo>
                <a:lnTo>
                  <a:pt x="2830" y="669"/>
                </a:lnTo>
                <a:lnTo>
                  <a:pt x="2871" y="748"/>
                </a:lnTo>
                <a:lnTo>
                  <a:pt x="2905" y="834"/>
                </a:lnTo>
                <a:lnTo>
                  <a:pt x="2933" y="916"/>
                </a:lnTo>
                <a:lnTo>
                  <a:pt x="2951" y="1005"/>
                </a:lnTo>
                <a:lnTo>
                  <a:pt x="2964" y="1091"/>
                </a:lnTo>
                <a:lnTo>
                  <a:pt x="2970" y="1181"/>
                </a:lnTo>
                <a:lnTo>
                  <a:pt x="2970" y="1181"/>
                </a:lnTo>
                <a:lnTo>
                  <a:pt x="2970" y="1256"/>
                </a:lnTo>
                <a:lnTo>
                  <a:pt x="2967" y="1331"/>
                </a:lnTo>
                <a:lnTo>
                  <a:pt x="2961" y="1403"/>
                </a:lnTo>
                <a:lnTo>
                  <a:pt x="2951" y="1474"/>
                </a:lnTo>
                <a:lnTo>
                  <a:pt x="2936" y="1542"/>
                </a:lnTo>
                <a:lnTo>
                  <a:pt x="2920" y="1610"/>
                </a:lnTo>
                <a:lnTo>
                  <a:pt x="2902" y="1675"/>
                </a:lnTo>
                <a:lnTo>
                  <a:pt x="2880" y="1735"/>
                </a:lnTo>
                <a:lnTo>
                  <a:pt x="2855" y="1796"/>
                </a:lnTo>
                <a:lnTo>
                  <a:pt x="2827" y="1857"/>
                </a:lnTo>
                <a:lnTo>
                  <a:pt x="2796" y="1914"/>
                </a:lnTo>
                <a:lnTo>
                  <a:pt x="2762" y="1968"/>
                </a:lnTo>
                <a:lnTo>
                  <a:pt x="2728" y="2022"/>
                </a:lnTo>
                <a:lnTo>
                  <a:pt x="2688" y="2072"/>
                </a:lnTo>
                <a:lnTo>
                  <a:pt x="2648" y="2122"/>
                </a:lnTo>
                <a:lnTo>
                  <a:pt x="2604" y="2168"/>
                </a:lnTo>
                <a:lnTo>
                  <a:pt x="2604" y="2168"/>
                </a:lnTo>
                <a:lnTo>
                  <a:pt x="2548" y="2222"/>
                </a:lnTo>
                <a:lnTo>
                  <a:pt x="2486" y="2272"/>
                </a:lnTo>
                <a:lnTo>
                  <a:pt x="2424" y="2322"/>
                </a:lnTo>
                <a:lnTo>
                  <a:pt x="2356" y="2365"/>
                </a:lnTo>
                <a:lnTo>
                  <a:pt x="2285" y="2408"/>
                </a:lnTo>
                <a:lnTo>
                  <a:pt x="2214" y="2448"/>
                </a:lnTo>
                <a:lnTo>
                  <a:pt x="2136" y="2480"/>
                </a:lnTo>
                <a:lnTo>
                  <a:pt x="2059" y="2512"/>
                </a:lnTo>
                <a:lnTo>
                  <a:pt x="1978" y="2541"/>
                </a:lnTo>
                <a:lnTo>
                  <a:pt x="1894" y="2566"/>
                </a:lnTo>
                <a:lnTo>
                  <a:pt x="1811" y="2587"/>
                </a:lnTo>
                <a:lnTo>
                  <a:pt x="1724" y="2601"/>
                </a:lnTo>
                <a:lnTo>
                  <a:pt x="1637" y="2616"/>
                </a:lnTo>
                <a:lnTo>
                  <a:pt x="1547" y="2623"/>
                </a:lnTo>
                <a:lnTo>
                  <a:pt x="1454" y="2630"/>
                </a:lnTo>
                <a:lnTo>
                  <a:pt x="1361" y="2630"/>
                </a:lnTo>
                <a:lnTo>
                  <a:pt x="1361" y="2630"/>
                </a:lnTo>
                <a:lnTo>
                  <a:pt x="0" y="2630"/>
                </a:lnTo>
                <a:lnTo>
                  <a:pt x="0" y="1517"/>
                </a:lnTo>
                <a:close/>
              </a:path>
            </a:pathLst>
          </a:custGeom>
          <a:solidFill>
            <a:srgbClr val="80276C"/>
          </a:solidFill>
          <a:ln>
            <a:noFill/>
          </a:ln>
        </p:spPr>
        <p:txBody>
          <a:bodyPr vert="horz" wrap="square" lIns="121920" tIns="60960" rIns="121920" bIns="60960" numCol="1" anchor="t" anchorCtr="0" compatLnSpc="1">
            <a:prstTxWarp prst="textNoShape">
              <a:avLst/>
            </a:prstTxWarp>
          </a:bodyPr>
          <a:lstStyle/>
          <a:p>
            <a:endParaRPr lang="fr-FR" sz="2400" dirty="0">
              <a:solidFill>
                <a:srgbClr val="63666A"/>
              </a:solidFill>
            </a:endParaRPr>
          </a:p>
        </p:txBody>
      </p:sp>
      <p:sp>
        <p:nvSpPr>
          <p:cNvPr id="17" name="Titre 1"/>
          <p:cNvSpPr>
            <a:spLocks noGrp="1"/>
          </p:cNvSpPr>
          <p:nvPr>
            <p:ph type="title" hasCustomPrompt="1"/>
          </p:nvPr>
        </p:nvSpPr>
        <p:spPr bwMode="gray">
          <a:xfrm>
            <a:off x="-2396" y="1566712"/>
            <a:ext cx="10060799" cy="4070535"/>
          </a:xfrm>
          <a:custGeom>
            <a:avLst/>
            <a:gdLst>
              <a:gd name="connsiteX0" fmla="*/ 229178 w 7918450"/>
              <a:gd name="connsiteY0" fmla="*/ 0 h 1375039"/>
              <a:gd name="connsiteX1" fmla="*/ 7918450 w 7918450"/>
              <a:gd name="connsiteY1" fmla="*/ 0 h 1375039"/>
              <a:gd name="connsiteX2" fmla="*/ 7918450 w 7918450"/>
              <a:gd name="connsiteY2" fmla="*/ 0 h 1375039"/>
              <a:gd name="connsiteX3" fmla="*/ 7918450 w 7918450"/>
              <a:gd name="connsiteY3" fmla="*/ 1145861 h 1375039"/>
              <a:gd name="connsiteX4" fmla="*/ 7689272 w 7918450"/>
              <a:gd name="connsiteY4" fmla="*/ 1375039 h 1375039"/>
              <a:gd name="connsiteX5" fmla="*/ 0 w 7918450"/>
              <a:gd name="connsiteY5" fmla="*/ 1375039 h 1375039"/>
              <a:gd name="connsiteX6" fmla="*/ 0 w 7918450"/>
              <a:gd name="connsiteY6" fmla="*/ 1375039 h 1375039"/>
              <a:gd name="connsiteX7" fmla="*/ 0 w 7918450"/>
              <a:gd name="connsiteY7" fmla="*/ 229178 h 1375039"/>
              <a:gd name="connsiteX8" fmla="*/ 229178 w 7918450"/>
              <a:gd name="connsiteY8" fmla="*/ 0 h 1375039"/>
              <a:gd name="connsiteX0" fmla="*/ 229178 w 7918450"/>
              <a:gd name="connsiteY0" fmla="*/ 0 h 1375039"/>
              <a:gd name="connsiteX1" fmla="*/ 7918450 w 7918450"/>
              <a:gd name="connsiteY1" fmla="*/ 0 h 1375039"/>
              <a:gd name="connsiteX2" fmla="*/ 7918450 w 7918450"/>
              <a:gd name="connsiteY2" fmla="*/ 0 h 1375039"/>
              <a:gd name="connsiteX3" fmla="*/ 7918450 w 7918450"/>
              <a:gd name="connsiteY3" fmla="*/ 1145861 h 1375039"/>
              <a:gd name="connsiteX4" fmla="*/ 7689272 w 7918450"/>
              <a:gd name="connsiteY4" fmla="*/ 1375039 h 1375039"/>
              <a:gd name="connsiteX5" fmla="*/ 0 w 7918450"/>
              <a:gd name="connsiteY5" fmla="*/ 1375039 h 1375039"/>
              <a:gd name="connsiteX6" fmla="*/ 0 w 7918450"/>
              <a:gd name="connsiteY6" fmla="*/ 1375039 h 1375039"/>
              <a:gd name="connsiteX7" fmla="*/ 229178 w 7918450"/>
              <a:gd name="connsiteY7" fmla="*/ 0 h 1375039"/>
              <a:gd name="connsiteX0" fmla="*/ 0 w 7920253"/>
              <a:gd name="connsiteY0" fmla="*/ 2381 h 1375039"/>
              <a:gd name="connsiteX1" fmla="*/ 7920253 w 7920253"/>
              <a:gd name="connsiteY1" fmla="*/ 0 h 1375039"/>
              <a:gd name="connsiteX2" fmla="*/ 7920253 w 7920253"/>
              <a:gd name="connsiteY2" fmla="*/ 0 h 1375039"/>
              <a:gd name="connsiteX3" fmla="*/ 7920253 w 7920253"/>
              <a:gd name="connsiteY3" fmla="*/ 1145861 h 1375039"/>
              <a:gd name="connsiteX4" fmla="*/ 7691075 w 7920253"/>
              <a:gd name="connsiteY4" fmla="*/ 1375039 h 1375039"/>
              <a:gd name="connsiteX5" fmla="*/ 1803 w 7920253"/>
              <a:gd name="connsiteY5" fmla="*/ 1375039 h 1375039"/>
              <a:gd name="connsiteX6" fmla="*/ 1803 w 7920253"/>
              <a:gd name="connsiteY6" fmla="*/ 1375039 h 1375039"/>
              <a:gd name="connsiteX7" fmla="*/ 0 w 7920253"/>
              <a:gd name="connsiteY7" fmla="*/ 2381 h 137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0253" h="1375039">
                <a:moveTo>
                  <a:pt x="0" y="2381"/>
                </a:moveTo>
                <a:lnTo>
                  <a:pt x="7920253" y="0"/>
                </a:lnTo>
                <a:lnTo>
                  <a:pt x="7920253" y="0"/>
                </a:lnTo>
                <a:lnTo>
                  <a:pt x="7920253" y="1145861"/>
                </a:lnTo>
                <a:cubicBezTo>
                  <a:pt x="7920253" y="1272433"/>
                  <a:pt x="7817647" y="1375039"/>
                  <a:pt x="7691075" y="1375039"/>
                </a:cubicBezTo>
                <a:lnTo>
                  <a:pt x="1803" y="1375039"/>
                </a:lnTo>
                <a:lnTo>
                  <a:pt x="1803" y="1375039"/>
                </a:lnTo>
                <a:lnTo>
                  <a:pt x="0" y="2381"/>
                </a:lnTo>
                <a:close/>
              </a:path>
            </a:pathLst>
          </a:custGeom>
          <a:solidFill>
            <a:srgbClr val="80276C"/>
          </a:solidFill>
        </p:spPr>
        <p:txBody>
          <a:bodyPr lIns="288000" tIns="144000" rIns="288000" bIns="72000" anchor="ctr" anchorCtr="0">
            <a:normAutofit/>
          </a:bodyPr>
          <a:lstStyle>
            <a:lvl1pPr algn="r">
              <a:lnSpc>
                <a:spcPct val="85000"/>
              </a:lnSpc>
              <a:spcBef>
                <a:spcPts val="600"/>
              </a:spcBef>
              <a:defRPr sz="5867" b="1" cap="all">
                <a:solidFill>
                  <a:schemeClr val="bg1"/>
                </a:solidFill>
              </a:defRPr>
            </a:lvl1pPr>
          </a:lstStyle>
          <a:p>
            <a:r>
              <a:rPr lang="fr-FR" dirty="0"/>
              <a:t>Modifiez le </a:t>
            </a:r>
            <a:br>
              <a:rPr lang="fr-FR" dirty="0"/>
            </a:br>
            <a:r>
              <a:rPr lang="fr-FR" dirty="0"/>
              <a:t>style du titre</a:t>
            </a:r>
          </a:p>
        </p:txBody>
      </p:sp>
      <p:sp>
        <p:nvSpPr>
          <p:cNvPr id="18" name="Espace réservé de la date 3"/>
          <p:cNvSpPr>
            <a:spLocks noGrp="1"/>
          </p:cNvSpPr>
          <p:nvPr>
            <p:ph type="dt" sz="half" idx="2"/>
          </p:nvPr>
        </p:nvSpPr>
        <p:spPr bwMode="gray">
          <a:xfrm>
            <a:off x="10058403" y="800141"/>
            <a:ext cx="1543769" cy="365125"/>
          </a:xfrm>
          <a:prstGeom prst="rect">
            <a:avLst/>
          </a:prstGeom>
        </p:spPr>
        <p:txBody>
          <a:bodyPr vert="horz" lIns="91440" tIns="45720" rIns="91440" bIns="45720" rtlCol="0" anchor="ctr"/>
          <a:lstStyle>
            <a:lvl1pPr algn="ctr">
              <a:defRPr sz="1600" b="1">
                <a:solidFill>
                  <a:schemeClr val="bg1"/>
                </a:solidFill>
              </a:defRPr>
            </a:lvl1pPr>
          </a:lstStyle>
          <a:p>
            <a:fld id="{2F999973-DAAB-4687-B4B4-75DA6A298F11}" type="datetimeFigureOut">
              <a:rPr lang="fr-FR" smtClean="0"/>
              <a:pPr/>
              <a:t>06/01/2021</a:t>
            </a:fld>
            <a:endParaRPr lang="fr-FR" dirty="0"/>
          </a:p>
        </p:txBody>
      </p:sp>
      <p:sp>
        <p:nvSpPr>
          <p:cNvPr id="19" name="Espace réservé du texte 3"/>
          <p:cNvSpPr>
            <a:spLocks noGrp="1"/>
          </p:cNvSpPr>
          <p:nvPr>
            <p:ph type="body" sz="quarter" idx="10"/>
          </p:nvPr>
        </p:nvSpPr>
        <p:spPr>
          <a:xfrm>
            <a:off x="623392" y="811958"/>
            <a:ext cx="2880783" cy="1185041"/>
          </a:xfrm>
          <a:prstGeom prst="rect">
            <a:avLst/>
          </a:prstGeom>
          <a:solidFill>
            <a:schemeClr val="bg1"/>
          </a:solidFill>
        </p:spPr>
        <p:txBody>
          <a:bodyPr wrap="square" lIns="108000" tIns="108000" rIns="108000" bIns="108000" rtlCol="0" anchor="b">
            <a:spAutoFit/>
          </a:bodyPr>
          <a:lstStyle>
            <a:lvl1pPr marL="457189" indent="0">
              <a:spcBef>
                <a:spcPts val="1200"/>
              </a:spcBef>
              <a:spcAft>
                <a:spcPts val="100"/>
              </a:spcAft>
              <a:buFontTx/>
              <a:buNone/>
              <a:defRPr lang="fr-FR" sz="1800" b="1" dirty="0" smtClean="0">
                <a:solidFill>
                  <a:schemeClr val="accent5"/>
                </a:solidFill>
                <a:latin typeface="Arial Narrow" pitchFamily="34" charset="0"/>
              </a:defRPr>
            </a:lvl1pPr>
            <a:lvl2pPr marL="35999" indent="-71998" algn="l" defTabSz="35999">
              <a:spcBef>
                <a:spcPts val="100"/>
              </a:spcBef>
              <a:spcAft>
                <a:spcPts val="100"/>
              </a:spcAft>
              <a:buFontTx/>
              <a:buNone/>
              <a:defRPr lang="fr-FR" sz="1600" dirty="0">
                <a:latin typeface="Arial Narrow" pitchFamily="34" charset="0"/>
              </a:defRPr>
            </a:lvl2pPr>
          </a:lstStyle>
          <a:p>
            <a:pPr marL="0" lvl="0">
              <a:spcBef>
                <a:spcPts val="1200"/>
              </a:spcBef>
              <a:spcAft>
                <a:spcPts val="100"/>
              </a:spcAft>
            </a:pPr>
            <a:r>
              <a:rPr lang="fr-FR"/>
              <a:t>Modifiez les styles du texte du masque</a:t>
            </a:r>
          </a:p>
          <a:p>
            <a:pPr marL="0" lvl="1">
              <a:spcBef>
                <a:spcPts val="1200"/>
              </a:spcBef>
              <a:spcAft>
                <a:spcPts val="100"/>
              </a:spcAft>
            </a:pPr>
            <a:r>
              <a:rPr lang="fr-FR"/>
              <a:t>Deuxième niveau</a:t>
            </a:r>
          </a:p>
        </p:txBody>
      </p:sp>
      <p:pic>
        <p:nvPicPr>
          <p:cNvPr id="12" name="F25E1CD4-A583-4BB2-82B1-EA8448AABC97" descr="95C080D9-D9F9-4764-A9F0-7C86F910EFA5"/>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0430790" y="5925279"/>
            <a:ext cx="1246697" cy="72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4143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 Gray">
    <p:spTree>
      <p:nvGrpSpPr>
        <p:cNvPr id="1" name=""/>
        <p:cNvGrpSpPr/>
        <p:nvPr/>
      </p:nvGrpSpPr>
      <p:grpSpPr>
        <a:xfrm>
          <a:off x="0" y="0"/>
          <a:ext cx="0" cy="0"/>
          <a:chOff x="0" y="0"/>
          <a:chExt cx="0" cy="0"/>
        </a:xfrm>
      </p:grpSpPr>
      <p:graphicFrame>
        <p:nvGraphicFramePr>
          <p:cNvPr id="3" name="Object 2" hidden="1"/>
          <p:cNvGraphicFramePr>
            <a:graphicFrameLocks/>
          </p:cNvGraphicFramePr>
          <p:nvPr>
            <p:custDataLst>
              <p:tags r:id="rId1"/>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2119" y="1589"/>
                        <a:ext cx="2116" cy="1587"/>
                      </a:xfrm>
                      <a:prstGeom prst="rect">
                        <a:avLst/>
                      </a:prstGeom>
                    </p:spPr>
                  </p:pic>
                </p:oleObj>
              </mc:Fallback>
            </mc:AlternateContent>
          </a:graphicData>
        </a:graphic>
      </p:graphicFrame>
      <p:sp>
        <p:nvSpPr>
          <p:cNvPr id="17" name="Titre 1"/>
          <p:cNvSpPr>
            <a:spLocks noGrp="1"/>
          </p:cNvSpPr>
          <p:nvPr>
            <p:ph type="title" hasCustomPrompt="1"/>
          </p:nvPr>
        </p:nvSpPr>
        <p:spPr bwMode="gray">
          <a:xfrm>
            <a:off x="-2396" y="3205867"/>
            <a:ext cx="10560337" cy="1663295"/>
          </a:xfrm>
          <a:custGeom>
            <a:avLst/>
            <a:gdLst>
              <a:gd name="connsiteX0" fmla="*/ 229178 w 7918450"/>
              <a:gd name="connsiteY0" fmla="*/ 0 h 1375039"/>
              <a:gd name="connsiteX1" fmla="*/ 7918450 w 7918450"/>
              <a:gd name="connsiteY1" fmla="*/ 0 h 1375039"/>
              <a:gd name="connsiteX2" fmla="*/ 7918450 w 7918450"/>
              <a:gd name="connsiteY2" fmla="*/ 0 h 1375039"/>
              <a:gd name="connsiteX3" fmla="*/ 7918450 w 7918450"/>
              <a:gd name="connsiteY3" fmla="*/ 1145861 h 1375039"/>
              <a:gd name="connsiteX4" fmla="*/ 7689272 w 7918450"/>
              <a:gd name="connsiteY4" fmla="*/ 1375039 h 1375039"/>
              <a:gd name="connsiteX5" fmla="*/ 0 w 7918450"/>
              <a:gd name="connsiteY5" fmla="*/ 1375039 h 1375039"/>
              <a:gd name="connsiteX6" fmla="*/ 0 w 7918450"/>
              <a:gd name="connsiteY6" fmla="*/ 1375039 h 1375039"/>
              <a:gd name="connsiteX7" fmla="*/ 0 w 7918450"/>
              <a:gd name="connsiteY7" fmla="*/ 229178 h 1375039"/>
              <a:gd name="connsiteX8" fmla="*/ 229178 w 7918450"/>
              <a:gd name="connsiteY8" fmla="*/ 0 h 1375039"/>
              <a:gd name="connsiteX0" fmla="*/ 229178 w 7918450"/>
              <a:gd name="connsiteY0" fmla="*/ 0 h 1375039"/>
              <a:gd name="connsiteX1" fmla="*/ 7918450 w 7918450"/>
              <a:gd name="connsiteY1" fmla="*/ 0 h 1375039"/>
              <a:gd name="connsiteX2" fmla="*/ 7918450 w 7918450"/>
              <a:gd name="connsiteY2" fmla="*/ 0 h 1375039"/>
              <a:gd name="connsiteX3" fmla="*/ 7918450 w 7918450"/>
              <a:gd name="connsiteY3" fmla="*/ 1145861 h 1375039"/>
              <a:gd name="connsiteX4" fmla="*/ 7689272 w 7918450"/>
              <a:gd name="connsiteY4" fmla="*/ 1375039 h 1375039"/>
              <a:gd name="connsiteX5" fmla="*/ 0 w 7918450"/>
              <a:gd name="connsiteY5" fmla="*/ 1375039 h 1375039"/>
              <a:gd name="connsiteX6" fmla="*/ 0 w 7918450"/>
              <a:gd name="connsiteY6" fmla="*/ 1375039 h 1375039"/>
              <a:gd name="connsiteX7" fmla="*/ 229178 w 7918450"/>
              <a:gd name="connsiteY7" fmla="*/ 0 h 1375039"/>
              <a:gd name="connsiteX0" fmla="*/ 0 w 7920253"/>
              <a:gd name="connsiteY0" fmla="*/ 2381 h 1375039"/>
              <a:gd name="connsiteX1" fmla="*/ 7920253 w 7920253"/>
              <a:gd name="connsiteY1" fmla="*/ 0 h 1375039"/>
              <a:gd name="connsiteX2" fmla="*/ 7920253 w 7920253"/>
              <a:gd name="connsiteY2" fmla="*/ 0 h 1375039"/>
              <a:gd name="connsiteX3" fmla="*/ 7920253 w 7920253"/>
              <a:gd name="connsiteY3" fmla="*/ 1145861 h 1375039"/>
              <a:gd name="connsiteX4" fmla="*/ 7691075 w 7920253"/>
              <a:gd name="connsiteY4" fmla="*/ 1375039 h 1375039"/>
              <a:gd name="connsiteX5" fmla="*/ 1803 w 7920253"/>
              <a:gd name="connsiteY5" fmla="*/ 1375039 h 1375039"/>
              <a:gd name="connsiteX6" fmla="*/ 1803 w 7920253"/>
              <a:gd name="connsiteY6" fmla="*/ 1375039 h 1375039"/>
              <a:gd name="connsiteX7" fmla="*/ 0 w 7920253"/>
              <a:gd name="connsiteY7" fmla="*/ 2381 h 137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20253" h="1375039">
                <a:moveTo>
                  <a:pt x="0" y="2381"/>
                </a:moveTo>
                <a:lnTo>
                  <a:pt x="7920253" y="0"/>
                </a:lnTo>
                <a:lnTo>
                  <a:pt x="7920253" y="0"/>
                </a:lnTo>
                <a:lnTo>
                  <a:pt x="7920253" y="1145861"/>
                </a:lnTo>
                <a:cubicBezTo>
                  <a:pt x="7920253" y="1272433"/>
                  <a:pt x="7817647" y="1375039"/>
                  <a:pt x="7691075" y="1375039"/>
                </a:cubicBezTo>
                <a:lnTo>
                  <a:pt x="1803" y="1375039"/>
                </a:lnTo>
                <a:lnTo>
                  <a:pt x="1803" y="1375039"/>
                </a:lnTo>
                <a:lnTo>
                  <a:pt x="0" y="2381"/>
                </a:lnTo>
                <a:close/>
              </a:path>
            </a:pathLst>
          </a:custGeom>
          <a:solidFill>
            <a:srgbClr val="80276C"/>
          </a:solidFill>
        </p:spPr>
        <p:txBody>
          <a:bodyPr lIns="288000" tIns="144000" rIns="288000" bIns="72000" anchor="ctr" anchorCtr="0">
            <a:normAutofit/>
          </a:bodyPr>
          <a:lstStyle>
            <a:lvl1pPr algn="r">
              <a:lnSpc>
                <a:spcPct val="85000"/>
              </a:lnSpc>
              <a:spcBef>
                <a:spcPts val="600"/>
              </a:spcBef>
              <a:defRPr sz="4500" b="1" cap="all">
                <a:solidFill>
                  <a:schemeClr val="bg1"/>
                </a:solidFill>
              </a:defRPr>
            </a:lvl1pPr>
          </a:lstStyle>
          <a:p>
            <a:r>
              <a:rPr lang="fr-FR" dirty="0"/>
              <a:t>Modifiez le </a:t>
            </a:r>
            <a:br>
              <a:rPr lang="fr-FR" dirty="0"/>
            </a:br>
            <a:r>
              <a:rPr lang="fr-FR" dirty="0"/>
              <a:t>style du titre</a:t>
            </a:r>
          </a:p>
        </p:txBody>
      </p:sp>
    </p:spTree>
    <p:extLst>
      <p:ext uri="{BB962C8B-B14F-4D97-AF65-F5344CB8AC3E}">
        <p14:creationId xmlns:p14="http://schemas.microsoft.com/office/powerpoint/2010/main" val="1520448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content">
    <p:bg bwMode="gray">
      <p:bgRef idx="1001">
        <a:schemeClr val="bg1"/>
      </p:bgRef>
    </p:bg>
    <p:spTree>
      <p:nvGrpSpPr>
        <p:cNvPr id="1" name=""/>
        <p:cNvGrpSpPr/>
        <p:nvPr/>
      </p:nvGrpSpPr>
      <p:grpSpPr>
        <a:xfrm>
          <a:off x="0" y="0"/>
          <a:ext cx="0" cy="0"/>
          <a:chOff x="0" y="0"/>
          <a:chExt cx="0" cy="0"/>
        </a:xfrm>
      </p:grpSpPr>
      <p:sp>
        <p:nvSpPr>
          <p:cNvPr id="2" name="Do not remove" hidden="1"/>
          <p:cNvSpPr/>
          <p:nvPr>
            <p:custDataLst>
              <p:tags r:id="rId1"/>
            </p:custDataLst>
          </p:nvPr>
        </p:nvSpPr>
        <p:spPr>
          <a:xfrm>
            <a:off x="0" y="1"/>
            <a:ext cx="16933" cy="12700"/>
          </a:xfrm>
          <a:prstGeom prst="octagon">
            <a:avLst/>
          </a:prstGeom>
          <a:noFill/>
          <a:ln w="3175" cap="flat" cmpd="sng" algn="ctr">
            <a:noFill/>
            <a:prstDash val="soli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17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t" anchorCtr="0" forceAA="0" compatLnSpc="1">
            <a:prstTxWarp prst="textNoShape">
              <a:avLst/>
            </a:prstTxWarp>
            <a:noAutofit/>
          </a:bodyPr>
          <a:lstStyle/>
          <a:p>
            <a:pPr algn="ctr"/>
            <a:endParaRPr lang="fr-FR" sz="1600" b="1" dirty="0">
              <a:solidFill>
                <a:srgbClr val="6D6D6D"/>
              </a:solidFill>
            </a:endParaRPr>
          </a:p>
        </p:txBody>
      </p:sp>
      <p:sp>
        <p:nvSpPr>
          <p:cNvPr id="10" name="Textplatzhalter 2"/>
          <p:cNvSpPr>
            <a:spLocks noGrp="1"/>
          </p:cNvSpPr>
          <p:nvPr>
            <p:ph idx="1" hasCustomPrompt="1"/>
          </p:nvPr>
        </p:nvSpPr>
        <p:spPr bwMode="gray">
          <a:xfrm>
            <a:off x="336000" y="1494002"/>
            <a:ext cx="11520000" cy="4622639"/>
          </a:xfrm>
          <a:prstGeom prst="rect">
            <a:avLst/>
          </a:prstGeom>
        </p:spPr>
        <p:txBody>
          <a:bodyPr vert="horz" lIns="0" tIns="0" rIns="0" bIns="0" rtlCol="0">
            <a:noAutofit/>
          </a:bodyPr>
          <a:lstStyle>
            <a:lvl1pPr marL="380990" indent="-380990">
              <a:spcBef>
                <a:spcPts val="800"/>
              </a:spcBef>
              <a:spcAft>
                <a:spcPts val="267"/>
              </a:spcAft>
              <a:buClr>
                <a:schemeClr val="accent2"/>
              </a:buClr>
              <a:buSzPct val="80000"/>
              <a:buFont typeface="Wingdings" panose="05000000000000000000" pitchFamily="2" charset="2"/>
              <a:buChar char="q"/>
              <a:defRPr sz="2400">
                <a:solidFill>
                  <a:schemeClr val="accent2"/>
                </a:solidFill>
              </a:defRPr>
            </a:lvl1pPr>
            <a:lvl2pPr marL="831830" indent="-380990">
              <a:spcBef>
                <a:spcPts val="0"/>
              </a:spcBef>
              <a:buFont typeface="Wingdings" panose="05000000000000000000" pitchFamily="2" charset="2"/>
              <a:buChar char="§"/>
              <a:tabLst>
                <a:tab pos="831830" algn="l"/>
              </a:tabLst>
              <a:defRPr sz="1867">
                <a:solidFill>
                  <a:schemeClr val="tx1"/>
                </a:solidFill>
              </a:defRPr>
            </a:lvl2pPr>
            <a:lvl3pPr marL="1073124" indent="-239178">
              <a:buFont typeface="Arial" panose="020B0604020202020204" pitchFamily="34" charset="0"/>
              <a:buChar char="•"/>
              <a:tabLst>
                <a:tab pos="952476" algn="l"/>
              </a:tabLst>
              <a:defRPr sz="1600">
                <a:solidFill>
                  <a:schemeClr val="tx1"/>
                </a:solidFill>
              </a:defRPr>
            </a:lvl3pPr>
            <a:lvl4pPr marL="1432948" indent="-247644">
              <a:defRPr sz="1600">
                <a:solidFill>
                  <a:schemeClr val="tx1"/>
                </a:solidFill>
              </a:defRPr>
            </a:lvl4pPr>
            <a:lvl5pPr marL="1794888" indent="-247644">
              <a:buSzPct val="85000"/>
              <a:buFont typeface="Courier New" panose="02070309020205020404" pitchFamily="49" charset="0"/>
              <a:buChar char="o"/>
              <a:tabLst>
                <a:tab pos="1674242" algn="l"/>
              </a:tabLst>
              <a:defRPr sz="1600" baseline="0">
                <a:solidFill>
                  <a:schemeClr val="tx1"/>
                </a:solidFill>
              </a:defRPr>
            </a:lvl5pPr>
            <a:lvl6pPr marL="2275360" indent="-247644">
              <a:defRPr sz="1600">
                <a:solidFill>
                  <a:schemeClr val="tx1"/>
                </a:solidFill>
              </a:defRPr>
            </a:lvl6pPr>
          </a:lstStyle>
          <a:p>
            <a:pPr lvl="0"/>
            <a:r>
              <a:rPr lang="en-US" noProof="0" dirty="0"/>
              <a:t>First text level</a:t>
            </a:r>
          </a:p>
          <a:p>
            <a:pPr lvl="1"/>
            <a:r>
              <a:rPr lang="en-US" noProof="0" dirty="0"/>
              <a:t>Second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9" name="Titel 8"/>
          <p:cNvSpPr>
            <a:spLocks noGrp="1"/>
          </p:cNvSpPr>
          <p:nvPr>
            <p:ph type="title" hasCustomPrompt="1"/>
          </p:nvPr>
        </p:nvSpPr>
        <p:spPr bwMode="gray"/>
        <p:txBody>
          <a:bodyPr/>
          <a:lstStyle>
            <a:lvl1pPr>
              <a:defRPr>
                <a:solidFill>
                  <a:schemeClr val="accent5"/>
                </a:solidFill>
              </a:defRPr>
            </a:lvl1pPr>
          </a:lstStyle>
          <a:p>
            <a:r>
              <a:rPr lang="en-US" noProof="0" dirty="0"/>
              <a:t>Click here to add the headline</a:t>
            </a:r>
          </a:p>
        </p:txBody>
      </p:sp>
      <p:sp>
        <p:nvSpPr>
          <p:cNvPr id="12" name="Textplatzhalter 11"/>
          <p:cNvSpPr>
            <a:spLocks noGrp="1"/>
          </p:cNvSpPr>
          <p:nvPr>
            <p:ph type="body" sz="quarter" idx="13"/>
          </p:nvPr>
        </p:nvSpPr>
        <p:spPr bwMode="gray">
          <a:xfrm>
            <a:off x="2187346" y="6501341"/>
            <a:ext cx="5348817" cy="248903"/>
          </a:xfrm>
          <a:prstGeom prst="rect">
            <a:avLst/>
          </a:prstGeom>
        </p:spPr>
        <p:txBody>
          <a:bodyPr anchor="b" anchorCtr="0"/>
          <a:lstStyle>
            <a:lvl1pPr>
              <a:spcAft>
                <a:spcPts val="0"/>
              </a:spcAft>
              <a:buFontTx/>
              <a:buNone/>
              <a:defRPr sz="1067">
                <a:solidFill>
                  <a:schemeClr val="tx1"/>
                </a:solidFill>
              </a:defRPr>
            </a:lvl1pPr>
            <a:lvl2pPr>
              <a:spcBef>
                <a:spcPts val="0"/>
              </a:spcBef>
              <a:buFontTx/>
              <a:buNone/>
              <a:defRPr sz="1333">
                <a:solidFill>
                  <a:schemeClr val="tx1"/>
                </a:solidFill>
              </a:defRPr>
            </a:lvl2pPr>
            <a:lvl3pPr marL="0" indent="0">
              <a:spcBef>
                <a:spcPts val="0"/>
              </a:spcBef>
              <a:buFontTx/>
              <a:buNone/>
              <a:defRPr sz="1333">
                <a:solidFill>
                  <a:schemeClr val="tx1"/>
                </a:solidFill>
              </a:defRPr>
            </a:lvl3pPr>
            <a:lvl4pPr marL="0" indent="0">
              <a:spcBef>
                <a:spcPts val="0"/>
              </a:spcBef>
              <a:buFontTx/>
              <a:buNone/>
              <a:defRPr sz="1333">
                <a:solidFill>
                  <a:schemeClr val="tx1"/>
                </a:solidFill>
              </a:defRPr>
            </a:lvl4pPr>
            <a:lvl5pPr marL="0" indent="0">
              <a:spcBef>
                <a:spcPts val="0"/>
              </a:spcBef>
              <a:buFontTx/>
              <a:buNone/>
              <a:defRPr sz="1333">
                <a:solidFill>
                  <a:schemeClr val="tx1"/>
                </a:solidFill>
              </a:defRPr>
            </a:lvl5pPr>
          </a:lstStyle>
          <a:p>
            <a:pPr lvl="0"/>
            <a:endParaRPr lang="en-US" noProof="0" dirty="0"/>
          </a:p>
        </p:txBody>
      </p:sp>
    </p:spTree>
    <p:extLst>
      <p:ext uri="{BB962C8B-B14F-4D97-AF65-F5344CB8AC3E}">
        <p14:creationId xmlns:p14="http://schemas.microsoft.com/office/powerpoint/2010/main" val="1335718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general + Subheadline">
    <p:spTree>
      <p:nvGrpSpPr>
        <p:cNvPr id="1" name=""/>
        <p:cNvGrpSpPr/>
        <p:nvPr/>
      </p:nvGrpSpPr>
      <p:grpSpPr>
        <a:xfrm>
          <a:off x="0" y="0"/>
          <a:ext cx="0" cy="0"/>
          <a:chOff x="0" y="0"/>
          <a:chExt cx="0" cy="0"/>
        </a:xfrm>
      </p:grpSpPr>
      <p:sp>
        <p:nvSpPr>
          <p:cNvPr id="9" name="Inhaltsplatzhalter 8"/>
          <p:cNvSpPr>
            <a:spLocks noGrp="1"/>
          </p:cNvSpPr>
          <p:nvPr>
            <p:ph sz="quarter" idx="15" hasCustomPrompt="1"/>
          </p:nvPr>
        </p:nvSpPr>
        <p:spPr bwMode="gray">
          <a:xfrm>
            <a:off x="336001" y="1925639"/>
            <a:ext cx="11518900" cy="4191000"/>
          </a:xfrm>
          <a:prstGeom prst="rect">
            <a:avLst/>
          </a:prstGeom>
        </p:spPr>
        <p:txBody>
          <a:bodyPr/>
          <a:lstStyle>
            <a:lvl1pPr>
              <a:defRPr baseline="0"/>
            </a:lvl1pPr>
          </a:lstStyle>
          <a:p>
            <a:pPr lvl="0"/>
            <a:r>
              <a:rPr lang="en-US" noProof="0" dirty="0"/>
              <a:t>Click the content icon you want to use</a:t>
            </a:r>
          </a:p>
        </p:txBody>
      </p:sp>
      <p:sp>
        <p:nvSpPr>
          <p:cNvPr id="11" name="Textplatzhalter 7"/>
          <p:cNvSpPr>
            <a:spLocks noGrp="1"/>
          </p:cNvSpPr>
          <p:nvPr>
            <p:ph type="body" sz="quarter" idx="16" hasCustomPrompt="1"/>
          </p:nvPr>
        </p:nvSpPr>
        <p:spPr bwMode="gray">
          <a:xfrm>
            <a:off x="336551" y="1494000"/>
            <a:ext cx="11518349" cy="309600"/>
          </a:xfrm>
          <a:prstGeom prst="rect">
            <a:avLst/>
          </a:prstGeom>
        </p:spPr>
        <p:txBody>
          <a:bodyPr wrap="square"/>
          <a:lstStyle>
            <a:lvl1pPr>
              <a:defRPr baseline="0"/>
            </a:lvl1pPr>
          </a:lstStyle>
          <a:p>
            <a:pPr lvl="0"/>
            <a:r>
              <a:rPr lang="en-US" noProof="0" dirty="0"/>
              <a:t>Click here to add your text</a:t>
            </a:r>
          </a:p>
        </p:txBody>
      </p:sp>
      <p:sp>
        <p:nvSpPr>
          <p:cNvPr id="7" name="Textplatzhalter 11"/>
          <p:cNvSpPr>
            <a:spLocks noGrp="1"/>
          </p:cNvSpPr>
          <p:nvPr>
            <p:ph type="body" sz="quarter" idx="13" hasCustomPrompt="1"/>
          </p:nvPr>
        </p:nvSpPr>
        <p:spPr bwMode="gray">
          <a:xfrm>
            <a:off x="2187346" y="6501341"/>
            <a:ext cx="5348817" cy="248903"/>
          </a:xfrm>
          <a:prstGeom prst="rect">
            <a:avLst/>
          </a:prstGeom>
        </p:spPr>
        <p:txBody>
          <a:bodyPr anchor="b" anchorCtr="0"/>
          <a:lstStyle>
            <a:lvl1pPr>
              <a:spcAft>
                <a:spcPts val="0"/>
              </a:spcAft>
              <a:buFontTx/>
              <a:buNone/>
              <a:defRPr sz="1067">
                <a:solidFill>
                  <a:schemeClr val="tx1"/>
                </a:solidFill>
              </a:defRPr>
            </a:lvl1pPr>
            <a:lvl2pPr>
              <a:spcBef>
                <a:spcPts val="0"/>
              </a:spcBef>
              <a:buFontTx/>
              <a:buNone/>
              <a:defRPr sz="1333">
                <a:solidFill>
                  <a:schemeClr val="tx1"/>
                </a:solidFill>
              </a:defRPr>
            </a:lvl2pPr>
            <a:lvl3pPr marL="0" indent="0">
              <a:spcBef>
                <a:spcPts val="0"/>
              </a:spcBef>
              <a:buFontTx/>
              <a:buNone/>
              <a:defRPr sz="1333">
                <a:solidFill>
                  <a:schemeClr val="tx1"/>
                </a:solidFill>
              </a:defRPr>
            </a:lvl3pPr>
            <a:lvl4pPr marL="0" indent="0">
              <a:spcBef>
                <a:spcPts val="0"/>
              </a:spcBef>
              <a:buFontTx/>
              <a:buNone/>
              <a:defRPr sz="1333">
                <a:solidFill>
                  <a:schemeClr val="tx1"/>
                </a:solidFill>
              </a:defRPr>
            </a:lvl4pPr>
            <a:lvl5pPr marL="0" indent="0">
              <a:spcBef>
                <a:spcPts val="0"/>
              </a:spcBef>
              <a:buFontTx/>
              <a:buNone/>
              <a:defRPr sz="1333">
                <a:solidFill>
                  <a:schemeClr val="tx1"/>
                </a:solidFill>
              </a:defRPr>
            </a:lvl5pPr>
          </a:lstStyle>
          <a:p>
            <a:pPr lvl="0"/>
            <a:r>
              <a:rPr lang="en-US" noProof="0" dirty="0"/>
              <a:t>Source:</a:t>
            </a:r>
          </a:p>
        </p:txBody>
      </p:sp>
      <p:sp>
        <p:nvSpPr>
          <p:cNvPr id="8" name="Titel 8"/>
          <p:cNvSpPr>
            <a:spLocks noGrp="1"/>
          </p:cNvSpPr>
          <p:nvPr>
            <p:ph type="title" hasCustomPrompt="1"/>
          </p:nvPr>
        </p:nvSpPr>
        <p:spPr bwMode="gray">
          <a:xfrm>
            <a:off x="336001" y="40500"/>
            <a:ext cx="11519451" cy="903600"/>
          </a:xfrm>
        </p:spPr>
        <p:txBody>
          <a:bodyPr/>
          <a:lstStyle>
            <a:lvl1pPr>
              <a:defRPr>
                <a:solidFill>
                  <a:schemeClr val="accent5"/>
                </a:solidFill>
              </a:defRPr>
            </a:lvl1pPr>
          </a:lstStyle>
          <a:p>
            <a:r>
              <a:rPr lang="en-US" noProof="0" dirty="0"/>
              <a:t>Click here to add the headline</a:t>
            </a:r>
          </a:p>
        </p:txBody>
      </p:sp>
    </p:spTree>
    <p:extLst>
      <p:ext uri="{BB962C8B-B14F-4D97-AF65-F5344CB8AC3E}">
        <p14:creationId xmlns:p14="http://schemas.microsoft.com/office/powerpoint/2010/main" val="1692812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ext + Content horizontal">
    <p:spTree>
      <p:nvGrpSpPr>
        <p:cNvPr id="1" name=""/>
        <p:cNvGrpSpPr/>
        <p:nvPr/>
      </p:nvGrpSpPr>
      <p:grpSpPr>
        <a:xfrm>
          <a:off x="0" y="0"/>
          <a:ext cx="0" cy="0"/>
          <a:chOff x="0" y="0"/>
          <a:chExt cx="0" cy="0"/>
        </a:xfrm>
      </p:grpSpPr>
      <p:sp>
        <p:nvSpPr>
          <p:cNvPr id="9" name="Inhaltsplatzhalter 8"/>
          <p:cNvSpPr>
            <a:spLocks noGrp="1"/>
          </p:cNvSpPr>
          <p:nvPr>
            <p:ph sz="quarter" idx="15" hasCustomPrompt="1"/>
          </p:nvPr>
        </p:nvSpPr>
        <p:spPr bwMode="gray">
          <a:xfrm>
            <a:off x="336000" y="2725949"/>
            <a:ext cx="11518900" cy="3390691"/>
          </a:xfrm>
          <a:prstGeom prst="rect">
            <a:avLst/>
          </a:prstGeom>
        </p:spPr>
        <p:txBody>
          <a:bodyPr/>
          <a:lstStyle>
            <a:lvl1pPr>
              <a:defRPr baseline="0"/>
            </a:lvl1pPr>
          </a:lstStyle>
          <a:p>
            <a:pPr lvl="0"/>
            <a:r>
              <a:rPr lang="en-US" noProof="0" dirty="0"/>
              <a:t>Click the content icon you want to use</a:t>
            </a:r>
          </a:p>
        </p:txBody>
      </p:sp>
      <p:sp>
        <p:nvSpPr>
          <p:cNvPr id="10" name="Textplatzhalter 7"/>
          <p:cNvSpPr>
            <a:spLocks noGrp="1"/>
          </p:cNvSpPr>
          <p:nvPr>
            <p:ph type="body" sz="quarter" idx="16" hasCustomPrompt="1"/>
          </p:nvPr>
        </p:nvSpPr>
        <p:spPr bwMode="gray">
          <a:xfrm>
            <a:off x="336001" y="1494003"/>
            <a:ext cx="11519449" cy="1138871"/>
          </a:xfrm>
          <a:prstGeom prst="rect">
            <a:avLst/>
          </a:prstGeom>
        </p:spPr>
        <p:txBody>
          <a:bodyPr/>
          <a:lstStyle>
            <a:lvl2pPr>
              <a:defRPr>
                <a:solidFill>
                  <a:schemeClr val="tx1"/>
                </a:solidFill>
              </a:defRPr>
            </a:lvl2pPr>
            <a:lvl3pPr>
              <a:defRPr>
                <a:solidFill>
                  <a:schemeClr val="tx1"/>
                </a:solidFill>
              </a:defRPr>
            </a:lvl3pPr>
          </a:lstStyle>
          <a:p>
            <a:pPr lvl="0"/>
            <a:r>
              <a:rPr lang="en-US" noProof="0" dirty="0"/>
              <a:t>First text level</a:t>
            </a:r>
          </a:p>
          <a:p>
            <a:pPr lvl="1"/>
            <a:r>
              <a:rPr lang="en-US" noProof="0" dirty="0"/>
              <a:t>Second text level</a:t>
            </a:r>
          </a:p>
          <a:p>
            <a:pPr lvl="2"/>
            <a:r>
              <a:rPr lang="en-US" noProof="0" dirty="0"/>
              <a:t>Third text level</a:t>
            </a:r>
          </a:p>
        </p:txBody>
      </p:sp>
      <p:sp>
        <p:nvSpPr>
          <p:cNvPr id="7" name="Textplatzhalter 11"/>
          <p:cNvSpPr>
            <a:spLocks noGrp="1"/>
          </p:cNvSpPr>
          <p:nvPr>
            <p:ph type="body" sz="quarter" idx="13" hasCustomPrompt="1"/>
          </p:nvPr>
        </p:nvSpPr>
        <p:spPr bwMode="gray">
          <a:xfrm>
            <a:off x="2351587" y="6309322"/>
            <a:ext cx="5348817" cy="443899"/>
          </a:xfrm>
          <a:prstGeom prst="rect">
            <a:avLst/>
          </a:prstGeom>
        </p:spPr>
        <p:txBody>
          <a:bodyPr anchor="b" anchorCtr="0"/>
          <a:lstStyle>
            <a:lvl1pPr>
              <a:spcAft>
                <a:spcPts val="0"/>
              </a:spcAft>
              <a:buFontTx/>
              <a:buNone/>
              <a:defRPr sz="1067">
                <a:solidFill>
                  <a:schemeClr val="tx1"/>
                </a:solidFill>
              </a:defRPr>
            </a:lvl1pPr>
            <a:lvl2pPr>
              <a:spcBef>
                <a:spcPts val="0"/>
              </a:spcBef>
              <a:buFontTx/>
              <a:buNone/>
              <a:defRPr sz="1333">
                <a:solidFill>
                  <a:schemeClr val="tx1"/>
                </a:solidFill>
              </a:defRPr>
            </a:lvl2pPr>
            <a:lvl3pPr marL="0" indent="0">
              <a:spcBef>
                <a:spcPts val="0"/>
              </a:spcBef>
              <a:buFontTx/>
              <a:buNone/>
              <a:defRPr sz="1333">
                <a:solidFill>
                  <a:schemeClr val="tx1"/>
                </a:solidFill>
              </a:defRPr>
            </a:lvl3pPr>
            <a:lvl4pPr marL="0" indent="0">
              <a:spcBef>
                <a:spcPts val="0"/>
              </a:spcBef>
              <a:buFontTx/>
              <a:buNone/>
              <a:defRPr sz="1333">
                <a:solidFill>
                  <a:schemeClr val="tx1"/>
                </a:solidFill>
              </a:defRPr>
            </a:lvl4pPr>
            <a:lvl5pPr marL="0" indent="0">
              <a:spcBef>
                <a:spcPts val="0"/>
              </a:spcBef>
              <a:buFontTx/>
              <a:buNone/>
              <a:defRPr sz="1333">
                <a:solidFill>
                  <a:schemeClr val="tx1"/>
                </a:solidFill>
              </a:defRPr>
            </a:lvl5pPr>
          </a:lstStyle>
          <a:p>
            <a:pPr lvl="0"/>
            <a:r>
              <a:rPr lang="en-US" noProof="0" dirty="0"/>
              <a:t>Source:</a:t>
            </a:r>
          </a:p>
        </p:txBody>
      </p:sp>
      <p:sp>
        <p:nvSpPr>
          <p:cNvPr id="8" name="Titel 8"/>
          <p:cNvSpPr>
            <a:spLocks noGrp="1"/>
          </p:cNvSpPr>
          <p:nvPr>
            <p:ph type="title" hasCustomPrompt="1"/>
          </p:nvPr>
        </p:nvSpPr>
        <p:spPr bwMode="gray">
          <a:xfrm>
            <a:off x="336001" y="40500"/>
            <a:ext cx="11519451" cy="903600"/>
          </a:xfrm>
        </p:spPr>
        <p:txBody>
          <a:bodyPr/>
          <a:lstStyle>
            <a:lvl1pPr>
              <a:defRPr>
                <a:solidFill>
                  <a:schemeClr val="accent5"/>
                </a:solidFill>
              </a:defRPr>
            </a:lvl1pPr>
          </a:lstStyle>
          <a:p>
            <a:r>
              <a:rPr lang="en-US" noProof="0" dirty="0"/>
              <a:t>Click here to add the headline</a:t>
            </a:r>
          </a:p>
        </p:txBody>
      </p:sp>
    </p:spTree>
    <p:extLst>
      <p:ext uri="{BB962C8B-B14F-4D97-AF65-F5344CB8AC3E}">
        <p14:creationId xmlns:p14="http://schemas.microsoft.com/office/powerpoint/2010/main" val="3339737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7" name="Inhaltsplatzhalter 6"/>
          <p:cNvSpPr>
            <a:spLocks noGrp="1"/>
          </p:cNvSpPr>
          <p:nvPr>
            <p:ph sz="quarter" idx="17" hasCustomPrompt="1"/>
          </p:nvPr>
        </p:nvSpPr>
        <p:spPr bwMode="gray">
          <a:xfrm>
            <a:off x="6213933" y="1494000"/>
            <a:ext cx="5638800" cy="4615200"/>
          </a:xfrm>
          <a:prstGeom prst="rect">
            <a:avLst/>
          </a:prstGeo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noProof="0" dirty="0"/>
              <a:t>First text level</a:t>
            </a:r>
          </a:p>
          <a:p>
            <a:pPr lvl="1"/>
            <a:r>
              <a:rPr lang="en-US" noProof="0" dirty="0"/>
              <a:t>Second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a:p>
            <a:pPr lvl="6"/>
            <a:r>
              <a:rPr lang="en-US" noProof="0" dirty="0"/>
              <a:t>Seventh text level</a:t>
            </a:r>
          </a:p>
          <a:p>
            <a:pPr lvl="7"/>
            <a:r>
              <a:rPr lang="en-US" noProof="0" dirty="0"/>
              <a:t>Eight text level</a:t>
            </a:r>
          </a:p>
          <a:p>
            <a:pPr lvl="8"/>
            <a:r>
              <a:rPr lang="en-US" noProof="0" dirty="0"/>
              <a:t>Ninth text level</a:t>
            </a:r>
          </a:p>
        </p:txBody>
      </p:sp>
      <p:sp>
        <p:nvSpPr>
          <p:cNvPr id="9" name="Inhaltsplatzhalter 6"/>
          <p:cNvSpPr>
            <a:spLocks noGrp="1"/>
          </p:cNvSpPr>
          <p:nvPr>
            <p:ph sz="quarter" idx="19" hasCustomPrompt="1"/>
          </p:nvPr>
        </p:nvSpPr>
        <p:spPr bwMode="gray">
          <a:xfrm>
            <a:off x="336000" y="1494000"/>
            <a:ext cx="5638800" cy="4615200"/>
          </a:xfrm>
          <a:prstGeom prst="rect">
            <a:avLst/>
          </a:prstGeo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noProof="0" dirty="0"/>
              <a:t>First text level</a:t>
            </a:r>
          </a:p>
          <a:p>
            <a:pPr lvl="1"/>
            <a:r>
              <a:rPr lang="en-US" noProof="0" dirty="0"/>
              <a:t>Second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a:p>
            <a:pPr lvl="6"/>
            <a:r>
              <a:rPr lang="en-US" noProof="0" dirty="0"/>
              <a:t>Seventh text level</a:t>
            </a:r>
          </a:p>
          <a:p>
            <a:pPr lvl="7"/>
            <a:r>
              <a:rPr lang="en-US" noProof="0" dirty="0"/>
              <a:t>Eight text level</a:t>
            </a:r>
          </a:p>
          <a:p>
            <a:pPr lvl="8"/>
            <a:r>
              <a:rPr lang="en-US" noProof="0" dirty="0"/>
              <a:t>Ninth text level</a:t>
            </a:r>
          </a:p>
        </p:txBody>
      </p:sp>
      <p:sp>
        <p:nvSpPr>
          <p:cNvPr id="11" name="Textplatzhalter 11"/>
          <p:cNvSpPr>
            <a:spLocks noGrp="1"/>
          </p:cNvSpPr>
          <p:nvPr>
            <p:ph type="body" sz="quarter" idx="13" hasCustomPrompt="1"/>
          </p:nvPr>
        </p:nvSpPr>
        <p:spPr bwMode="gray">
          <a:xfrm>
            <a:off x="336552" y="6306346"/>
            <a:ext cx="5348817" cy="443899"/>
          </a:xfrm>
          <a:prstGeom prst="rect">
            <a:avLst/>
          </a:prstGeom>
        </p:spPr>
        <p:txBody>
          <a:bodyPr anchor="b" anchorCtr="0"/>
          <a:lstStyle>
            <a:lvl1pPr>
              <a:spcAft>
                <a:spcPts val="0"/>
              </a:spcAft>
              <a:buFontTx/>
              <a:buNone/>
              <a:defRPr sz="1067">
                <a:solidFill>
                  <a:schemeClr val="tx1"/>
                </a:solidFill>
              </a:defRPr>
            </a:lvl1pPr>
            <a:lvl2pPr>
              <a:spcBef>
                <a:spcPts val="0"/>
              </a:spcBef>
              <a:buFontTx/>
              <a:buNone/>
              <a:defRPr sz="1333">
                <a:solidFill>
                  <a:schemeClr val="tx1"/>
                </a:solidFill>
              </a:defRPr>
            </a:lvl2pPr>
            <a:lvl3pPr marL="0" indent="0">
              <a:spcBef>
                <a:spcPts val="0"/>
              </a:spcBef>
              <a:buFontTx/>
              <a:buNone/>
              <a:defRPr sz="1333">
                <a:solidFill>
                  <a:schemeClr val="tx1"/>
                </a:solidFill>
              </a:defRPr>
            </a:lvl3pPr>
            <a:lvl4pPr marL="0" indent="0">
              <a:spcBef>
                <a:spcPts val="0"/>
              </a:spcBef>
              <a:buFontTx/>
              <a:buNone/>
              <a:defRPr sz="1333">
                <a:solidFill>
                  <a:schemeClr val="tx1"/>
                </a:solidFill>
              </a:defRPr>
            </a:lvl4pPr>
            <a:lvl5pPr marL="0" indent="0">
              <a:spcBef>
                <a:spcPts val="0"/>
              </a:spcBef>
              <a:buFontTx/>
              <a:buNone/>
              <a:defRPr sz="1333">
                <a:solidFill>
                  <a:schemeClr val="tx1"/>
                </a:solidFill>
              </a:defRPr>
            </a:lvl5pPr>
          </a:lstStyle>
          <a:p>
            <a:pPr lvl="0"/>
            <a:r>
              <a:rPr lang="en-US" noProof="0" dirty="0"/>
              <a:t>Source:</a:t>
            </a:r>
          </a:p>
        </p:txBody>
      </p:sp>
      <p:sp>
        <p:nvSpPr>
          <p:cNvPr id="8" name="Titel 8"/>
          <p:cNvSpPr>
            <a:spLocks noGrp="1"/>
          </p:cNvSpPr>
          <p:nvPr>
            <p:ph type="title" hasCustomPrompt="1"/>
          </p:nvPr>
        </p:nvSpPr>
        <p:spPr bwMode="gray">
          <a:xfrm>
            <a:off x="336001" y="40500"/>
            <a:ext cx="11519451" cy="903600"/>
          </a:xfrm>
        </p:spPr>
        <p:txBody>
          <a:bodyPr/>
          <a:lstStyle>
            <a:lvl1pPr>
              <a:defRPr>
                <a:solidFill>
                  <a:schemeClr val="accent5"/>
                </a:solidFill>
              </a:defRPr>
            </a:lvl1pPr>
          </a:lstStyle>
          <a:p>
            <a:r>
              <a:rPr lang="en-US" noProof="0" dirty="0"/>
              <a:t>Click here to add the headline</a:t>
            </a:r>
          </a:p>
        </p:txBody>
      </p:sp>
    </p:spTree>
    <p:extLst>
      <p:ext uri="{BB962C8B-B14F-4D97-AF65-F5344CB8AC3E}">
        <p14:creationId xmlns:p14="http://schemas.microsoft.com/office/powerpoint/2010/main" val="2270512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ext + Two contents">
    <p:spTree>
      <p:nvGrpSpPr>
        <p:cNvPr id="1" name=""/>
        <p:cNvGrpSpPr/>
        <p:nvPr/>
      </p:nvGrpSpPr>
      <p:grpSpPr>
        <a:xfrm>
          <a:off x="0" y="0"/>
          <a:ext cx="0" cy="0"/>
          <a:chOff x="0" y="0"/>
          <a:chExt cx="0" cy="0"/>
        </a:xfrm>
      </p:grpSpPr>
      <p:sp>
        <p:nvSpPr>
          <p:cNvPr id="9" name="Inhaltsplatzhalter 8"/>
          <p:cNvSpPr>
            <a:spLocks noGrp="1"/>
          </p:cNvSpPr>
          <p:nvPr>
            <p:ph sz="quarter" idx="15" hasCustomPrompt="1"/>
          </p:nvPr>
        </p:nvSpPr>
        <p:spPr bwMode="gray">
          <a:xfrm>
            <a:off x="336000" y="2725949"/>
            <a:ext cx="5641467" cy="3390691"/>
          </a:xfrm>
          <a:prstGeom prst="rect">
            <a:avLst/>
          </a:prstGeom>
        </p:spPr>
        <p:txBody>
          <a:bodyPr/>
          <a:lstStyle>
            <a:lvl1pPr>
              <a:defRPr baseline="0"/>
            </a:lvl1pPr>
          </a:lstStyle>
          <a:p>
            <a:pPr lvl="0"/>
            <a:r>
              <a:rPr lang="en-US" noProof="0" dirty="0"/>
              <a:t>Click the content icon you want to use</a:t>
            </a:r>
          </a:p>
        </p:txBody>
      </p:sp>
      <p:sp>
        <p:nvSpPr>
          <p:cNvPr id="10" name="Textplatzhalter 7"/>
          <p:cNvSpPr>
            <a:spLocks noGrp="1"/>
          </p:cNvSpPr>
          <p:nvPr>
            <p:ph type="body" sz="quarter" idx="16" hasCustomPrompt="1"/>
          </p:nvPr>
        </p:nvSpPr>
        <p:spPr bwMode="gray">
          <a:xfrm>
            <a:off x="336001" y="1494003"/>
            <a:ext cx="11519449" cy="1138871"/>
          </a:xfrm>
          <a:prstGeom prst="rect">
            <a:avLst/>
          </a:prstGeom>
        </p:spPr>
        <p:txBody>
          <a:bodyPr/>
          <a:lstStyle>
            <a:lvl2pPr>
              <a:defRPr>
                <a:solidFill>
                  <a:schemeClr val="tx1"/>
                </a:solidFill>
              </a:defRPr>
            </a:lvl2pPr>
            <a:lvl3pPr>
              <a:defRPr>
                <a:solidFill>
                  <a:schemeClr val="tx1"/>
                </a:solidFill>
              </a:defRPr>
            </a:lvl3pPr>
          </a:lstStyle>
          <a:p>
            <a:pPr lvl="0"/>
            <a:r>
              <a:rPr lang="en-US" noProof="0" dirty="0"/>
              <a:t>First text level</a:t>
            </a:r>
          </a:p>
          <a:p>
            <a:pPr lvl="1"/>
            <a:r>
              <a:rPr lang="en-US" noProof="0" dirty="0"/>
              <a:t>Second text level</a:t>
            </a:r>
          </a:p>
          <a:p>
            <a:pPr lvl="2"/>
            <a:r>
              <a:rPr lang="en-US" noProof="0" dirty="0"/>
              <a:t>Third text level</a:t>
            </a:r>
          </a:p>
        </p:txBody>
      </p:sp>
      <p:sp>
        <p:nvSpPr>
          <p:cNvPr id="11" name="Inhaltsplatzhalter 8"/>
          <p:cNvSpPr>
            <a:spLocks noGrp="1"/>
          </p:cNvSpPr>
          <p:nvPr>
            <p:ph sz="quarter" idx="17" hasCustomPrompt="1"/>
          </p:nvPr>
        </p:nvSpPr>
        <p:spPr bwMode="gray">
          <a:xfrm>
            <a:off x="6213201" y="2725949"/>
            <a:ext cx="5641467" cy="3390691"/>
          </a:xfrm>
          <a:prstGeom prst="rect">
            <a:avLst/>
          </a:prstGeom>
        </p:spPr>
        <p:txBody>
          <a:bodyPr/>
          <a:lstStyle>
            <a:lvl1pPr>
              <a:defRPr baseline="0"/>
            </a:lvl1pPr>
          </a:lstStyle>
          <a:p>
            <a:pPr lvl="0"/>
            <a:r>
              <a:rPr lang="en-US" noProof="0" dirty="0"/>
              <a:t>Click the content icon you want to use</a:t>
            </a:r>
          </a:p>
        </p:txBody>
      </p:sp>
      <p:sp>
        <p:nvSpPr>
          <p:cNvPr id="8" name="Textplatzhalter 11"/>
          <p:cNvSpPr>
            <a:spLocks noGrp="1"/>
          </p:cNvSpPr>
          <p:nvPr>
            <p:ph type="body" sz="quarter" idx="13" hasCustomPrompt="1"/>
          </p:nvPr>
        </p:nvSpPr>
        <p:spPr bwMode="gray">
          <a:xfrm>
            <a:off x="336552" y="6306346"/>
            <a:ext cx="5348817" cy="443899"/>
          </a:xfrm>
          <a:prstGeom prst="rect">
            <a:avLst/>
          </a:prstGeom>
        </p:spPr>
        <p:txBody>
          <a:bodyPr anchor="b" anchorCtr="0"/>
          <a:lstStyle>
            <a:lvl1pPr>
              <a:spcAft>
                <a:spcPts val="0"/>
              </a:spcAft>
              <a:buFontTx/>
              <a:buNone/>
              <a:defRPr sz="1067">
                <a:solidFill>
                  <a:schemeClr val="tx1"/>
                </a:solidFill>
              </a:defRPr>
            </a:lvl1pPr>
            <a:lvl2pPr>
              <a:spcBef>
                <a:spcPts val="0"/>
              </a:spcBef>
              <a:buFontTx/>
              <a:buNone/>
              <a:defRPr sz="1333">
                <a:solidFill>
                  <a:schemeClr val="tx1"/>
                </a:solidFill>
              </a:defRPr>
            </a:lvl2pPr>
            <a:lvl3pPr marL="0" indent="0">
              <a:spcBef>
                <a:spcPts val="0"/>
              </a:spcBef>
              <a:buFontTx/>
              <a:buNone/>
              <a:defRPr sz="1333">
                <a:solidFill>
                  <a:schemeClr val="tx1"/>
                </a:solidFill>
              </a:defRPr>
            </a:lvl3pPr>
            <a:lvl4pPr marL="0" indent="0">
              <a:spcBef>
                <a:spcPts val="0"/>
              </a:spcBef>
              <a:buFontTx/>
              <a:buNone/>
              <a:defRPr sz="1333">
                <a:solidFill>
                  <a:schemeClr val="tx1"/>
                </a:solidFill>
              </a:defRPr>
            </a:lvl4pPr>
            <a:lvl5pPr marL="0" indent="0">
              <a:spcBef>
                <a:spcPts val="0"/>
              </a:spcBef>
              <a:buFontTx/>
              <a:buNone/>
              <a:defRPr sz="1333">
                <a:solidFill>
                  <a:schemeClr val="tx1"/>
                </a:solidFill>
              </a:defRPr>
            </a:lvl5pPr>
          </a:lstStyle>
          <a:p>
            <a:pPr lvl="0"/>
            <a:r>
              <a:rPr lang="en-US" noProof="0" dirty="0"/>
              <a:t>Source:</a:t>
            </a:r>
          </a:p>
        </p:txBody>
      </p:sp>
      <p:sp>
        <p:nvSpPr>
          <p:cNvPr id="12" name="Titel 8"/>
          <p:cNvSpPr>
            <a:spLocks noGrp="1"/>
          </p:cNvSpPr>
          <p:nvPr>
            <p:ph type="title" hasCustomPrompt="1"/>
          </p:nvPr>
        </p:nvSpPr>
        <p:spPr bwMode="gray">
          <a:xfrm>
            <a:off x="336001" y="40500"/>
            <a:ext cx="11519451" cy="903600"/>
          </a:xfrm>
        </p:spPr>
        <p:txBody>
          <a:bodyPr/>
          <a:lstStyle>
            <a:lvl1pPr>
              <a:defRPr>
                <a:solidFill>
                  <a:schemeClr val="accent5"/>
                </a:solidFill>
              </a:defRPr>
            </a:lvl1pPr>
          </a:lstStyle>
          <a:p>
            <a:r>
              <a:rPr lang="en-US" noProof="0" dirty="0"/>
              <a:t>Click here to add the headline</a:t>
            </a:r>
          </a:p>
        </p:txBody>
      </p:sp>
    </p:spTree>
    <p:extLst>
      <p:ext uri="{BB962C8B-B14F-4D97-AF65-F5344CB8AC3E}">
        <p14:creationId xmlns:p14="http://schemas.microsoft.com/office/powerpoint/2010/main" val="4033211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 Content + Image">
    <p:spTree>
      <p:nvGrpSpPr>
        <p:cNvPr id="1" name=""/>
        <p:cNvGrpSpPr/>
        <p:nvPr/>
      </p:nvGrpSpPr>
      <p:grpSpPr>
        <a:xfrm>
          <a:off x="0" y="0"/>
          <a:ext cx="0" cy="0"/>
          <a:chOff x="0" y="0"/>
          <a:chExt cx="0" cy="0"/>
        </a:xfrm>
      </p:grpSpPr>
      <p:sp>
        <p:nvSpPr>
          <p:cNvPr id="10" name="Bildplatzhalter 9"/>
          <p:cNvSpPr>
            <a:spLocks noGrp="1"/>
          </p:cNvSpPr>
          <p:nvPr>
            <p:ph type="pic" sz="quarter" idx="15" hasCustomPrompt="1"/>
          </p:nvPr>
        </p:nvSpPr>
        <p:spPr bwMode="gray">
          <a:xfrm>
            <a:off x="6216651" y="1557339"/>
            <a:ext cx="5975349" cy="4559300"/>
          </a:xfrm>
          <a:prstGeom prst="rect">
            <a:avLst/>
          </a:prstGeom>
          <a:noFill/>
        </p:spPr>
        <p:txBody>
          <a:bodyPr lIns="72000" tIns="0" bIns="0" anchor="t" anchorCtr="0"/>
          <a:lstStyle>
            <a:lvl1pPr>
              <a:defRPr/>
            </a:lvl1pPr>
          </a:lstStyle>
          <a:p>
            <a:r>
              <a:rPr lang="fr-FR" noProof="0" dirty="0"/>
              <a:t>Image</a:t>
            </a:r>
          </a:p>
        </p:txBody>
      </p:sp>
      <p:sp>
        <p:nvSpPr>
          <p:cNvPr id="6" name="Textplatzhalter 7"/>
          <p:cNvSpPr>
            <a:spLocks noGrp="1"/>
          </p:cNvSpPr>
          <p:nvPr>
            <p:ph type="body" sz="quarter" idx="13" hasCustomPrompt="1"/>
          </p:nvPr>
        </p:nvSpPr>
        <p:spPr bwMode="gray">
          <a:xfrm>
            <a:off x="336000" y="1494002"/>
            <a:ext cx="5640000" cy="4615439"/>
          </a:xfrm>
          <a:prstGeom prst="rect">
            <a:avLst/>
          </a:prstGeo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noProof="0" dirty="0"/>
              <a:t>First text level</a:t>
            </a:r>
          </a:p>
          <a:p>
            <a:pPr lvl="1"/>
            <a:r>
              <a:rPr lang="en-US" noProof="0" dirty="0"/>
              <a:t>Second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a:p>
            <a:pPr lvl="6"/>
            <a:r>
              <a:rPr lang="en-US" noProof="0" dirty="0"/>
              <a:t>Seventh text level</a:t>
            </a:r>
          </a:p>
          <a:p>
            <a:pPr lvl="7"/>
            <a:r>
              <a:rPr lang="en-US" noProof="0" dirty="0"/>
              <a:t>Eight text level</a:t>
            </a:r>
          </a:p>
          <a:p>
            <a:pPr lvl="8"/>
            <a:r>
              <a:rPr lang="en-US" noProof="0" dirty="0"/>
              <a:t>Ninth text level</a:t>
            </a:r>
          </a:p>
        </p:txBody>
      </p:sp>
      <p:sp>
        <p:nvSpPr>
          <p:cNvPr id="8" name="Textplatzhalter 11"/>
          <p:cNvSpPr>
            <a:spLocks noGrp="1"/>
          </p:cNvSpPr>
          <p:nvPr>
            <p:ph type="body" sz="quarter" idx="18" hasCustomPrompt="1"/>
          </p:nvPr>
        </p:nvSpPr>
        <p:spPr bwMode="gray">
          <a:xfrm>
            <a:off x="336552" y="6306346"/>
            <a:ext cx="5348817" cy="443899"/>
          </a:xfrm>
          <a:prstGeom prst="rect">
            <a:avLst/>
          </a:prstGeom>
        </p:spPr>
        <p:txBody>
          <a:bodyPr anchor="b" anchorCtr="0"/>
          <a:lstStyle>
            <a:lvl1pPr>
              <a:spcAft>
                <a:spcPts val="0"/>
              </a:spcAft>
              <a:buFontTx/>
              <a:buNone/>
              <a:defRPr sz="1067">
                <a:solidFill>
                  <a:schemeClr val="tx1"/>
                </a:solidFill>
              </a:defRPr>
            </a:lvl1pPr>
            <a:lvl2pPr>
              <a:spcBef>
                <a:spcPts val="0"/>
              </a:spcBef>
              <a:buFontTx/>
              <a:buNone/>
              <a:defRPr sz="1333">
                <a:solidFill>
                  <a:schemeClr val="tx1"/>
                </a:solidFill>
              </a:defRPr>
            </a:lvl2pPr>
            <a:lvl3pPr marL="0" indent="0">
              <a:spcBef>
                <a:spcPts val="0"/>
              </a:spcBef>
              <a:buFontTx/>
              <a:buNone/>
              <a:defRPr sz="1333">
                <a:solidFill>
                  <a:schemeClr val="tx1"/>
                </a:solidFill>
              </a:defRPr>
            </a:lvl3pPr>
            <a:lvl4pPr marL="0" indent="0">
              <a:spcBef>
                <a:spcPts val="0"/>
              </a:spcBef>
              <a:buFontTx/>
              <a:buNone/>
              <a:defRPr sz="1333">
                <a:solidFill>
                  <a:schemeClr val="tx1"/>
                </a:solidFill>
              </a:defRPr>
            </a:lvl4pPr>
            <a:lvl5pPr marL="0" indent="0">
              <a:spcBef>
                <a:spcPts val="0"/>
              </a:spcBef>
              <a:buFontTx/>
              <a:buNone/>
              <a:defRPr sz="1333">
                <a:solidFill>
                  <a:schemeClr val="tx1"/>
                </a:solidFill>
              </a:defRPr>
            </a:lvl5pPr>
          </a:lstStyle>
          <a:p>
            <a:pPr lvl="0"/>
            <a:r>
              <a:rPr lang="en-US" noProof="0" dirty="0"/>
              <a:t>Source:</a:t>
            </a:r>
          </a:p>
        </p:txBody>
      </p:sp>
      <p:sp>
        <p:nvSpPr>
          <p:cNvPr id="9" name="Titel 8"/>
          <p:cNvSpPr>
            <a:spLocks noGrp="1"/>
          </p:cNvSpPr>
          <p:nvPr>
            <p:ph type="title" hasCustomPrompt="1"/>
          </p:nvPr>
        </p:nvSpPr>
        <p:spPr bwMode="gray">
          <a:xfrm>
            <a:off x="336001" y="40500"/>
            <a:ext cx="11519451" cy="903600"/>
          </a:xfrm>
        </p:spPr>
        <p:txBody>
          <a:bodyPr/>
          <a:lstStyle>
            <a:lvl1pPr>
              <a:defRPr>
                <a:solidFill>
                  <a:schemeClr val="accent5"/>
                </a:solidFill>
              </a:defRPr>
            </a:lvl1pPr>
          </a:lstStyle>
          <a:p>
            <a:r>
              <a:rPr lang="en-US" noProof="0" dirty="0"/>
              <a:t>Click here to add the headline</a:t>
            </a:r>
          </a:p>
        </p:txBody>
      </p:sp>
    </p:spTree>
    <p:extLst>
      <p:ext uri="{BB962C8B-B14F-4D97-AF65-F5344CB8AC3E}">
        <p14:creationId xmlns:p14="http://schemas.microsoft.com/office/powerpoint/2010/main" val="2749913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 Image + Description">
    <p:spTree>
      <p:nvGrpSpPr>
        <p:cNvPr id="1" name=""/>
        <p:cNvGrpSpPr/>
        <p:nvPr/>
      </p:nvGrpSpPr>
      <p:grpSpPr>
        <a:xfrm>
          <a:off x="0" y="0"/>
          <a:ext cx="0" cy="0"/>
          <a:chOff x="0" y="0"/>
          <a:chExt cx="0" cy="0"/>
        </a:xfrm>
      </p:grpSpPr>
      <p:sp>
        <p:nvSpPr>
          <p:cNvPr id="6" name="Textplatzhalter 7"/>
          <p:cNvSpPr>
            <a:spLocks noGrp="1"/>
          </p:cNvSpPr>
          <p:nvPr>
            <p:ph type="body" sz="quarter" idx="13" hasCustomPrompt="1"/>
          </p:nvPr>
        </p:nvSpPr>
        <p:spPr bwMode="gray">
          <a:xfrm>
            <a:off x="336000" y="1494002"/>
            <a:ext cx="5640000" cy="4615439"/>
          </a:xfrm>
          <a:prstGeom prst="rect">
            <a:avLst/>
          </a:prstGeo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noProof="0" dirty="0"/>
              <a:t>First text level</a:t>
            </a:r>
          </a:p>
          <a:p>
            <a:pPr lvl="1"/>
            <a:r>
              <a:rPr lang="en-US" noProof="0" dirty="0"/>
              <a:t>Second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a:p>
            <a:pPr lvl="6"/>
            <a:r>
              <a:rPr lang="en-US" noProof="0" dirty="0"/>
              <a:t>Seventh text level</a:t>
            </a:r>
          </a:p>
          <a:p>
            <a:pPr lvl="7"/>
            <a:r>
              <a:rPr lang="en-US" noProof="0" dirty="0"/>
              <a:t>Eight text level</a:t>
            </a:r>
          </a:p>
          <a:p>
            <a:pPr lvl="8"/>
            <a:r>
              <a:rPr lang="en-US" noProof="0" dirty="0"/>
              <a:t>Ninth text level</a:t>
            </a:r>
          </a:p>
        </p:txBody>
      </p:sp>
      <p:sp>
        <p:nvSpPr>
          <p:cNvPr id="14" name="Textplatzhalter 13"/>
          <p:cNvSpPr>
            <a:spLocks noGrp="1"/>
          </p:cNvSpPr>
          <p:nvPr>
            <p:ph type="body" sz="quarter" idx="16" hasCustomPrompt="1"/>
          </p:nvPr>
        </p:nvSpPr>
        <p:spPr bwMode="gray">
          <a:xfrm>
            <a:off x="6216651" y="5806442"/>
            <a:ext cx="5975349" cy="310199"/>
          </a:xfrm>
          <a:prstGeom prst="rect">
            <a:avLst/>
          </a:prstGeom>
          <a:solidFill>
            <a:schemeClr val="bg1"/>
          </a:solidFill>
        </p:spPr>
        <p:txBody>
          <a:bodyPr rIns="108000" anchor="ctr" anchorCtr="0"/>
          <a:lstStyle>
            <a:lvl1pPr algn="r">
              <a:defRPr sz="1600"/>
            </a:lvl1pPr>
          </a:lstStyle>
          <a:p>
            <a:pPr lvl="0"/>
            <a:r>
              <a:rPr lang="en-US" noProof="0" dirty="0"/>
              <a:t>Image description</a:t>
            </a:r>
          </a:p>
        </p:txBody>
      </p:sp>
      <p:sp>
        <p:nvSpPr>
          <p:cNvPr id="8" name="Textplatzhalter 11"/>
          <p:cNvSpPr>
            <a:spLocks noGrp="1"/>
          </p:cNvSpPr>
          <p:nvPr>
            <p:ph type="body" sz="quarter" idx="19" hasCustomPrompt="1"/>
          </p:nvPr>
        </p:nvSpPr>
        <p:spPr bwMode="gray">
          <a:xfrm>
            <a:off x="336552" y="6306346"/>
            <a:ext cx="5348817" cy="443899"/>
          </a:xfrm>
          <a:prstGeom prst="rect">
            <a:avLst/>
          </a:prstGeom>
        </p:spPr>
        <p:txBody>
          <a:bodyPr anchor="b" anchorCtr="0"/>
          <a:lstStyle>
            <a:lvl1pPr>
              <a:spcAft>
                <a:spcPts val="0"/>
              </a:spcAft>
              <a:buFontTx/>
              <a:buNone/>
              <a:defRPr sz="1067">
                <a:solidFill>
                  <a:schemeClr val="tx1"/>
                </a:solidFill>
              </a:defRPr>
            </a:lvl1pPr>
            <a:lvl2pPr>
              <a:spcBef>
                <a:spcPts val="0"/>
              </a:spcBef>
              <a:buFontTx/>
              <a:buNone/>
              <a:defRPr sz="1333">
                <a:solidFill>
                  <a:schemeClr val="tx1"/>
                </a:solidFill>
              </a:defRPr>
            </a:lvl2pPr>
            <a:lvl3pPr marL="0" indent="0">
              <a:spcBef>
                <a:spcPts val="0"/>
              </a:spcBef>
              <a:buFontTx/>
              <a:buNone/>
              <a:defRPr sz="1333">
                <a:solidFill>
                  <a:schemeClr val="tx1"/>
                </a:solidFill>
              </a:defRPr>
            </a:lvl3pPr>
            <a:lvl4pPr marL="0" indent="0">
              <a:spcBef>
                <a:spcPts val="0"/>
              </a:spcBef>
              <a:buFontTx/>
              <a:buNone/>
              <a:defRPr sz="1333">
                <a:solidFill>
                  <a:schemeClr val="tx1"/>
                </a:solidFill>
              </a:defRPr>
            </a:lvl4pPr>
            <a:lvl5pPr marL="0" indent="0">
              <a:spcBef>
                <a:spcPts val="0"/>
              </a:spcBef>
              <a:buFontTx/>
              <a:buNone/>
              <a:defRPr sz="1333">
                <a:solidFill>
                  <a:schemeClr val="tx1"/>
                </a:solidFill>
              </a:defRPr>
            </a:lvl5pPr>
          </a:lstStyle>
          <a:p>
            <a:pPr lvl="0"/>
            <a:r>
              <a:rPr lang="en-US" noProof="0" dirty="0"/>
              <a:t>Source:</a:t>
            </a:r>
          </a:p>
        </p:txBody>
      </p:sp>
      <p:sp>
        <p:nvSpPr>
          <p:cNvPr id="10" name="Bildplatzhalter 9"/>
          <p:cNvSpPr>
            <a:spLocks noGrp="1"/>
          </p:cNvSpPr>
          <p:nvPr>
            <p:ph type="pic" sz="quarter" idx="15" hasCustomPrompt="1"/>
          </p:nvPr>
        </p:nvSpPr>
        <p:spPr bwMode="gray">
          <a:xfrm>
            <a:off x="6216651" y="1558800"/>
            <a:ext cx="5975349" cy="4247640"/>
          </a:xfrm>
          <a:prstGeom prst="rect">
            <a:avLst/>
          </a:prstGeom>
          <a:noFill/>
        </p:spPr>
        <p:txBody>
          <a:bodyPr lIns="72000" tIns="0" bIns="0" anchor="t" anchorCtr="0"/>
          <a:lstStyle>
            <a:lvl1pPr>
              <a:defRPr/>
            </a:lvl1pPr>
          </a:lstStyle>
          <a:p>
            <a:r>
              <a:rPr lang="fr-FR" noProof="0" dirty="0"/>
              <a:t>Image</a:t>
            </a:r>
          </a:p>
        </p:txBody>
      </p:sp>
      <p:sp>
        <p:nvSpPr>
          <p:cNvPr id="9" name="Titel 8"/>
          <p:cNvSpPr>
            <a:spLocks noGrp="1"/>
          </p:cNvSpPr>
          <p:nvPr>
            <p:ph type="title" hasCustomPrompt="1"/>
          </p:nvPr>
        </p:nvSpPr>
        <p:spPr bwMode="gray">
          <a:xfrm>
            <a:off x="336001" y="40500"/>
            <a:ext cx="11519451" cy="903600"/>
          </a:xfrm>
        </p:spPr>
        <p:txBody>
          <a:bodyPr/>
          <a:lstStyle>
            <a:lvl1pPr>
              <a:defRPr>
                <a:solidFill>
                  <a:schemeClr val="accent5"/>
                </a:solidFill>
              </a:defRPr>
            </a:lvl1pPr>
          </a:lstStyle>
          <a:p>
            <a:r>
              <a:rPr lang="en-US" noProof="0" dirty="0"/>
              <a:t>Click here to add the headline</a:t>
            </a:r>
          </a:p>
        </p:txBody>
      </p:sp>
    </p:spTree>
    <p:extLst>
      <p:ext uri="{BB962C8B-B14F-4D97-AF65-F5344CB8AC3E}">
        <p14:creationId xmlns:p14="http://schemas.microsoft.com/office/powerpoint/2010/main" val="1353706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 Headline + Subheadline only">
    <p:spTree>
      <p:nvGrpSpPr>
        <p:cNvPr id="1" name=""/>
        <p:cNvGrpSpPr/>
        <p:nvPr/>
      </p:nvGrpSpPr>
      <p:grpSpPr>
        <a:xfrm>
          <a:off x="0" y="0"/>
          <a:ext cx="0" cy="0"/>
          <a:chOff x="0" y="0"/>
          <a:chExt cx="0" cy="0"/>
        </a:xfrm>
      </p:grpSpPr>
      <p:sp>
        <p:nvSpPr>
          <p:cNvPr id="7" name="Textplatzhalter 9"/>
          <p:cNvSpPr>
            <a:spLocks noGrp="1"/>
          </p:cNvSpPr>
          <p:nvPr>
            <p:ph type="body" sz="quarter" idx="14" hasCustomPrompt="1"/>
          </p:nvPr>
        </p:nvSpPr>
        <p:spPr bwMode="gray">
          <a:xfrm>
            <a:off x="336000" y="1494000"/>
            <a:ext cx="11518900" cy="309600"/>
          </a:xfrm>
          <a:prstGeom prst="rect">
            <a:avLst/>
          </a:prstGeom>
        </p:spPr>
        <p:txBody>
          <a:bodyPr anchor="b" anchorCtr="0"/>
          <a:lstStyle>
            <a:lvl1pPr marL="0" marR="0" indent="0" algn="l" defTabSz="1219170" rtl="0" eaLnBrk="1" fontAlgn="auto" latinLnBrk="0" hangingPunct="1">
              <a:lnSpc>
                <a:spcPct val="100000"/>
              </a:lnSpc>
              <a:spcBef>
                <a:spcPct val="20000"/>
              </a:spcBef>
              <a:spcAft>
                <a:spcPts val="0"/>
              </a:spcAft>
              <a:buClrTx/>
              <a:buSzTx/>
              <a:buFont typeface="Arial" panose="020B0604020202020204" pitchFamily="34" charset="0"/>
              <a:buNone/>
              <a:tabLst/>
              <a:defRPr sz="2667">
                <a:solidFill>
                  <a:schemeClr val="tx1"/>
                </a:solidFill>
              </a:defRPr>
            </a:lvl1pPr>
          </a:lstStyle>
          <a:p>
            <a:pPr marL="0" marR="0" lvl="0" indent="0" algn="l" defTabSz="1219170" rtl="0" eaLnBrk="1" fontAlgn="auto" latinLnBrk="0" hangingPunct="1">
              <a:lnSpc>
                <a:spcPct val="100000"/>
              </a:lnSpc>
              <a:spcBef>
                <a:spcPct val="20000"/>
              </a:spcBef>
              <a:spcAft>
                <a:spcPts val="0"/>
              </a:spcAft>
              <a:buClrTx/>
              <a:buSzTx/>
              <a:buFont typeface="Arial" panose="020B0604020202020204" pitchFamily="34" charset="0"/>
              <a:buNone/>
              <a:tabLst/>
              <a:defRPr/>
            </a:pPr>
            <a:r>
              <a:rPr lang="en-US" noProof="0" dirty="0"/>
              <a:t>Click here to add text for the </a:t>
            </a:r>
            <a:r>
              <a:rPr lang="en-US" noProof="0" dirty="0" err="1"/>
              <a:t>subheadline</a:t>
            </a:r>
            <a:r>
              <a:rPr lang="en-US" noProof="0" dirty="0"/>
              <a:t> </a:t>
            </a:r>
          </a:p>
        </p:txBody>
      </p:sp>
      <p:sp>
        <p:nvSpPr>
          <p:cNvPr id="6" name="Textplatzhalter 11"/>
          <p:cNvSpPr>
            <a:spLocks noGrp="1"/>
          </p:cNvSpPr>
          <p:nvPr>
            <p:ph type="body" sz="quarter" idx="13" hasCustomPrompt="1"/>
          </p:nvPr>
        </p:nvSpPr>
        <p:spPr bwMode="gray">
          <a:xfrm>
            <a:off x="336552" y="6306346"/>
            <a:ext cx="5348817" cy="443899"/>
          </a:xfrm>
          <a:prstGeom prst="rect">
            <a:avLst/>
          </a:prstGeom>
        </p:spPr>
        <p:txBody>
          <a:bodyPr anchor="b" anchorCtr="0"/>
          <a:lstStyle>
            <a:lvl1pPr>
              <a:spcAft>
                <a:spcPts val="0"/>
              </a:spcAft>
              <a:buFontTx/>
              <a:buNone/>
              <a:defRPr sz="1067">
                <a:solidFill>
                  <a:schemeClr val="tx1"/>
                </a:solidFill>
              </a:defRPr>
            </a:lvl1pPr>
            <a:lvl2pPr>
              <a:spcBef>
                <a:spcPts val="0"/>
              </a:spcBef>
              <a:buFontTx/>
              <a:buNone/>
              <a:defRPr sz="1333">
                <a:solidFill>
                  <a:schemeClr val="tx1"/>
                </a:solidFill>
              </a:defRPr>
            </a:lvl2pPr>
            <a:lvl3pPr marL="0" indent="0">
              <a:spcBef>
                <a:spcPts val="0"/>
              </a:spcBef>
              <a:buFontTx/>
              <a:buNone/>
              <a:defRPr sz="1333">
                <a:solidFill>
                  <a:schemeClr val="tx1"/>
                </a:solidFill>
              </a:defRPr>
            </a:lvl3pPr>
            <a:lvl4pPr marL="0" indent="0">
              <a:spcBef>
                <a:spcPts val="0"/>
              </a:spcBef>
              <a:buFontTx/>
              <a:buNone/>
              <a:defRPr sz="1333">
                <a:solidFill>
                  <a:schemeClr val="tx1"/>
                </a:solidFill>
              </a:defRPr>
            </a:lvl4pPr>
            <a:lvl5pPr marL="0" indent="0">
              <a:spcBef>
                <a:spcPts val="0"/>
              </a:spcBef>
              <a:buFontTx/>
              <a:buNone/>
              <a:defRPr sz="1333">
                <a:solidFill>
                  <a:schemeClr val="tx1"/>
                </a:solidFill>
              </a:defRPr>
            </a:lvl5pPr>
          </a:lstStyle>
          <a:p>
            <a:pPr lvl="0"/>
            <a:r>
              <a:rPr lang="en-US" noProof="0" dirty="0"/>
              <a:t>Source:</a:t>
            </a:r>
          </a:p>
        </p:txBody>
      </p:sp>
      <p:sp>
        <p:nvSpPr>
          <p:cNvPr id="5" name="Titel 8"/>
          <p:cNvSpPr>
            <a:spLocks noGrp="1"/>
          </p:cNvSpPr>
          <p:nvPr>
            <p:ph type="title" hasCustomPrompt="1"/>
          </p:nvPr>
        </p:nvSpPr>
        <p:spPr bwMode="gray">
          <a:xfrm>
            <a:off x="336001" y="40500"/>
            <a:ext cx="11519451" cy="903600"/>
          </a:xfrm>
        </p:spPr>
        <p:txBody>
          <a:bodyPr/>
          <a:lstStyle>
            <a:lvl1pPr>
              <a:defRPr>
                <a:solidFill>
                  <a:schemeClr val="accent5"/>
                </a:solidFill>
              </a:defRPr>
            </a:lvl1pPr>
          </a:lstStyle>
          <a:p>
            <a:r>
              <a:rPr lang="en-US" noProof="0" dirty="0"/>
              <a:t>Click here to add the headline</a:t>
            </a:r>
          </a:p>
        </p:txBody>
      </p:sp>
    </p:spTree>
    <p:extLst>
      <p:ext uri="{BB962C8B-B14F-4D97-AF65-F5344CB8AC3E}">
        <p14:creationId xmlns:p14="http://schemas.microsoft.com/office/powerpoint/2010/main" val="1467650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eadline only">
    <p:spTree>
      <p:nvGrpSpPr>
        <p:cNvPr id="1" name=""/>
        <p:cNvGrpSpPr/>
        <p:nvPr/>
      </p:nvGrpSpPr>
      <p:grpSpPr>
        <a:xfrm>
          <a:off x="0" y="0"/>
          <a:ext cx="0" cy="0"/>
          <a:chOff x="0" y="0"/>
          <a:chExt cx="0" cy="0"/>
        </a:xfrm>
      </p:grpSpPr>
      <p:sp>
        <p:nvSpPr>
          <p:cNvPr id="5" name="Textplatzhalter 11"/>
          <p:cNvSpPr>
            <a:spLocks noGrp="1"/>
          </p:cNvSpPr>
          <p:nvPr>
            <p:ph type="body" sz="quarter" idx="13" hasCustomPrompt="1"/>
          </p:nvPr>
        </p:nvSpPr>
        <p:spPr bwMode="gray">
          <a:xfrm>
            <a:off x="336552" y="6306346"/>
            <a:ext cx="5348817" cy="443899"/>
          </a:xfrm>
          <a:prstGeom prst="rect">
            <a:avLst/>
          </a:prstGeom>
        </p:spPr>
        <p:txBody>
          <a:bodyPr anchor="b" anchorCtr="0"/>
          <a:lstStyle>
            <a:lvl1pPr>
              <a:spcAft>
                <a:spcPts val="0"/>
              </a:spcAft>
              <a:buFontTx/>
              <a:buNone/>
              <a:defRPr sz="1067">
                <a:solidFill>
                  <a:schemeClr val="tx1"/>
                </a:solidFill>
              </a:defRPr>
            </a:lvl1pPr>
            <a:lvl2pPr>
              <a:spcBef>
                <a:spcPts val="0"/>
              </a:spcBef>
              <a:buFontTx/>
              <a:buNone/>
              <a:defRPr sz="1333">
                <a:solidFill>
                  <a:schemeClr val="tx1"/>
                </a:solidFill>
              </a:defRPr>
            </a:lvl2pPr>
            <a:lvl3pPr marL="0" indent="0">
              <a:spcBef>
                <a:spcPts val="0"/>
              </a:spcBef>
              <a:buFontTx/>
              <a:buNone/>
              <a:defRPr sz="1333">
                <a:solidFill>
                  <a:schemeClr val="tx1"/>
                </a:solidFill>
              </a:defRPr>
            </a:lvl3pPr>
            <a:lvl4pPr marL="0" indent="0">
              <a:spcBef>
                <a:spcPts val="0"/>
              </a:spcBef>
              <a:buFontTx/>
              <a:buNone/>
              <a:defRPr sz="1333">
                <a:solidFill>
                  <a:schemeClr val="tx1"/>
                </a:solidFill>
              </a:defRPr>
            </a:lvl4pPr>
            <a:lvl5pPr marL="0" indent="0">
              <a:spcBef>
                <a:spcPts val="0"/>
              </a:spcBef>
              <a:buFontTx/>
              <a:buNone/>
              <a:defRPr sz="1333">
                <a:solidFill>
                  <a:schemeClr val="tx1"/>
                </a:solidFill>
              </a:defRPr>
            </a:lvl5pPr>
          </a:lstStyle>
          <a:p>
            <a:pPr lvl="0"/>
            <a:r>
              <a:rPr lang="en-US" noProof="0" dirty="0"/>
              <a:t>Source:</a:t>
            </a:r>
          </a:p>
        </p:txBody>
      </p:sp>
      <p:sp>
        <p:nvSpPr>
          <p:cNvPr id="6" name="Titel 8"/>
          <p:cNvSpPr>
            <a:spLocks noGrp="1"/>
          </p:cNvSpPr>
          <p:nvPr>
            <p:ph type="title" hasCustomPrompt="1"/>
          </p:nvPr>
        </p:nvSpPr>
        <p:spPr bwMode="gray">
          <a:xfrm>
            <a:off x="336001" y="40500"/>
            <a:ext cx="11519451" cy="903600"/>
          </a:xfrm>
        </p:spPr>
        <p:txBody>
          <a:bodyPr/>
          <a:lstStyle>
            <a:lvl1pPr>
              <a:defRPr>
                <a:solidFill>
                  <a:schemeClr val="accent5"/>
                </a:solidFill>
              </a:defRPr>
            </a:lvl1pPr>
          </a:lstStyle>
          <a:p>
            <a:r>
              <a:rPr lang="en-US" noProof="0" dirty="0"/>
              <a:t>Click here to add the headline</a:t>
            </a:r>
          </a:p>
        </p:txBody>
      </p:sp>
    </p:spTree>
    <p:extLst>
      <p:ext uri="{BB962C8B-B14F-4D97-AF65-F5344CB8AC3E}">
        <p14:creationId xmlns:p14="http://schemas.microsoft.com/office/powerpoint/2010/main" val="6831495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844063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t" anchorCtr="0" forceAA="0" compatLnSpc="1">
            <a:prstTxWarp prst="textNoShape">
              <a:avLst/>
            </a:prstTxWarp>
            <a:noAutofit/>
          </a:bodyPr>
          <a:lstStyle/>
          <a:p>
            <a:pPr algn="ctr"/>
            <a:endParaRPr lang="en-US" sz="1600" b="1" dirty="0">
              <a:solidFill>
                <a:srgbClr val="6D6D6D"/>
              </a:solidFill>
            </a:endParaRPr>
          </a:p>
        </p:txBody>
      </p:sp>
      <p:pic>
        <p:nvPicPr>
          <p:cNvPr id="3" name="F25E1CD4-A583-4BB2-82B1-EA8448AABC97" descr="95C080D9-D9F9-4764-A9F0-7C86F910EFA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50635" y="4413451"/>
            <a:ext cx="3839800" cy="16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p:cNvSpPr>
            <a:spLocks noGrp="1"/>
          </p:cNvSpPr>
          <p:nvPr>
            <p:ph type="title"/>
          </p:nvPr>
        </p:nvSpPr>
        <p:spPr>
          <a:xfrm>
            <a:off x="1928009" y="2261185"/>
            <a:ext cx="8577284" cy="903600"/>
          </a:xfrm>
        </p:spPr>
        <p:txBody>
          <a:bodyPr/>
          <a:lstStyle>
            <a:lvl1pPr>
              <a:defRPr>
                <a:solidFill>
                  <a:schemeClr val="accent5"/>
                </a:solidFill>
              </a:defRPr>
            </a:lvl1pPr>
          </a:lstStyle>
          <a:p>
            <a:r>
              <a:rPr lang="fr-FR" sz="4533"/>
              <a:t>Modifiez le style du titre</a:t>
            </a:r>
            <a:endParaRPr lang="fr-FR" sz="4533" dirty="0"/>
          </a:p>
        </p:txBody>
      </p:sp>
    </p:spTree>
    <p:extLst>
      <p:ext uri="{BB962C8B-B14F-4D97-AF65-F5344CB8AC3E}">
        <p14:creationId xmlns:p14="http://schemas.microsoft.com/office/powerpoint/2010/main" val="20501194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4_General content">
    <p:bg bwMode="gray">
      <p:bgRef idx="1001">
        <a:schemeClr val="bg1"/>
      </p:bgRef>
    </p:bg>
    <p:spTree>
      <p:nvGrpSpPr>
        <p:cNvPr id="1" name=""/>
        <p:cNvGrpSpPr/>
        <p:nvPr/>
      </p:nvGrpSpPr>
      <p:grpSpPr>
        <a:xfrm>
          <a:off x="0" y="0"/>
          <a:ext cx="0" cy="0"/>
          <a:chOff x="0" y="0"/>
          <a:chExt cx="0" cy="0"/>
        </a:xfrm>
      </p:grpSpPr>
      <p:sp>
        <p:nvSpPr>
          <p:cNvPr id="10" name="Textplatzhalter 2"/>
          <p:cNvSpPr>
            <a:spLocks noGrp="1"/>
          </p:cNvSpPr>
          <p:nvPr>
            <p:ph idx="1" hasCustomPrompt="1"/>
          </p:nvPr>
        </p:nvSpPr>
        <p:spPr bwMode="gray">
          <a:xfrm>
            <a:off x="336000" y="1494002"/>
            <a:ext cx="11520000" cy="4622639"/>
          </a:xfrm>
          <a:prstGeom prst="rect">
            <a:avLst/>
          </a:prstGeom>
        </p:spPr>
        <p:txBody>
          <a:bodyPr vert="horz" lIns="0" tIns="0" rIns="0" bIns="0" rtlCol="0">
            <a:noAutofit/>
          </a:bodyPr>
          <a:lstStyle>
            <a:lvl2pPr>
              <a:defRPr>
                <a:solidFill>
                  <a:schemeClr val="tx1"/>
                </a:solidFill>
              </a:defRPr>
            </a:lvl2pPr>
            <a:lvl3pPr>
              <a:defRPr>
                <a:solidFill>
                  <a:schemeClr val="tx1"/>
                </a:solidFill>
              </a:defRPr>
            </a:lvl3pPr>
            <a:lvl4pPr>
              <a:defRPr>
                <a:solidFill>
                  <a:schemeClr val="tx1"/>
                </a:solidFill>
              </a:defRPr>
            </a:lvl4pPr>
            <a:lvl5pPr>
              <a:defRPr baseline="0">
                <a:solidFill>
                  <a:schemeClr val="tx1"/>
                </a:solidFill>
              </a:defRPr>
            </a:lvl5pPr>
            <a:lvl6pPr>
              <a:defRPr>
                <a:solidFill>
                  <a:schemeClr val="tx1"/>
                </a:solidFill>
              </a:defRPr>
            </a:lvl6pPr>
          </a:lstStyle>
          <a:p>
            <a:pPr lvl="0"/>
            <a:r>
              <a:rPr lang="en-US" noProof="0" dirty="0"/>
              <a:t>First text level</a:t>
            </a:r>
          </a:p>
          <a:p>
            <a:pPr lvl="1"/>
            <a:r>
              <a:rPr lang="en-US" noProof="0" dirty="0"/>
              <a:t>Second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9" name="Titel 8"/>
          <p:cNvSpPr>
            <a:spLocks noGrp="1"/>
          </p:cNvSpPr>
          <p:nvPr>
            <p:ph type="title" hasCustomPrompt="1"/>
          </p:nvPr>
        </p:nvSpPr>
        <p:spPr bwMode="gray"/>
        <p:txBody>
          <a:bodyPr/>
          <a:lstStyle>
            <a:lvl1pPr>
              <a:defRPr>
                <a:latin typeface="Canal+" pitchFamily="2" charset="0"/>
              </a:defRPr>
            </a:lvl1pPr>
          </a:lstStyle>
          <a:p>
            <a:r>
              <a:rPr lang="en-US" noProof="0" dirty="0"/>
              <a:t>Click here to add the headline</a:t>
            </a:r>
          </a:p>
        </p:txBody>
      </p:sp>
    </p:spTree>
    <p:extLst>
      <p:ext uri="{BB962C8B-B14F-4D97-AF65-F5344CB8AC3E}">
        <p14:creationId xmlns:p14="http://schemas.microsoft.com/office/powerpoint/2010/main" val="3941697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3_General content">
    <p:bg bwMode="gray">
      <p:bgRef idx="1001">
        <a:schemeClr val="bg1"/>
      </p:bgRef>
    </p:bg>
    <p:spTree>
      <p:nvGrpSpPr>
        <p:cNvPr id="1" name=""/>
        <p:cNvGrpSpPr/>
        <p:nvPr/>
      </p:nvGrpSpPr>
      <p:grpSpPr>
        <a:xfrm>
          <a:off x="0" y="0"/>
          <a:ext cx="0" cy="0"/>
          <a:chOff x="0" y="0"/>
          <a:chExt cx="0" cy="0"/>
        </a:xfrm>
      </p:grpSpPr>
      <p:sp>
        <p:nvSpPr>
          <p:cNvPr id="10" name="Textplatzhalter 2"/>
          <p:cNvSpPr>
            <a:spLocks noGrp="1"/>
          </p:cNvSpPr>
          <p:nvPr>
            <p:ph idx="1" hasCustomPrompt="1"/>
          </p:nvPr>
        </p:nvSpPr>
        <p:spPr bwMode="gray">
          <a:xfrm>
            <a:off x="336000" y="1494002"/>
            <a:ext cx="11520000" cy="4622639"/>
          </a:xfrm>
          <a:prstGeom prst="rect">
            <a:avLst/>
          </a:prstGeom>
        </p:spPr>
        <p:txBody>
          <a:bodyPr vert="horz" lIns="0" tIns="0" rIns="0" bIns="0" rtlCol="0">
            <a:noAutofit/>
          </a:bodyPr>
          <a:lstStyle>
            <a:lvl2pPr>
              <a:defRPr>
                <a:solidFill>
                  <a:schemeClr val="tx1"/>
                </a:solidFill>
              </a:defRPr>
            </a:lvl2pPr>
            <a:lvl3pPr>
              <a:defRPr>
                <a:solidFill>
                  <a:schemeClr val="tx1"/>
                </a:solidFill>
              </a:defRPr>
            </a:lvl3pPr>
            <a:lvl4pPr>
              <a:defRPr>
                <a:solidFill>
                  <a:schemeClr val="tx1"/>
                </a:solidFill>
              </a:defRPr>
            </a:lvl4pPr>
            <a:lvl5pPr>
              <a:defRPr baseline="0">
                <a:solidFill>
                  <a:schemeClr val="tx1"/>
                </a:solidFill>
              </a:defRPr>
            </a:lvl5pPr>
            <a:lvl6pPr>
              <a:defRPr>
                <a:solidFill>
                  <a:schemeClr val="tx1"/>
                </a:solidFill>
              </a:defRPr>
            </a:lvl6pPr>
          </a:lstStyle>
          <a:p>
            <a:pPr lvl="0"/>
            <a:r>
              <a:rPr lang="fr-FR" noProof="0" dirty="0"/>
              <a:t>First </a:t>
            </a:r>
            <a:r>
              <a:rPr lang="fr-FR" noProof="0" dirty="0" err="1"/>
              <a:t>text</a:t>
            </a:r>
            <a:r>
              <a:rPr lang="fr-FR" noProof="0" dirty="0"/>
              <a:t> </a:t>
            </a:r>
            <a:r>
              <a:rPr lang="fr-FR" noProof="0" dirty="0" err="1"/>
              <a:t>level</a:t>
            </a:r>
            <a:endParaRPr lang="fr-FR" noProof="0" dirty="0"/>
          </a:p>
          <a:p>
            <a:pPr lvl="1"/>
            <a:r>
              <a:rPr lang="fr-FR" noProof="0" dirty="0"/>
              <a:t>Second </a:t>
            </a:r>
            <a:r>
              <a:rPr lang="fr-FR" noProof="0" dirty="0" err="1"/>
              <a:t>text</a:t>
            </a:r>
            <a:r>
              <a:rPr lang="fr-FR" noProof="0" dirty="0"/>
              <a:t> </a:t>
            </a:r>
            <a:r>
              <a:rPr lang="fr-FR" noProof="0" dirty="0" err="1"/>
              <a:t>level</a:t>
            </a:r>
            <a:endParaRPr lang="fr-FR" noProof="0" dirty="0"/>
          </a:p>
          <a:p>
            <a:pPr lvl="2"/>
            <a:r>
              <a:rPr lang="fr-FR" noProof="0" dirty="0" err="1"/>
              <a:t>Third</a:t>
            </a:r>
            <a:r>
              <a:rPr lang="fr-FR" noProof="0" dirty="0"/>
              <a:t> </a:t>
            </a:r>
            <a:r>
              <a:rPr lang="fr-FR" noProof="0" dirty="0" err="1"/>
              <a:t>text</a:t>
            </a:r>
            <a:r>
              <a:rPr lang="fr-FR" noProof="0" dirty="0"/>
              <a:t> </a:t>
            </a:r>
            <a:r>
              <a:rPr lang="fr-FR" noProof="0" dirty="0" err="1"/>
              <a:t>level</a:t>
            </a:r>
            <a:endParaRPr lang="fr-FR" noProof="0" dirty="0"/>
          </a:p>
          <a:p>
            <a:pPr lvl="3"/>
            <a:r>
              <a:rPr lang="fr-FR" noProof="0" dirty="0" err="1"/>
              <a:t>Fourth</a:t>
            </a:r>
            <a:r>
              <a:rPr lang="fr-FR" noProof="0" dirty="0"/>
              <a:t> </a:t>
            </a:r>
            <a:r>
              <a:rPr lang="fr-FR" noProof="0" dirty="0" err="1"/>
              <a:t>text</a:t>
            </a:r>
            <a:r>
              <a:rPr lang="fr-FR" noProof="0" dirty="0"/>
              <a:t> </a:t>
            </a:r>
            <a:r>
              <a:rPr lang="fr-FR" noProof="0" dirty="0" err="1"/>
              <a:t>level</a:t>
            </a:r>
            <a:endParaRPr lang="fr-FR" noProof="0" dirty="0"/>
          </a:p>
          <a:p>
            <a:pPr lvl="4"/>
            <a:r>
              <a:rPr lang="fr-FR" noProof="0" dirty="0" err="1"/>
              <a:t>Fifth</a:t>
            </a:r>
            <a:r>
              <a:rPr lang="fr-FR" noProof="0" dirty="0"/>
              <a:t> </a:t>
            </a:r>
            <a:r>
              <a:rPr lang="fr-FR" noProof="0" dirty="0" err="1"/>
              <a:t>text</a:t>
            </a:r>
            <a:r>
              <a:rPr lang="fr-FR" noProof="0" dirty="0"/>
              <a:t> </a:t>
            </a:r>
            <a:r>
              <a:rPr lang="fr-FR" noProof="0" dirty="0" err="1"/>
              <a:t>level</a:t>
            </a:r>
            <a:endParaRPr lang="fr-FR" noProof="0" dirty="0"/>
          </a:p>
          <a:p>
            <a:pPr lvl="5"/>
            <a:r>
              <a:rPr lang="fr-FR" noProof="0" dirty="0" err="1"/>
              <a:t>Sixth</a:t>
            </a:r>
            <a:r>
              <a:rPr lang="fr-FR" noProof="0" dirty="0"/>
              <a:t> </a:t>
            </a:r>
            <a:r>
              <a:rPr lang="fr-FR" noProof="0" dirty="0" err="1"/>
              <a:t>text</a:t>
            </a:r>
            <a:r>
              <a:rPr lang="fr-FR" noProof="0" dirty="0"/>
              <a:t> </a:t>
            </a:r>
            <a:r>
              <a:rPr lang="fr-FR" noProof="0" dirty="0" err="1"/>
              <a:t>level</a:t>
            </a:r>
            <a:endParaRPr lang="fr-FR" noProof="0" dirty="0"/>
          </a:p>
        </p:txBody>
      </p:sp>
      <p:sp>
        <p:nvSpPr>
          <p:cNvPr id="12" name="Textplatzhalter 11"/>
          <p:cNvSpPr>
            <a:spLocks noGrp="1"/>
          </p:cNvSpPr>
          <p:nvPr>
            <p:ph type="body" sz="quarter" idx="13" hasCustomPrompt="1"/>
          </p:nvPr>
        </p:nvSpPr>
        <p:spPr bwMode="gray">
          <a:xfrm>
            <a:off x="336552" y="6306346"/>
            <a:ext cx="5348817" cy="443899"/>
          </a:xfrm>
          <a:prstGeom prst="rect">
            <a:avLst/>
          </a:prstGeom>
        </p:spPr>
        <p:txBody>
          <a:bodyPr anchor="b" anchorCtr="0"/>
          <a:lstStyle>
            <a:lvl1pPr>
              <a:spcAft>
                <a:spcPts val="0"/>
              </a:spcAft>
              <a:buFontTx/>
              <a:buNone/>
              <a:defRPr sz="1067">
                <a:solidFill>
                  <a:schemeClr val="tx1"/>
                </a:solidFill>
              </a:defRPr>
            </a:lvl1pPr>
            <a:lvl2pPr>
              <a:spcBef>
                <a:spcPts val="0"/>
              </a:spcBef>
              <a:buFontTx/>
              <a:buNone/>
              <a:defRPr sz="1333">
                <a:solidFill>
                  <a:schemeClr val="tx1"/>
                </a:solidFill>
              </a:defRPr>
            </a:lvl2pPr>
            <a:lvl3pPr marL="0" indent="0">
              <a:spcBef>
                <a:spcPts val="0"/>
              </a:spcBef>
              <a:buFontTx/>
              <a:buNone/>
              <a:defRPr sz="1333">
                <a:solidFill>
                  <a:schemeClr val="tx1"/>
                </a:solidFill>
              </a:defRPr>
            </a:lvl3pPr>
            <a:lvl4pPr marL="0" indent="0">
              <a:spcBef>
                <a:spcPts val="0"/>
              </a:spcBef>
              <a:buFontTx/>
              <a:buNone/>
              <a:defRPr sz="1333">
                <a:solidFill>
                  <a:schemeClr val="tx1"/>
                </a:solidFill>
              </a:defRPr>
            </a:lvl4pPr>
            <a:lvl5pPr marL="0" indent="0">
              <a:spcBef>
                <a:spcPts val="0"/>
              </a:spcBef>
              <a:buFontTx/>
              <a:buNone/>
              <a:defRPr sz="1333">
                <a:solidFill>
                  <a:schemeClr val="tx1"/>
                </a:solidFill>
              </a:defRPr>
            </a:lvl5pPr>
          </a:lstStyle>
          <a:p>
            <a:pPr lvl="0"/>
            <a:r>
              <a:rPr lang="fr-FR" noProof="0" dirty="0"/>
              <a:t>Source:</a:t>
            </a:r>
          </a:p>
        </p:txBody>
      </p:sp>
      <p:sp>
        <p:nvSpPr>
          <p:cNvPr id="5" name="Titel 8"/>
          <p:cNvSpPr>
            <a:spLocks noGrp="1"/>
          </p:cNvSpPr>
          <p:nvPr>
            <p:ph type="title" hasCustomPrompt="1"/>
          </p:nvPr>
        </p:nvSpPr>
        <p:spPr bwMode="gray">
          <a:xfrm>
            <a:off x="336001" y="40500"/>
            <a:ext cx="11519451" cy="903600"/>
          </a:xfrm>
        </p:spPr>
        <p:txBody>
          <a:bodyPr/>
          <a:lstStyle>
            <a:lvl1pPr>
              <a:defRPr>
                <a:solidFill>
                  <a:schemeClr val="accent5"/>
                </a:solidFill>
              </a:defRPr>
            </a:lvl1pPr>
          </a:lstStyle>
          <a:p>
            <a:r>
              <a:rPr lang="en-US" noProof="0" dirty="0"/>
              <a:t>Click here to add the headline</a:t>
            </a:r>
          </a:p>
        </p:txBody>
      </p:sp>
    </p:spTree>
    <p:extLst>
      <p:ext uri="{BB962C8B-B14F-4D97-AF65-F5344CB8AC3E}">
        <p14:creationId xmlns:p14="http://schemas.microsoft.com/office/powerpoint/2010/main" val="1476528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re seul">
    <p:spTree>
      <p:nvGrpSpPr>
        <p:cNvPr id="1" name=""/>
        <p:cNvGrpSpPr/>
        <p:nvPr/>
      </p:nvGrpSpPr>
      <p:grpSpPr>
        <a:xfrm>
          <a:off x="0" y="0"/>
          <a:ext cx="0" cy="0"/>
          <a:chOff x="0" y="0"/>
          <a:chExt cx="0" cy="0"/>
        </a:xfrm>
      </p:grpSpPr>
      <p:sp>
        <p:nvSpPr>
          <p:cNvPr id="3" name="Título 2"/>
          <p:cNvSpPr>
            <a:spLocks noGrp="1"/>
          </p:cNvSpPr>
          <p:nvPr>
            <p:ph type="title"/>
          </p:nvPr>
        </p:nvSpPr>
        <p:spPr/>
        <p:txBody>
          <a:bodyPr/>
          <a:lstStyle/>
          <a:p>
            <a:r>
              <a:rPr lang="fr-FR"/>
              <a:t>Modifiez le style du titre</a:t>
            </a:r>
            <a:endParaRPr lang="en-US" dirty="0"/>
          </a:p>
        </p:txBody>
      </p:sp>
    </p:spTree>
    <p:extLst>
      <p:ext uri="{BB962C8B-B14F-4D97-AF65-F5344CB8AC3E}">
        <p14:creationId xmlns:p14="http://schemas.microsoft.com/office/powerpoint/2010/main" val="3093785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4_General content">
    <p:bg bwMode="gray">
      <p:bgRef idx="1001">
        <a:schemeClr val="bg1"/>
      </p:bgRef>
    </p:bg>
    <p:spTree>
      <p:nvGrpSpPr>
        <p:cNvPr id="1" name=""/>
        <p:cNvGrpSpPr/>
        <p:nvPr/>
      </p:nvGrpSpPr>
      <p:grpSpPr>
        <a:xfrm>
          <a:off x="0" y="0"/>
          <a:ext cx="0" cy="0"/>
          <a:chOff x="0" y="0"/>
          <a:chExt cx="0" cy="0"/>
        </a:xfrm>
      </p:grpSpPr>
      <p:sp>
        <p:nvSpPr>
          <p:cNvPr id="10" name="Textplatzhalter 2"/>
          <p:cNvSpPr>
            <a:spLocks noGrp="1"/>
          </p:cNvSpPr>
          <p:nvPr>
            <p:ph idx="1" hasCustomPrompt="1"/>
          </p:nvPr>
        </p:nvSpPr>
        <p:spPr bwMode="gray">
          <a:xfrm>
            <a:off x="336000" y="1494002"/>
            <a:ext cx="11520000" cy="4622639"/>
          </a:xfrm>
          <a:prstGeom prst="rect">
            <a:avLst/>
          </a:prstGeom>
        </p:spPr>
        <p:txBody>
          <a:bodyPr vert="horz" lIns="0" tIns="0" rIns="0" bIns="0" rtlCol="0">
            <a:noAutofit/>
          </a:bodyPr>
          <a:lstStyle>
            <a:lvl2pPr>
              <a:defRPr>
                <a:solidFill>
                  <a:schemeClr val="tx1"/>
                </a:solidFill>
              </a:defRPr>
            </a:lvl2pPr>
            <a:lvl3pPr>
              <a:defRPr>
                <a:solidFill>
                  <a:schemeClr val="tx1"/>
                </a:solidFill>
              </a:defRPr>
            </a:lvl3pPr>
            <a:lvl4pPr>
              <a:defRPr>
                <a:solidFill>
                  <a:schemeClr val="tx1"/>
                </a:solidFill>
              </a:defRPr>
            </a:lvl4pPr>
            <a:lvl5pPr>
              <a:defRPr baseline="0">
                <a:solidFill>
                  <a:schemeClr val="tx1"/>
                </a:solidFill>
              </a:defRPr>
            </a:lvl5pPr>
            <a:lvl6pPr>
              <a:defRPr>
                <a:solidFill>
                  <a:schemeClr val="tx1"/>
                </a:solidFill>
              </a:defRPr>
            </a:lvl6pPr>
          </a:lstStyle>
          <a:p>
            <a:pPr lvl="0"/>
            <a:r>
              <a:rPr lang="en-US" noProof="0" dirty="0"/>
              <a:t>First text level</a:t>
            </a:r>
          </a:p>
          <a:p>
            <a:pPr lvl="1"/>
            <a:r>
              <a:rPr lang="en-US" noProof="0" dirty="0"/>
              <a:t>Second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9" name="Titel 8"/>
          <p:cNvSpPr>
            <a:spLocks noGrp="1"/>
          </p:cNvSpPr>
          <p:nvPr>
            <p:ph type="title" hasCustomPrompt="1"/>
          </p:nvPr>
        </p:nvSpPr>
        <p:spPr bwMode="gray"/>
        <p:txBody>
          <a:bodyPr/>
          <a:lstStyle/>
          <a:p>
            <a:r>
              <a:rPr lang="en-US" noProof="0" dirty="0"/>
              <a:t>Click here to add the headline</a:t>
            </a:r>
          </a:p>
        </p:txBody>
      </p:sp>
    </p:spTree>
    <p:extLst>
      <p:ext uri="{BB962C8B-B14F-4D97-AF65-F5344CB8AC3E}">
        <p14:creationId xmlns:p14="http://schemas.microsoft.com/office/powerpoint/2010/main" val="21136226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2_General content">
    <p:bg bwMode="gray">
      <p:bgRef idx="1001">
        <a:schemeClr val="bg1"/>
      </p:bgRef>
    </p:bg>
    <p:spTree>
      <p:nvGrpSpPr>
        <p:cNvPr id="1" name=""/>
        <p:cNvGrpSpPr/>
        <p:nvPr/>
      </p:nvGrpSpPr>
      <p:grpSpPr>
        <a:xfrm>
          <a:off x="0" y="0"/>
          <a:ext cx="0" cy="0"/>
          <a:chOff x="0" y="0"/>
          <a:chExt cx="0" cy="0"/>
        </a:xfrm>
      </p:grpSpPr>
      <p:sp>
        <p:nvSpPr>
          <p:cNvPr id="10" name="Textplatzhalter 2"/>
          <p:cNvSpPr>
            <a:spLocks noGrp="1"/>
          </p:cNvSpPr>
          <p:nvPr>
            <p:ph idx="1" hasCustomPrompt="1"/>
          </p:nvPr>
        </p:nvSpPr>
        <p:spPr bwMode="gray">
          <a:xfrm>
            <a:off x="336000" y="1494002"/>
            <a:ext cx="11520000" cy="4622639"/>
          </a:xfrm>
          <a:prstGeom prst="rect">
            <a:avLst/>
          </a:prstGeom>
        </p:spPr>
        <p:txBody>
          <a:bodyPr vert="horz" lIns="0" tIns="0" rIns="0" bIns="0" rtlCol="0">
            <a:noAutofit/>
          </a:bodyPr>
          <a:lstStyle>
            <a:lvl2pPr>
              <a:defRPr>
                <a:solidFill>
                  <a:schemeClr val="tx1"/>
                </a:solidFill>
              </a:defRPr>
            </a:lvl2pPr>
            <a:lvl3pPr>
              <a:defRPr>
                <a:solidFill>
                  <a:schemeClr val="tx1"/>
                </a:solidFill>
              </a:defRPr>
            </a:lvl3pPr>
            <a:lvl4pPr>
              <a:defRPr>
                <a:solidFill>
                  <a:schemeClr val="tx1"/>
                </a:solidFill>
              </a:defRPr>
            </a:lvl4pPr>
            <a:lvl5pPr>
              <a:defRPr baseline="0">
                <a:solidFill>
                  <a:schemeClr val="tx1"/>
                </a:solidFill>
              </a:defRPr>
            </a:lvl5pPr>
            <a:lvl6pPr>
              <a:defRPr>
                <a:solidFill>
                  <a:schemeClr val="tx1"/>
                </a:solidFill>
              </a:defRPr>
            </a:lvl6pPr>
          </a:lstStyle>
          <a:p>
            <a:pPr lvl="0"/>
            <a:r>
              <a:rPr lang="en-US" noProof="0" dirty="0"/>
              <a:t>First text level</a:t>
            </a:r>
          </a:p>
          <a:p>
            <a:pPr lvl="1"/>
            <a:r>
              <a:rPr lang="en-US" noProof="0" dirty="0"/>
              <a:t>Second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9" name="Titel 8"/>
          <p:cNvSpPr>
            <a:spLocks noGrp="1"/>
          </p:cNvSpPr>
          <p:nvPr>
            <p:ph type="title" hasCustomPrompt="1"/>
          </p:nvPr>
        </p:nvSpPr>
        <p:spPr bwMode="gray"/>
        <p:txBody>
          <a:bodyPr/>
          <a:lstStyle/>
          <a:p>
            <a:r>
              <a:rPr lang="en-US" noProof="0" dirty="0"/>
              <a:t>Click here to add the headline</a:t>
            </a:r>
          </a:p>
        </p:txBody>
      </p:sp>
    </p:spTree>
    <p:extLst>
      <p:ext uri="{BB962C8B-B14F-4D97-AF65-F5344CB8AC3E}">
        <p14:creationId xmlns:p14="http://schemas.microsoft.com/office/powerpoint/2010/main" val="4641478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x1 Box + 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AU" dirty="0"/>
          </a:p>
        </p:txBody>
      </p:sp>
      <p:sp>
        <p:nvSpPr>
          <p:cNvPr id="7" name="Content Placeholder 6"/>
          <p:cNvSpPr>
            <a:spLocks noGrp="1"/>
          </p:cNvSpPr>
          <p:nvPr>
            <p:ph sz="quarter" idx="11"/>
          </p:nvPr>
        </p:nvSpPr>
        <p:spPr>
          <a:xfrm>
            <a:off x="381002" y="1790702"/>
            <a:ext cx="11425767" cy="4040188"/>
          </a:xfrm>
          <a:prstGeom prst="rect">
            <a:avLst/>
          </a:prstGeom>
        </p:spPr>
        <p:txBody>
          <a:bodyPr tIns="0">
            <a:noAutofit/>
          </a:bodyPr>
          <a:lstStyle>
            <a:lvl1pPr>
              <a:defRPr b="0"/>
            </a:lvl1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AU" dirty="0"/>
          </a:p>
        </p:txBody>
      </p:sp>
      <p:sp>
        <p:nvSpPr>
          <p:cNvPr id="8" name="Text Placeholder 9"/>
          <p:cNvSpPr>
            <a:spLocks noGrp="1"/>
          </p:cNvSpPr>
          <p:nvPr>
            <p:ph type="body" sz="quarter" idx="15"/>
          </p:nvPr>
        </p:nvSpPr>
        <p:spPr>
          <a:xfrm>
            <a:off x="381001" y="1031841"/>
            <a:ext cx="11425765" cy="758861"/>
          </a:xfrm>
          <a:prstGeom prst="rect">
            <a:avLst/>
          </a:prstGeom>
        </p:spPr>
        <p:txBody>
          <a:bodyPr/>
          <a:lstStyle>
            <a:lvl1pPr>
              <a:defRPr b="1"/>
            </a:lvl1pPr>
          </a:lstStyle>
          <a:p>
            <a:pPr lvl="0"/>
            <a:r>
              <a:rPr lang="fr-FR"/>
              <a:t>Modifiez les styles du texte du masque</a:t>
            </a:r>
          </a:p>
        </p:txBody>
      </p:sp>
    </p:spTree>
    <p:extLst>
      <p:ext uri="{BB962C8B-B14F-4D97-AF65-F5344CB8AC3E}">
        <p14:creationId xmlns:p14="http://schemas.microsoft.com/office/powerpoint/2010/main" val="2308520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8_General content">
    <p:bg bwMode="gray">
      <p:bgRef idx="1001">
        <a:schemeClr val="bg1"/>
      </p:bgRef>
    </p:bg>
    <p:spTree>
      <p:nvGrpSpPr>
        <p:cNvPr id="1" name=""/>
        <p:cNvGrpSpPr/>
        <p:nvPr/>
      </p:nvGrpSpPr>
      <p:grpSpPr>
        <a:xfrm>
          <a:off x="0" y="0"/>
          <a:ext cx="0" cy="0"/>
          <a:chOff x="0" y="0"/>
          <a:chExt cx="0" cy="0"/>
        </a:xfrm>
      </p:grpSpPr>
      <p:sp>
        <p:nvSpPr>
          <p:cNvPr id="10" name="Textplatzhalter 2"/>
          <p:cNvSpPr>
            <a:spLocks noGrp="1"/>
          </p:cNvSpPr>
          <p:nvPr>
            <p:ph idx="1" hasCustomPrompt="1"/>
          </p:nvPr>
        </p:nvSpPr>
        <p:spPr bwMode="gray">
          <a:xfrm>
            <a:off x="336000" y="1494002"/>
            <a:ext cx="11520000" cy="4622639"/>
          </a:xfrm>
          <a:prstGeom prst="rect">
            <a:avLst/>
          </a:prstGeom>
        </p:spPr>
        <p:txBody>
          <a:bodyPr vert="horz" lIns="0" tIns="0" rIns="0" bIns="0" rtlCol="0">
            <a:noAutofit/>
          </a:bodyPr>
          <a:lstStyle>
            <a:lvl2pPr>
              <a:defRPr>
                <a:solidFill>
                  <a:schemeClr val="tx1"/>
                </a:solidFill>
              </a:defRPr>
            </a:lvl2pPr>
            <a:lvl3pPr>
              <a:defRPr>
                <a:solidFill>
                  <a:schemeClr val="tx1"/>
                </a:solidFill>
              </a:defRPr>
            </a:lvl3pPr>
            <a:lvl4pPr>
              <a:defRPr>
                <a:solidFill>
                  <a:schemeClr val="tx1"/>
                </a:solidFill>
              </a:defRPr>
            </a:lvl4pPr>
            <a:lvl5pPr>
              <a:defRPr baseline="0">
                <a:solidFill>
                  <a:schemeClr val="tx1"/>
                </a:solidFill>
              </a:defRPr>
            </a:lvl5pPr>
            <a:lvl6pPr>
              <a:defRPr>
                <a:solidFill>
                  <a:schemeClr val="tx1"/>
                </a:solidFill>
              </a:defRPr>
            </a:lvl6pPr>
          </a:lstStyle>
          <a:p>
            <a:pPr lvl="0"/>
            <a:r>
              <a:rPr lang="en-US" noProof="0" dirty="0"/>
              <a:t>First text level</a:t>
            </a:r>
          </a:p>
          <a:p>
            <a:pPr lvl="1"/>
            <a:r>
              <a:rPr lang="en-US" noProof="0" dirty="0"/>
              <a:t>Second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9" name="Titel 8"/>
          <p:cNvSpPr>
            <a:spLocks noGrp="1"/>
          </p:cNvSpPr>
          <p:nvPr>
            <p:ph type="title" hasCustomPrompt="1"/>
          </p:nvPr>
        </p:nvSpPr>
        <p:spPr bwMode="gray"/>
        <p:txBody>
          <a:bodyPr/>
          <a:lstStyle/>
          <a:p>
            <a:r>
              <a:rPr lang="en-US" noProof="0" dirty="0"/>
              <a:t>Click here to add the headline</a:t>
            </a:r>
          </a:p>
        </p:txBody>
      </p:sp>
      <p:sp>
        <p:nvSpPr>
          <p:cNvPr id="12" name="Textplatzhalter 11"/>
          <p:cNvSpPr>
            <a:spLocks noGrp="1"/>
          </p:cNvSpPr>
          <p:nvPr>
            <p:ph type="body" sz="quarter" idx="13" hasCustomPrompt="1"/>
          </p:nvPr>
        </p:nvSpPr>
        <p:spPr bwMode="gray">
          <a:xfrm>
            <a:off x="336552" y="6306346"/>
            <a:ext cx="5348817" cy="443899"/>
          </a:xfrm>
          <a:prstGeom prst="rect">
            <a:avLst/>
          </a:prstGeom>
        </p:spPr>
        <p:txBody>
          <a:bodyPr anchor="b" anchorCtr="0"/>
          <a:lstStyle>
            <a:lvl1pPr>
              <a:spcAft>
                <a:spcPts val="0"/>
              </a:spcAft>
              <a:buFontTx/>
              <a:buNone/>
              <a:defRPr sz="1067">
                <a:solidFill>
                  <a:schemeClr val="tx1"/>
                </a:solidFill>
              </a:defRPr>
            </a:lvl1pPr>
            <a:lvl2pPr>
              <a:spcBef>
                <a:spcPts val="0"/>
              </a:spcBef>
              <a:buFontTx/>
              <a:buNone/>
              <a:defRPr sz="1333">
                <a:solidFill>
                  <a:schemeClr val="tx1"/>
                </a:solidFill>
              </a:defRPr>
            </a:lvl2pPr>
            <a:lvl3pPr marL="0" indent="0">
              <a:spcBef>
                <a:spcPts val="0"/>
              </a:spcBef>
              <a:buFontTx/>
              <a:buNone/>
              <a:defRPr sz="1333">
                <a:solidFill>
                  <a:schemeClr val="tx1"/>
                </a:solidFill>
              </a:defRPr>
            </a:lvl3pPr>
            <a:lvl4pPr marL="0" indent="0">
              <a:spcBef>
                <a:spcPts val="0"/>
              </a:spcBef>
              <a:buFontTx/>
              <a:buNone/>
              <a:defRPr sz="1333">
                <a:solidFill>
                  <a:schemeClr val="tx1"/>
                </a:solidFill>
              </a:defRPr>
            </a:lvl4pPr>
            <a:lvl5pPr marL="0" indent="0">
              <a:spcBef>
                <a:spcPts val="0"/>
              </a:spcBef>
              <a:buFontTx/>
              <a:buNone/>
              <a:defRPr sz="1333">
                <a:solidFill>
                  <a:schemeClr val="tx1"/>
                </a:solidFill>
              </a:defRPr>
            </a:lvl5pPr>
          </a:lstStyle>
          <a:p>
            <a:pPr lvl="0"/>
            <a:r>
              <a:rPr lang="en-US" noProof="0" dirty="0"/>
              <a:t>Source:</a:t>
            </a:r>
          </a:p>
        </p:txBody>
      </p:sp>
      <p:sp>
        <p:nvSpPr>
          <p:cNvPr id="5" name="Espace réservé du numéro de diapositive 4"/>
          <p:cNvSpPr>
            <a:spLocks noGrp="1"/>
          </p:cNvSpPr>
          <p:nvPr>
            <p:ph type="sldNum" sz="quarter" idx="4"/>
          </p:nvPr>
        </p:nvSpPr>
        <p:spPr>
          <a:xfrm>
            <a:off x="8737600" y="6525345"/>
            <a:ext cx="2844800" cy="365125"/>
          </a:xfrm>
          <a:prstGeom prst="rect">
            <a:avLst/>
          </a:prstGeom>
        </p:spPr>
        <p:txBody>
          <a:bodyPr/>
          <a:lstStyle>
            <a:lvl1pPr algn="r">
              <a:defRPr sz="1467" i="1">
                <a:latin typeface="Canal+" pitchFamily="50" charset="0"/>
              </a:defRPr>
            </a:lvl1pPr>
          </a:lstStyle>
          <a:p>
            <a:fld id="{47AFB671-B60B-4FD7-A4B2-341A32C1B78B}" type="slidenum">
              <a:rPr lang="fr-FR" smtClean="0"/>
              <a:t>‹N°›</a:t>
            </a:fld>
            <a:endParaRPr lang="fr-FR" dirty="0"/>
          </a:p>
        </p:txBody>
      </p:sp>
    </p:spTree>
    <p:extLst>
      <p:ext uri="{BB962C8B-B14F-4D97-AF65-F5344CB8AC3E}">
        <p14:creationId xmlns:p14="http://schemas.microsoft.com/office/powerpoint/2010/main" val="159731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24_General content">
    <p:bg bwMode="gray">
      <p:bgRef idx="1001">
        <a:schemeClr val="bg1"/>
      </p:bgRef>
    </p:bg>
    <p:spTree>
      <p:nvGrpSpPr>
        <p:cNvPr id="1" name=""/>
        <p:cNvGrpSpPr/>
        <p:nvPr/>
      </p:nvGrpSpPr>
      <p:grpSpPr>
        <a:xfrm>
          <a:off x="0" y="0"/>
          <a:ext cx="0" cy="0"/>
          <a:chOff x="0" y="0"/>
          <a:chExt cx="0" cy="0"/>
        </a:xfrm>
      </p:grpSpPr>
      <p:sp>
        <p:nvSpPr>
          <p:cNvPr id="10" name="Textplatzhalter 2"/>
          <p:cNvSpPr>
            <a:spLocks noGrp="1"/>
          </p:cNvSpPr>
          <p:nvPr>
            <p:ph idx="1" hasCustomPrompt="1"/>
          </p:nvPr>
        </p:nvSpPr>
        <p:spPr bwMode="gray">
          <a:xfrm>
            <a:off x="336000" y="1494002"/>
            <a:ext cx="11520000" cy="4622639"/>
          </a:xfrm>
          <a:prstGeom prst="rect">
            <a:avLst/>
          </a:prstGeom>
        </p:spPr>
        <p:txBody>
          <a:bodyPr vert="horz" lIns="0" tIns="0" rIns="0" bIns="0" rtlCol="0">
            <a:noAutofit/>
          </a:bodyPr>
          <a:lstStyle>
            <a:lvl2pPr>
              <a:defRPr>
                <a:solidFill>
                  <a:schemeClr val="tx1"/>
                </a:solidFill>
              </a:defRPr>
            </a:lvl2pPr>
            <a:lvl3pPr>
              <a:defRPr>
                <a:solidFill>
                  <a:schemeClr val="tx1"/>
                </a:solidFill>
              </a:defRPr>
            </a:lvl3pPr>
            <a:lvl4pPr>
              <a:defRPr>
                <a:solidFill>
                  <a:schemeClr val="tx1"/>
                </a:solidFill>
              </a:defRPr>
            </a:lvl4pPr>
            <a:lvl5pPr>
              <a:defRPr baseline="0">
                <a:solidFill>
                  <a:schemeClr val="tx1"/>
                </a:solidFill>
              </a:defRPr>
            </a:lvl5pPr>
            <a:lvl6pPr>
              <a:defRPr>
                <a:solidFill>
                  <a:schemeClr val="tx1"/>
                </a:solidFill>
              </a:defRPr>
            </a:lvl6pPr>
          </a:lstStyle>
          <a:p>
            <a:pPr lvl="0"/>
            <a:r>
              <a:rPr lang="en-US" noProof="0" dirty="0"/>
              <a:t>First text level</a:t>
            </a:r>
          </a:p>
          <a:p>
            <a:pPr lvl="1"/>
            <a:r>
              <a:rPr lang="en-US" noProof="0" dirty="0"/>
              <a:t>Second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9" name="Titel 8"/>
          <p:cNvSpPr>
            <a:spLocks noGrp="1"/>
          </p:cNvSpPr>
          <p:nvPr>
            <p:ph type="title" hasCustomPrompt="1"/>
          </p:nvPr>
        </p:nvSpPr>
        <p:spPr bwMode="gray"/>
        <p:txBody>
          <a:bodyPr/>
          <a:lstStyle/>
          <a:p>
            <a:r>
              <a:rPr lang="en-US" noProof="0" dirty="0"/>
              <a:t>Click here to add the headline</a:t>
            </a:r>
          </a:p>
        </p:txBody>
      </p:sp>
    </p:spTree>
    <p:extLst>
      <p:ext uri="{BB962C8B-B14F-4D97-AF65-F5344CB8AC3E}">
        <p14:creationId xmlns:p14="http://schemas.microsoft.com/office/powerpoint/2010/main" val="42867157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25_General content">
    <p:bg bwMode="gray">
      <p:bgRef idx="1001">
        <a:schemeClr val="bg1"/>
      </p:bgRef>
    </p:bg>
    <p:spTree>
      <p:nvGrpSpPr>
        <p:cNvPr id="1" name=""/>
        <p:cNvGrpSpPr/>
        <p:nvPr/>
      </p:nvGrpSpPr>
      <p:grpSpPr>
        <a:xfrm>
          <a:off x="0" y="0"/>
          <a:ext cx="0" cy="0"/>
          <a:chOff x="0" y="0"/>
          <a:chExt cx="0" cy="0"/>
        </a:xfrm>
      </p:grpSpPr>
      <p:sp>
        <p:nvSpPr>
          <p:cNvPr id="10" name="Textplatzhalter 2"/>
          <p:cNvSpPr>
            <a:spLocks noGrp="1"/>
          </p:cNvSpPr>
          <p:nvPr>
            <p:ph idx="1" hasCustomPrompt="1"/>
          </p:nvPr>
        </p:nvSpPr>
        <p:spPr bwMode="gray">
          <a:xfrm>
            <a:off x="336000" y="1494002"/>
            <a:ext cx="11520000" cy="4622639"/>
          </a:xfrm>
          <a:prstGeom prst="rect">
            <a:avLst/>
          </a:prstGeom>
        </p:spPr>
        <p:txBody>
          <a:bodyPr vert="horz" lIns="0" tIns="0" rIns="0" bIns="0" rtlCol="0">
            <a:noAutofit/>
          </a:bodyPr>
          <a:lstStyle>
            <a:lvl2pPr>
              <a:defRPr>
                <a:solidFill>
                  <a:schemeClr val="tx1"/>
                </a:solidFill>
              </a:defRPr>
            </a:lvl2pPr>
            <a:lvl3pPr>
              <a:defRPr>
                <a:solidFill>
                  <a:schemeClr val="tx1"/>
                </a:solidFill>
              </a:defRPr>
            </a:lvl3pPr>
            <a:lvl4pPr>
              <a:defRPr>
                <a:solidFill>
                  <a:schemeClr val="tx1"/>
                </a:solidFill>
              </a:defRPr>
            </a:lvl4pPr>
            <a:lvl5pPr>
              <a:defRPr baseline="0">
                <a:solidFill>
                  <a:schemeClr val="tx1"/>
                </a:solidFill>
              </a:defRPr>
            </a:lvl5pPr>
            <a:lvl6pPr>
              <a:defRPr>
                <a:solidFill>
                  <a:schemeClr val="tx1"/>
                </a:solidFill>
              </a:defRPr>
            </a:lvl6pPr>
          </a:lstStyle>
          <a:p>
            <a:pPr lvl="0"/>
            <a:r>
              <a:rPr lang="en-US" noProof="0" dirty="0"/>
              <a:t>First text level</a:t>
            </a:r>
          </a:p>
          <a:p>
            <a:pPr lvl="1"/>
            <a:r>
              <a:rPr lang="en-US" noProof="0" dirty="0"/>
              <a:t>Second text level</a:t>
            </a:r>
          </a:p>
          <a:p>
            <a:pPr lvl="2"/>
            <a:r>
              <a:rPr lang="en-US" noProof="0" dirty="0"/>
              <a:t>Third text level</a:t>
            </a:r>
          </a:p>
          <a:p>
            <a:pPr lvl="3"/>
            <a:r>
              <a:rPr lang="en-US" noProof="0" dirty="0"/>
              <a:t>Fourth text level</a:t>
            </a:r>
          </a:p>
          <a:p>
            <a:pPr lvl="4"/>
            <a:r>
              <a:rPr lang="en-US" noProof="0" dirty="0"/>
              <a:t>Fifth text level</a:t>
            </a:r>
          </a:p>
          <a:p>
            <a:pPr lvl="5"/>
            <a:r>
              <a:rPr lang="en-US" noProof="0" dirty="0"/>
              <a:t>Sixth text level</a:t>
            </a:r>
          </a:p>
        </p:txBody>
      </p:sp>
      <p:sp>
        <p:nvSpPr>
          <p:cNvPr id="9" name="Titel 8"/>
          <p:cNvSpPr>
            <a:spLocks noGrp="1"/>
          </p:cNvSpPr>
          <p:nvPr>
            <p:ph type="title" hasCustomPrompt="1"/>
          </p:nvPr>
        </p:nvSpPr>
        <p:spPr bwMode="gray"/>
        <p:txBody>
          <a:bodyPr/>
          <a:lstStyle/>
          <a:p>
            <a:r>
              <a:rPr lang="en-US" noProof="0" dirty="0"/>
              <a:t>Click here to add the headline</a:t>
            </a:r>
          </a:p>
        </p:txBody>
      </p:sp>
    </p:spTree>
    <p:extLst>
      <p:ext uri="{BB962C8B-B14F-4D97-AF65-F5344CB8AC3E}">
        <p14:creationId xmlns:p14="http://schemas.microsoft.com/office/powerpoint/2010/main" val="2181308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a:xfrm>
            <a:off x="0" y="1604797"/>
            <a:ext cx="0" cy="0"/>
          </a:xfr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919002523"/>
      </p:ext>
    </p:extLst>
  </p:cSld>
  <p:clrMapOvr>
    <a:masterClrMapping/>
  </p:clrMapOvr>
  <p:transition spd="slow">
    <p:wip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Titre, sous-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bwMode="gray">
          <a:xfrm>
            <a:off x="687933" y="1484322"/>
            <a:ext cx="10784681" cy="4681537"/>
          </a:xfrm>
          <a:prstGeom prst="rect">
            <a:avLst/>
          </a:prstGeom>
        </p:spPr>
        <p:txBody>
          <a:bodyPr/>
          <a:lstStyle/>
          <a:p>
            <a:pPr lvl="0"/>
            <a:r>
              <a:rPr lang="fr-FR"/>
              <a:t>Modifiez les styles du texte du masque</a:t>
            </a:r>
          </a:p>
          <a:p>
            <a:pPr lvl="1"/>
            <a:r>
              <a:rPr lang="fr-FR"/>
              <a:t>Deuxième niveau</a:t>
            </a:r>
          </a:p>
          <a:p>
            <a:pPr lvl="2"/>
            <a:r>
              <a:rPr lang="fr-FR"/>
              <a:t>Troisième niveau</a:t>
            </a:r>
          </a:p>
        </p:txBody>
      </p:sp>
      <p:sp>
        <p:nvSpPr>
          <p:cNvPr id="8" name="Titre 7"/>
          <p:cNvSpPr>
            <a:spLocks noGrp="1"/>
          </p:cNvSpPr>
          <p:nvPr>
            <p:ph type="title"/>
          </p:nvPr>
        </p:nvSpPr>
        <p:spPr bwMode="gray">
          <a:xfrm>
            <a:off x="725919" y="316181"/>
            <a:ext cx="10727165" cy="332547"/>
          </a:xfrm>
        </p:spPr>
        <p:txBody>
          <a:bodyPr anchor="ctr"/>
          <a:lstStyle/>
          <a:p>
            <a:r>
              <a:rPr lang="fr-FR"/>
              <a:t>Modifiez le style du titre</a:t>
            </a:r>
            <a:endParaRPr lang="fr-FR" dirty="0"/>
          </a:p>
        </p:txBody>
      </p:sp>
      <p:sp>
        <p:nvSpPr>
          <p:cNvPr id="4" name="Espace réservé du texte 3"/>
          <p:cNvSpPr>
            <a:spLocks noGrp="1"/>
          </p:cNvSpPr>
          <p:nvPr>
            <p:ph type="body" sz="quarter" idx="13"/>
          </p:nvPr>
        </p:nvSpPr>
        <p:spPr bwMode="gray">
          <a:xfrm>
            <a:off x="725919" y="656625"/>
            <a:ext cx="10727267" cy="269875"/>
          </a:xfrm>
          <a:prstGeom prst="rect">
            <a:avLst/>
          </a:prstGeom>
        </p:spPr>
        <p:txBody>
          <a:bodyPr vert="horz" lIns="0" tIns="45710" rIns="0" bIns="45710" rtlCol="0" anchor="ctr">
            <a:noAutofit/>
          </a:bodyPr>
          <a:lstStyle>
            <a:lvl1pPr marL="0" indent="0">
              <a:buFont typeface="Arial" panose="020B0604020202020204" pitchFamily="34" charset="0"/>
              <a:buNone/>
              <a:defRPr lang="fr-FR" sz="2400" cap="all" smtClean="0">
                <a:solidFill>
                  <a:srgbClr val="CF022B"/>
                </a:solidFill>
                <a:latin typeface="+mj-lt"/>
                <a:ea typeface="+mj-ea"/>
                <a:cs typeface="+mj-cs"/>
              </a:defRPr>
            </a:lvl1pPr>
            <a:lvl2pPr>
              <a:defRPr lang="fr-FR" smtClean="0"/>
            </a:lvl2pPr>
            <a:lvl3pPr>
              <a:defRPr lang="fr-FR" smtClean="0"/>
            </a:lvl3pPr>
            <a:lvl4pPr>
              <a:defRPr lang="fr-FR" smtClean="0"/>
            </a:lvl4pPr>
            <a:lvl5pPr>
              <a:defRPr lang="en-GB"/>
            </a:lvl5pPr>
          </a:lstStyle>
          <a:p>
            <a:pPr marL="0" lvl="0">
              <a:lnSpc>
                <a:spcPct val="90000"/>
              </a:lnSpc>
              <a:spcBef>
                <a:spcPct val="0"/>
              </a:spcBef>
            </a:pPr>
            <a:r>
              <a:rPr lang="fr-FR"/>
              <a:t>Modifiez les styles du texte du masque</a:t>
            </a:r>
          </a:p>
        </p:txBody>
      </p:sp>
      <p:sp>
        <p:nvSpPr>
          <p:cNvPr id="18" name="Espace réservé de la date 8"/>
          <p:cNvSpPr>
            <a:spLocks noGrp="1"/>
          </p:cNvSpPr>
          <p:nvPr>
            <p:ph type="dt" sz="half" idx="10"/>
          </p:nvPr>
        </p:nvSpPr>
        <p:spPr bwMode="gray">
          <a:xfrm>
            <a:off x="7006864" y="6488415"/>
            <a:ext cx="1448217" cy="206104"/>
          </a:xfrm>
          <a:prstGeom prst="rect">
            <a:avLst/>
          </a:prstGeom>
        </p:spPr>
        <p:txBody>
          <a:bodyPr vert="horz" lIns="91420" tIns="45710" rIns="91420" bIns="45710" rtlCol="0" anchor="ctr"/>
          <a:lstStyle>
            <a:lvl1pPr>
              <a:defRPr lang="fr-FR" sz="1333" dirty="0">
                <a:solidFill>
                  <a:srgbClr val="464646"/>
                </a:solidFill>
              </a:defRPr>
            </a:lvl1pPr>
          </a:lstStyle>
          <a:p>
            <a:endParaRPr lang="en-US"/>
          </a:p>
        </p:txBody>
      </p:sp>
      <p:sp>
        <p:nvSpPr>
          <p:cNvPr id="19" name="Espace réservé du pied de page 4"/>
          <p:cNvSpPr>
            <a:spLocks noGrp="1"/>
          </p:cNvSpPr>
          <p:nvPr>
            <p:ph type="ftr" sz="quarter" idx="3"/>
          </p:nvPr>
        </p:nvSpPr>
        <p:spPr bwMode="gray">
          <a:xfrm>
            <a:off x="859436" y="6490429"/>
            <a:ext cx="5996614" cy="184128"/>
          </a:xfrm>
          <a:prstGeom prst="rect">
            <a:avLst/>
          </a:prstGeom>
        </p:spPr>
        <p:txBody>
          <a:bodyPr vert="horz" lIns="91420" tIns="45710" rIns="91420" bIns="45710" rtlCol="0" anchor="ctr"/>
          <a:lstStyle>
            <a:lvl1pPr algn="l">
              <a:defRPr sz="1333">
                <a:solidFill>
                  <a:srgbClr val="464646"/>
                </a:solidFill>
              </a:defRPr>
            </a:lvl1pPr>
          </a:lstStyle>
          <a:p>
            <a:endParaRPr lang="fr-FR" dirty="0"/>
          </a:p>
        </p:txBody>
      </p:sp>
      <p:sp>
        <p:nvSpPr>
          <p:cNvPr id="20" name="Espace réservé du numéro de diapositive 5"/>
          <p:cNvSpPr>
            <a:spLocks noGrp="1"/>
          </p:cNvSpPr>
          <p:nvPr>
            <p:ph type="sldNum" sz="quarter" idx="4"/>
          </p:nvPr>
        </p:nvSpPr>
        <p:spPr bwMode="gray">
          <a:xfrm>
            <a:off x="162840" y="6502208"/>
            <a:ext cx="394968" cy="162152"/>
          </a:xfrm>
          <a:prstGeom prst="rect">
            <a:avLst/>
          </a:prstGeom>
        </p:spPr>
        <p:txBody>
          <a:bodyPr vert="horz" lIns="0" tIns="45710" rIns="0" bIns="45710" rtlCol="0" anchor="ctr"/>
          <a:lstStyle>
            <a:lvl1pPr algn="r">
              <a:defRPr sz="1333">
                <a:solidFill>
                  <a:srgbClr val="464646"/>
                </a:solidFill>
              </a:defRPr>
            </a:lvl1pPr>
          </a:lstStyle>
          <a:p>
            <a:fld id="{8C5AB1A6-E0CA-4EEE-ACA6-EE705BEFB720}" type="slidenum">
              <a:rPr lang="fr-FR" smtClean="0"/>
              <a:pPr/>
              <a:t>‹N°›</a:t>
            </a:fld>
            <a:endParaRPr lang="fr-FR" dirty="0"/>
          </a:p>
        </p:txBody>
      </p:sp>
      <p:cxnSp>
        <p:nvCxnSpPr>
          <p:cNvPr id="21" name="Connecteur droit 20"/>
          <p:cNvCxnSpPr/>
          <p:nvPr userDrawn="1"/>
        </p:nvCxnSpPr>
        <p:spPr bwMode="gray">
          <a:xfrm>
            <a:off x="708621" y="6538281"/>
            <a:ext cx="0" cy="98755"/>
          </a:xfrm>
          <a:prstGeom prst="line">
            <a:avLst/>
          </a:prstGeom>
          <a:ln w="28575">
            <a:solidFill>
              <a:srgbClr val="CF022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993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6"/>
            <a:ext cx="10363200" cy="1470025"/>
          </a:xfrm>
        </p:spPr>
        <p:txBody>
          <a:bodyPr/>
          <a:lstStyle/>
          <a:p>
            <a:r>
              <a:rPr lang="fr-FR"/>
              <a:t>Modifiez le style du titre</a:t>
            </a:r>
          </a:p>
        </p:txBody>
      </p:sp>
      <p:sp>
        <p:nvSpPr>
          <p:cNvPr id="3" name="Sous-titr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fr-FR"/>
              <a:t>Modifiez le style des sous-titres du masque</a:t>
            </a:r>
          </a:p>
        </p:txBody>
      </p:sp>
      <p:sp>
        <p:nvSpPr>
          <p:cNvPr id="4" name="Espace réservé de la date 3"/>
          <p:cNvSpPr>
            <a:spLocks noGrp="1"/>
          </p:cNvSpPr>
          <p:nvPr>
            <p:ph type="dt" sz="half" idx="10"/>
          </p:nvPr>
        </p:nvSpPr>
        <p:spPr>
          <a:xfrm>
            <a:off x="609600" y="6356351"/>
            <a:ext cx="2844800" cy="365125"/>
          </a:xfrm>
          <a:prstGeom prst="rect">
            <a:avLst/>
          </a:prstGeom>
        </p:spPr>
        <p:txBody>
          <a:bodyPr/>
          <a:lstStyle/>
          <a:p>
            <a:fld id="{2F999973-DAAB-4687-B4B4-75DA6A298F11}" type="datetimeFigureOut">
              <a:rPr lang="fr-FR" smtClean="0"/>
              <a:t>06/01/2021</a:t>
            </a:fld>
            <a:endParaRPr lang="fr-FR" dirty="0"/>
          </a:p>
        </p:txBody>
      </p:sp>
      <p:sp>
        <p:nvSpPr>
          <p:cNvPr id="5" name="Espace réservé du pied de page 4"/>
          <p:cNvSpPr>
            <a:spLocks noGrp="1"/>
          </p:cNvSpPr>
          <p:nvPr>
            <p:ph type="ftr" sz="quarter" idx="11"/>
          </p:nvPr>
        </p:nvSpPr>
        <p:spPr>
          <a:xfrm>
            <a:off x="4165600" y="6356351"/>
            <a:ext cx="3860800" cy="365125"/>
          </a:xfrm>
          <a:prstGeom prst="rect">
            <a:avLst/>
          </a:prstGeom>
        </p:spPr>
        <p:txBody>
          <a:bodyPr/>
          <a:lstStyle/>
          <a:p>
            <a:endParaRPr lang="fr-FR" dirty="0"/>
          </a:p>
        </p:txBody>
      </p:sp>
      <p:sp>
        <p:nvSpPr>
          <p:cNvPr id="6" name="Espace réservé du numéro de diapositive 5"/>
          <p:cNvSpPr>
            <a:spLocks noGrp="1"/>
          </p:cNvSpPr>
          <p:nvPr>
            <p:ph type="sldNum" sz="quarter" idx="12"/>
          </p:nvPr>
        </p:nvSpPr>
        <p:spPr>
          <a:xfrm>
            <a:off x="8737600" y="6356351"/>
            <a:ext cx="2844800" cy="365125"/>
          </a:xfrm>
          <a:prstGeom prst="rect">
            <a:avLst/>
          </a:prstGeom>
        </p:spPr>
        <p:txBody>
          <a:bodyPr/>
          <a:lstStyle/>
          <a:p>
            <a:fld id="{47AFB671-B60B-4FD7-A4B2-341A32C1B78B}" type="slidenum">
              <a:rPr lang="fr-FR" smtClean="0"/>
              <a:t>‹N°›</a:t>
            </a:fld>
            <a:endParaRPr lang="fr-FR" dirty="0"/>
          </a:p>
        </p:txBody>
      </p:sp>
    </p:spTree>
    <p:extLst>
      <p:ext uri="{BB962C8B-B14F-4D97-AF65-F5344CB8AC3E}">
        <p14:creationId xmlns:p14="http://schemas.microsoft.com/office/powerpoint/2010/main" val="3317213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1.xml"/><Relationship Id="rId30" Type="http://schemas.openxmlformats.org/officeDocument/2006/relationships/oleObject" Target="../embeddings/oleObject2.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p:cNvGraphicFramePr>
          <p:nvPr>
            <p:custDataLst>
              <p:tags r:id="rId27"/>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28" imgW="270" imgH="270" progId="TCLayout.ActiveDocument.1">
                  <p:embed/>
                </p:oleObj>
              </mc:Choice>
              <mc:Fallback>
                <p:oleObj name="think-cell Slide" r:id="rId28" imgW="270" imgH="270" progId="TCLayout.ActiveDocument.1">
                  <p:embed/>
                  <p:pic>
                    <p:nvPicPr>
                      <p:cNvPr id="4" name="Object 3" hidden="1"/>
                      <p:cNvPicPr/>
                      <p:nvPr/>
                    </p:nvPicPr>
                    <p:blipFill>
                      <a:blip r:embed="rId29"/>
                      <a:stretch>
                        <a:fillRect/>
                      </a:stretch>
                    </p:blipFill>
                    <p:spPr>
                      <a:xfrm>
                        <a:off x="2119" y="1589"/>
                        <a:ext cx="2116" cy="1587"/>
                      </a:xfrm>
                      <a:prstGeom prst="rect">
                        <a:avLst/>
                      </a:prstGeom>
                    </p:spPr>
                  </p:pic>
                </p:oleObj>
              </mc:Fallback>
            </mc:AlternateContent>
          </a:graphicData>
        </a:graphic>
      </p:graphicFrame>
      <p:sp>
        <p:nvSpPr>
          <p:cNvPr id="2" name="Titelplatzhalter 1"/>
          <p:cNvSpPr>
            <a:spLocks noGrp="1"/>
          </p:cNvSpPr>
          <p:nvPr>
            <p:ph type="title"/>
          </p:nvPr>
        </p:nvSpPr>
        <p:spPr bwMode="gray">
          <a:xfrm>
            <a:off x="336001" y="40500"/>
            <a:ext cx="11519451" cy="903600"/>
          </a:xfrm>
          <a:prstGeom prst="rect">
            <a:avLst/>
          </a:prstGeom>
        </p:spPr>
        <p:txBody>
          <a:bodyPr vert="horz" lIns="0" tIns="0" rIns="0" bIns="0" rtlCol="0" anchor="b">
            <a:noAutofit/>
          </a:bodyPr>
          <a:lstStyle/>
          <a:p>
            <a:r>
              <a:rPr lang="en-US" noProof="0" dirty="0"/>
              <a:t>Click here to add the headline</a:t>
            </a:r>
          </a:p>
        </p:txBody>
      </p:sp>
      <p:cxnSp>
        <p:nvCxnSpPr>
          <p:cNvPr id="48" name="Gerade Verbindung 47"/>
          <p:cNvCxnSpPr/>
          <p:nvPr/>
        </p:nvCxnSpPr>
        <p:spPr bwMode="gray">
          <a:xfrm flipV="1">
            <a:off x="6093887" y="-123825"/>
            <a:ext cx="0" cy="107156"/>
          </a:xfrm>
          <a:prstGeom prst="line">
            <a:avLst/>
          </a:prstGeom>
          <a:ln>
            <a:solidFill>
              <a:schemeClr val="bg1"/>
            </a:solidFill>
            <a:tailEnd type="oval" w="sm" len="sm"/>
          </a:ln>
        </p:spPr>
        <p:style>
          <a:lnRef idx="1">
            <a:schemeClr val="accent1"/>
          </a:lnRef>
          <a:fillRef idx="0">
            <a:schemeClr val="accent1"/>
          </a:fillRef>
          <a:effectRef idx="0">
            <a:schemeClr val="accent1"/>
          </a:effectRef>
          <a:fontRef idx="minor">
            <a:schemeClr val="tx1"/>
          </a:fontRef>
        </p:style>
      </p:cxnSp>
      <p:cxnSp>
        <p:nvCxnSpPr>
          <p:cNvPr id="49" name="Gerade Verbindung 48"/>
          <p:cNvCxnSpPr/>
          <p:nvPr/>
        </p:nvCxnSpPr>
        <p:spPr bwMode="gray">
          <a:xfrm flipV="1">
            <a:off x="5973237" y="-123825"/>
            <a:ext cx="0" cy="107156"/>
          </a:xfrm>
          <a:prstGeom prst="line">
            <a:avLst/>
          </a:prstGeom>
          <a:ln>
            <a:solidFill>
              <a:schemeClr val="bg1"/>
            </a:solidFill>
            <a:tailEnd type="oval" w="sm" len="sm"/>
          </a:ln>
        </p:spPr>
        <p:style>
          <a:lnRef idx="1">
            <a:schemeClr val="accent1"/>
          </a:lnRef>
          <a:fillRef idx="0">
            <a:schemeClr val="accent1"/>
          </a:fillRef>
          <a:effectRef idx="0">
            <a:schemeClr val="accent1"/>
          </a:effectRef>
          <a:fontRef idx="minor">
            <a:schemeClr val="tx1"/>
          </a:fontRef>
        </p:style>
      </p:cxnSp>
      <p:cxnSp>
        <p:nvCxnSpPr>
          <p:cNvPr id="50" name="Gerade Verbindung 49"/>
          <p:cNvCxnSpPr/>
          <p:nvPr/>
        </p:nvCxnSpPr>
        <p:spPr bwMode="gray">
          <a:xfrm flipV="1">
            <a:off x="6214537" y="-123825"/>
            <a:ext cx="0" cy="107156"/>
          </a:xfrm>
          <a:prstGeom prst="line">
            <a:avLst/>
          </a:prstGeom>
          <a:ln>
            <a:solidFill>
              <a:schemeClr val="bg1"/>
            </a:solidFill>
            <a:tailEnd type="oval" w="sm" len="sm"/>
          </a:ln>
        </p:spPr>
        <p:style>
          <a:lnRef idx="1">
            <a:schemeClr val="accent1"/>
          </a:lnRef>
          <a:fillRef idx="0">
            <a:schemeClr val="accent1"/>
          </a:fillRef>
          <a:effectRef idx="0">
            <a:schemeClr val="accent1"/>
          </a:effectRef>
          <a:fontRef idx="minor">
            <a:schemeClr val="tx1"/>
          </a:fontRef>
        </p:style>
      </p:cxnSp>
      <p:sp>
        <p:nvSpPr>
          <p:cNvPr id="51" name="Textfeld 50"/>
          <p:cNvSpPr txBox="1"/>
          <p:nvPr/>
        </p:nvSpPr>
        <p:spPr bwMode="gray">
          <a:xfrm>
            <a:off x="5943665" y="-287058"/>
            <a:ext cx="270875" cy="123111"/>
          </a:xfrm>
          <a:prstGeom prst="rect">
            <a:avLst/>
          </a:prstGeom>
          <a:noFill/>
        </p:spPr>
        <p:txBody>
          <a:bodyPr wrap="square" lIns="0" tIns="0" rIns="0" bIns="0" rtlCol="0">
            <a:spAutoFit/>
          </a:bodyPr>
          <a:lstStyle/>
          <a:p>
            <a:pPr algn="ctr"/>
            <a:r>
              <a:rPr lang="en-US" sz="800" dirty="0">
                <a:solidFill>
                  <a:prstClr val="white"/>
                </a:solidFill>
              </a:rPr>
              <a:t>0.00</a:t>
            </a:r>
          </a:p>
        </p:txBody>
      </p:sp>
      <p:sp>
        <p:nvSpPr>
          <p:cNvPr id="52" name="Textfeld 51"/>
          <p:cNvSpPr txBox="1"/>
          <p:nvPr/>
        </p:nvSpPr>
        <p:spPr bwMode="gray">
          <a:xfrm>
            <a:off x="5621932" y="-194725"/>
            <a:ext cx="270875" cy="123111"/>
          </a:xfrm>
          <a:prstGeom prst="rect">
            <a:avLst/>
          </a:prstGeom>
          <a:noFill/>
        </p:spPr>
        <p:txBody>
          <a:bodyPr wrap="square" lIns="0" tIns="0" rIns="0" bIns="0" rtlCol="0">
            <a:spAutoFit/>
          </a:bodyPr>
          <a:lstStyle/>
          <a:p>
            <a:r>
              <a:rPr lang="en-US" sz="800" dirty="0">
                <a:solidFill>
                  <a:prstClr val="white"/>
                </a:solidFill>
              </a:rPr>
              <a:t>0.10</a:t>
            </a:r>
          </a:p>
        </p:txBody>
      </p:sp>
      <p:sp>
        <p:nvSpPr>
          <p:cNvPr id="53" name="Textfeld 52"/>
          <p:cNvSpPr txBox="1"/>
          <p:nvPr/>
        </p:nvSpPr>
        <p:spPr bwMode="gray">
          <a:xfrm>
            <a:off x="6280212" y="-194725"/>
            <a:ext cx="270875" cy="123111"/>
          </a:xfrm>
          <a:prstGeom prst="rect">
            <a:avLst/>
          </a:prstGeom>
          <a:noFill/>
        </p:spPr>
        <p:txBody>
          <a:bodyPr wrap="square" lIns="0" tIns="0" rIns="0" bIns="0" rtlCol="0">
            <a:spAutoFit/>
          </a:bodyPr>
          <a:lstStyle/>
          <a:p>
            <a:r>
              <a:rPr lang="en-US" sz="800" dirty="0">
                <a:solidFill>
                  <a:prstClr val="white"/>
                </a:solidFill>
              </a:rPr>
              <a:t>0.10</a:t>
            </a:r>
          </a:p>
        </p:txBody>
      </p:sp>
      <p:cxnSp>
        <p:nvCxnSpPr>
          <p:cNvPr id="60" name="Gerade Verbindung 59"/>
          <p:cNvCxnSpPr/>
          <p:nvPr/>
        </p:nvCxnSpPr>
        <p:spPr bwMode="gray">
          <a:xfrm flipH="1">
            <a:off x="-198967" y="1265237"/>
            <a:ext cx="156635" cy="0"/>
          </a:xfrm>
          <a:prstGeom prst="line">
            <a:avLst/>
          </a:prstGeom>
          <a:ln>
            <a:solidFill>
              <a:schemeClr val="bg1"/>
            </a:solidFill>
            <a:tailEnd type="oval" w="sm" len="sm"/>
          </a:ln>
        </p:spPr>
        <p:style>
          <a:lnRef idx="1">
            <a:schemeClr val="accent1"/>
          </a:lnRef>
          <a:fillRef idx="0">
            <a:schemeClr val="accent1"/>
          </a:fillRef>
          <a:effectRef idx="0">
            <a:schemeClr val="accent1"/>
          </a:effectRef>
          <a:fontRef idx="minor">
            <a:schemeClr val="tx1"/>
          </a:fontRef>
        </p:style>
      </p:cxnSp>
      <p:sp>
        <p:nvSpPr>
          <p:cNvPr id="61" name="Textfeld 60"/>
          <p:cNvSpPr txBox="1"/>
          <p:nvPr/>
        </p:nvSpPr>
        <p:spPr bwMode="gray">
          <a:xfrm>
            <a:off x="-538690" y="1511174"/>
            <a:ext cx="241300" cy="123111"/>
          </a:xfrm>
          <a:prstGeom prst="rect">
            <a:avLst/>
          </a:prstGeom>
          <a:noFill/>
        </p:spPr>
        <p:txBody>
          <a:bodyPr wrap="square" lIns="0" tIns="0" rIns="0" bIns="0" rtlCol="0">
            <a:spAutoFit/>
          </a:bodyPr>
          <a:lstStyle/>
          <a:p>
            <a:r>
              <a:rPr lang="en-US" sz="800" dirty="0">
                <a:solidFill>
                  <a:prstClr val="white"/>
                </a:solidFill>
              </a:rPr>
              <a:t>2.05</a:t>
            </a:r>
          </a:p>
        </p:txBody>
      </p:sp>
      <p:cxnSp>
        <p:nvCxnSpPr>
          <p:cNvPr id="62" name="Gerade Verbindung 61"/>
          <p:cNvCxnSpPr/>
          <p:nvPr/>
        </p:nvCxnSpPr>
        <p:spPr bwMode="gray">
          <a:xfrm flipH="1">
            <a:off x="-198967" y="3840163"/>
            <a:ext cx="156635" cy="0"/>
          </a:xfrm>
          <a:prstGeom prst="line">
            <a:avLst/>
          </a:prstGeom>
          <a:ln>
            <a:solidFill>
              <a:schemeClr val="bg1"/>
            </a:solidFill>
            <a:tailEnd type="oval" w="sm" len="sm"/>
          </a:ln>
        </p:spPr>
        <p:style>
          <a:lnRef idx="1">
            <a:schemeClr val="accent1"/>
          </a:lnRef>
          <a:fillRef idx="0">
            <a:schemeClr val="accent1"/>
          </a:fillRef>
          <a:effectRef idx="0">
            <a:schemeClr val="accent1"/>
          </a:effectRef>
          <a:fontRef idx="minor">
            <a:schemeClr val="tx1"/>
          </a:fontRef>
        </p:style>
      </p:cxnSp>
      <p:sp>
        <p:nvSpPr>
          <p:cNvPr id="63" name="Textfeld 62"/>
          <p:cNvSpPr txBox="1"/>
          <p:nvPr/>
        </p:nvSpPr>
        <p:spPr bwMode="gray">
          <a:xfrm>
            <a:off x="-538690" y="3790362"/>
            <a:ext cx="241300" cy="123111"/>
          </a:xfrm>
          <a:prstGeom prst="rect">
            <a:avLst/>
          </a:prstGeom>
          <a:noFill/>
        </p:spPr>
        <p:txBody>
          <a:bodyPr wrap="square" lIns="0" tIns="0" rIns="0" bIns="0" rtlCol="0">
            <a:spAutoFit/>
          </a:bodyPr>
          <a:lstStyle/>
          <a:p>
            <a:r>
              <a:rPr lang="en-US" sz="800" dirty="0">
                <a:solidFill>
                  <a:prstClr val="white"/>
                </a:solidFill>
              </a:rPr>
              <a:t>0.45</a:t>
            </a:r>
          </a:p>
        </p:txBody>
      </p:sp>
      <p:cxnSp>
        <p:nvCxnSpPr>
          <p:cNvPr id="64" name="Gerade Verbindung 63"/>
          <p:cNvCxnSpPr/>
          <p:nvPr/>
        </p:nvCxnSpPr>
        <p:spPr bwMode="gray">
          <a:xfrm flipH="1">
            <a:off x="-198967" y="3929063"/>
            <a:ext cx="156635" cy="0"/>
          </a:xfrm>
          <a:prstGeom prst="line">
            <a:avLst/>
          </a:prstGeom>
          <a:ln>
            <a:solidFill>
              <a:schemeClr val="bg1"/>
            </a:solidFill>
            <a:tailEnd type="oval" w="sm" len="sm"/>
          </a:ln>
        </p:spPr>
        <p:style>
          <a:lnRef idx="1">
            <a:schemeClr val="accent1"/>
          </a:lnRef>
          <a:fillRef idx="0">
            <a:schemeClr val="accent1"/>
          </a:fillRef>
          <a:effectRef idx="0">
            <a:schemeClr val="accent1"/>
          </a:effectRef>
          <a:fontRef idx="minor">
            <a:schemeClr val="tx1"/>
          </a:fontRef>
        </p:style>
      </p:cxnSp>
      <p:sp>
        <p:nvSpPr>
          <p:cNvPr id="65" name="Textfeld 64"/>
          <p:cNvSpPr txBox="1"/>
          <p:nvPr/>
        </p:nvSpPr>
        <p:spPr bwMode="gray">
          <a:xfrm>
            <a:off x="-538690" y="3882232"/>
            <a:ext cx="241300" cy="123111"/>
          </a:xfrm>
          <a:prstGeom prst="rect">
            <a:avLst/>
          </a:prstGeom>
          <a:noFill/>
        </p:spPr>
        <p:txBody>
          <a:bodyPr wrap="square" lIns="0" tIns="0" rIns="0" bIns="0" rtlCol="0">
            <a:spAutoFit/>
          </a:bodyPr>
          <a:lstStyle/>
          <a:p>
            <a:r>
              <a:rPr lang="en-US" sz="800" dirty="0">
                <a:solidFill>
                  <a:prstClr val="white"/>
                </a:solidFill>
              </a:rPr>
              <a:t>0.55</a:t>
            </a:r>
          </a:p>
        </p:txBody>
      </p:sp>
      <p:cxnSp>
        <p:nvCxnSpPr>
          <p:cNvPr id="69" name="Gerade Verbindung 68"/>
          <p:cNvCxnSpPr/>
          <p:nvPr/>
        </p:nvCxnSpPr>
        <p:spPr bwMode="gray">
          <a:xfrm flipH="1">
            <a:off x="-198967" y="3744653"/>
            <a:ext cx="156635" cy="0"/>
          </a:xfrm>
          <a:prstGeom prst="line">
            <a:avLst/>
          </a:prstGeom>
          <a:ln>
            <a:solidFill>
              <a:schemeClr val="bg1"/>
            </a:solidFill>
            <a:tailEnd type="oval" w="sm" len="sm"/>
          </a:ln>
        </p:spPr>
        <p:style>
          <a:lnRef idx="1">
            <a:schemeClr val="accent1"/>
          </a:lnRef>
          <a:fillRef idx="0">
            <a:schemeClr val="accent1"/>
          </a:fillRef>
          <a:effectRef idx="0">
            <a:schemeClr val="accent1"/>
          </a:effectRef>
          <a:fontRef idx="minor">
            <a:schemeClr val="tx1"/>
          </a:fontRef>
        </p:style>
      </p:cxnSp>
      <p:sp>
        <p:nvSpPr>
          <p:cNvPr id="70" name="Textfeld 69"/>
          <p:cNvSpPr txBox="1"/>
          <p:nvPr/>
        </p:nvSpPr>
        <p:spPr bwMode="gray">
          <a:xfrm>
            <a:off x="-538690" y="3698491"/>
            <a:ext cx="241300" cy="123111"/>
          </a:xfrm>
          <a:prstGeom prst="rect">
            <a:avLst/>
          </a:prstGeom>
          <a:noFill/>
        </p:spPr>
        <p:txBody>
          <a:bodyPr wrap="square" lIns="0" tIns="0" rIns="0" bIns="0" rtlCol="0">
            <a:spAutoFit/>
          </a:bodyPr>
          <a:lstStyle/>
          <a:p>
            <a:r>
              <a:rPr lang="en-US" sz="800" dirty="0">
                <a:solidFill>
                  <a:prstClr val="white"/>
                </a:solidFill>
              </a:rPr>
              <a:t>0.35</a:t>
            </a:r>
          </a:p>
        </p:txBody>
      </p:sp>
      <p:cxnSp>
        <p:nvCxnSpPr>
          <p:cNvPr id="71" name="Gerade Verbindung 70"/>
          <p:cNvCxnSpPr/>
          <p:nvPr/>
        </p:nvCxnSpPr>
        <p:spPr bwMode="gray">
          <a:xfrm flipH="1">
            <a:off x="-198967" y="6116639"/>
            <a:ext cx="156635" cy="0"/>
          </a:xfrm>
          <a:prstGeom prst="line">
            <a:avLst/>
          </a:prstGeom>
          <a:ln>
            <a:solidFill>
              <a:schemeClr val="bg1"/>
            </a:solidFill>
            <a:tailEnd type="oval" w="sm" len="sm"/>
          </a:ln>
        </p:spPr>
        <p:style>
          <a:lnRef idx="1">
            <a:schemeClr val="accent1"/>
          </a:lnRef>
          <a:fillRef idx="0">
            <a:schemeClr val="accent1"/>
          </a:fillRef>
          <a:effectRef idx="0">
            <a:schemeClr val="accent1"/>
          </a:effectRef>
          <a:fontRef idx="minor">
            <a:schemeClr val="tx1"/>
          </a:fontRef>
        </p:style>
      </p:cxnSp>
      <p:sp>
        <p:nvSpPr>
          <p:cNvPr id="72" name="Textfeld 71"/>
          <p:cNvSpPr txBox="1"/>
          <p:nvPr/>
        </p:nvSpPr>
        <p:spPr bwMode="gray">
          <a:xfrm>
            <a:off x="-538690" y="6070474"/>
            <a:ext cx="241300" cy="123111"/>
          </a:xfrm>
          <a:prstGeom prst="rect">
            <a:avLst/>
          </a:prstGeom>
          <a:noFill/>
        </p:spPr>
        <p:txBody>
          <a:bodyPr wrap="square" lIns="0" tIns="0" rIns="0" bIns="0" rtlCol="0">
            <a:spAutoFit/>
          </a:bodyPr>
          <a:lstStyle/>
          <a:p>
            <a:r>
              <a:rPr lang="en-US" sz="800" dirty="0">
                <a:solidFill>
                  <a:prstClr val="white"/>
                </a:solidFill>
              </a:rPr>
              <a:t>2.94</a:t>
            </a:r>
          </a:p>
        </p:txBody>
      </p:sp>
      <p:cxnSp>
        <p:nvCxnSpPr>
          <p:cNvPr id="54" name="Gerade Verbindung 39"/>
          <p:cNvCxnSpPr/>
          <p:nvPr/>
        </p:nvCxnSpPr>
        <p:spPr bwMode="gray">
          <a:xfrm flipV="1">
            <a:off x="11856640" y="-123825"/>
            <a:ext cx="0" cy="107156"/>
          </a:xfrm>
          <a:prstGeom prst="line">
            <a:avLst/>
          </a:prstGeom>
          <a:ln>
            <a:solidFill>
              <a:schemeClr val="bg1"/>
            </a:solidFill>
            <a:tailEnd type="oval" w="sm" len="sm"/>
          </a:ln>
        </p:spPr>
        <p:style>
          <a:lnRef idx="1">
            <a:schemeClr val="accent1"/>
          </a:lnRef>
          <a:fillRef idx="0">
            <a:schemeClr val="accent1"/>
          </a:fillRef>
          <a:effectRef idx="0">
            <a:schemeClr val="accent1"/>
          </a:effectRef>
          <a:fontRef idx="minor">
            <a:schemeClr val="tx1"/>
          </a:fontRef>
        </p:style>
      </p:cxnSp>
      <p:sp>
        <p:nvSpPr>
          <p:cNvPr id="55" name="Textfeld 44"/>
          <p:cNvSpPr txBox="1"/>
          <p:nvPr/>
        </p:nvSpPr>
        <p:spPr bwMode="gray">
          <a:xfrm>
            <a:off x="11706418" y="-287058"/>
            <a:ext cx="270875" cy="123111"/>
          </a:xfrm>
          <a:prstGeom prst="rect">
            <a:avLst/>
          </a:prstGeom>
          <a:noFill/>
        </p:spPr>
        <p:txBody>
          <a:bodyPr wrap="square" lIns="0" tIns="0" rIns="0" bIns="0" rtlCol="0">
            <a:spAutoFit/>
          </a:bodyPr>
          <a:lstStyle/>
          <a:p>
            <a:pPr algn="ctr"/>
            <a:r>
              <a:rPr lang="en-US" sz="800" dirty="0">
                <a:solidFill>
                  <a:prstClr val="white"/>
                </a:solidFill>
              </a:rPr>
              <a:t>4.72</a:t>
            </a:r>
          </a:p>
        </p:txBody>
      </p:sp>
      <p:cxnSp>
        <p:nvCxnSpPr>
          <p:cNvPr id="57" name="Gerade Verbindung 39"/>
          <p:cNvCxnSpPr/>
          <p:nvPr/>
        </p:nvCxnSpPr>
        <p:spPr bwMode="gray">
          <a:xfrm flipV="1">
            <a:off x="337391" y="-123825"/>
            <a:ext cx="0" cy="107156"/>
          </a:xfrm>
          <a:prstGeom prst="line">
            <a:avLst/>
          </a:prstGeom>
          <a:ln>
            <a:solidFill>
              <a:schemeClr val="bg1"/>
            </a:solidFill>
            <a:tailEnd type="oval" w="sm" len="sm"/>
          </a:ln>
        </p:spPr>
        <p:style>
          <a:lnRef idx="1">
            <a:schemeClr val="accent1"/>
          </a:lnRef>
          <a:fillRef idx="0">
            <a:schemeClr val="accent1"/>
          </a:fillRef>
          <a:effectRef idx="0">
            <a:schemeClr val="accent1"/>
          </a:effectRef>
          <a:fontRef idx="minor">
            <a:schemeClr val="tx1"/>
          </a:fontRef>
        </p:style>
      </p:cxnSp>
      <p:sp>
        <p:nvSpPr>
          <p:cNvPr id="58" name="Textfeld 44"/>
          <p:cNvSpPr txBox="1"/>
          <p:nvPr/>
        </p:nvSpPr>
        <p:spPr bwMode="gray">
          <a:xfrm>
            <a:off x="187169" y="-287058"/>
            <a:ext cx="270875" cy="123111"/>
          </a:xfrm>
          <a:prstGeom prst="rect">
            <a:avLst/>
          </a:prstGeom>
          <a:noFill/>
        </p:spPr>
        <p:txBody>
          <a:bodyPr wrap="square" lIns="0" tIns="0" rIns="0" bIns="0" rtlCol="0">
            <a:spAutoFit/>
          </a:bodyPr>
          <a:lstStyle/>
          <a:p>
            <a:pPr algn="ctr"/>
            <a:r>
              <a:rPr lang="en-US" sz="800" dirty="0">
                <a:solidFill>
                  <a:prstClr val="white"/>
                </a:solidFill>
              </a:rPr>
              <a:t>4.72</a:t>
            </a:r>
          </a:p>
        </p:txBody>
      </p:sp>
      <p:sp>
        <p:nvSpPr>
          <p:cNvPr id="7" name="Textfeld 6"/>
          <p:cNvSpPr txBox="1"/>
          <p:nvPr/>
        </p:nvSpPr>
        <p:spPr bwMode="gray">
          <a:xfrm>
            <a:off x="8229174" y="6590804"/>
            <a:ext cx="3626279" cy="205121"/>
          </a:xfrm>
          <a:prstGeom prst="rect">
            <a:avLst/>
          </a:prstGeom>
          <a:noFill/>
        </p:spPr>
        <p:txBody>
          <a:bodyPr wrap="square" lIns="0" tIns="0" rIns="0" bIns="0" rtlCol="0" anchor="ctr" anchorCtr="0">
            <a:spAutoFit/>
          </a:bodyPr>
          <a:lstStyle/>
          <a:p>
            <a:pPr algn="r">
              <a:defRPr/>
            </a:pPr>
            <a:r>
              <a:rPr lang="en-US" sz="1333" dirty="0" err="1">
                <a:solidFill>
                  <a:srgbClr val="6D6D6D"/>
                </a:solidFill>
              </a:rPr>
              <a:t>Novembre</a:t>
            </a:r>
            <a:r>
              <a:rPr lang="en-US" sz="1333" dirty="0">
                <a:solidFill>
                  <a:srgbClr val="6D6D6D"/>
                </a:solidFill>
              </a:rPr>
              <a:t> 2020|</a:t>
            </a:r>
            <a:r>
              <a:rPr lang="en-US" sz="1333" dirty="0">
                <a:solidFill>
                  <a:srgbClr val="A9A9A9"/>
                </a:solidFill>
              </a:rPr>
              <a:t> </a:t>
            </a:r>
            <a:fld id="{5152254E-7EB4-45E4-904F-3575BFE2F20B}" type="slidenum">
              <a:rPr lang="en-US" sz="1333">
                <a:solidFill>
                  <a:srgbClr val="6D6D6D"/>
                </a:solidFill>
              </a:rPr>
              <a:pPr algn="r">
                <a:defRPr/>
              </a:pPr>
              <a:t>‹N°›</a:t>
            </a:fld>
            <a:endParaRPr lang="en-US" sz="1333" dirty="0">
              <a:solidFill>
                <a:srgbClr val="6D6D6D"/>
              </a:solidFill>
            </a:endParaRPr>
          </a:p>
        </p:txBody>
      </p:sp>
      <p:graphicFrame>
        <p:nvGraphicFramePr>
          <p:cNvPr id="31" name="Object 30" hidden="1"/>
          <p:cNvGraphicFramePr>
            <a:graphicFrameLocks noChangeAspect="1"/>
          </p:cNvGraphicFramePr>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31" name="Object 30" hidden="1"/>
                      <p:cNvPicPr/>
                      <p:nvPr/>
                    </p:nvPicPr>
                    <p:blipFill>
                      <a:blip r:embed="rId29"/>
                      <a:stretch>
                        <a:fillRect/>
                      </a:stretch>
                    </p:blipFill>
                    <p:spPr>
                      <a:xfrm>
                        <a:off x="2119" y="1589"/>
                        <a:ext cx="2116" cy="1587"/>
                      </a:xfrm>
                      <a:prstGeom prst="rect">
                        <a:avLst/>
                      </a:prstGeom>
                    </p:spPr>
                  </p:pic>
                </p:oleObj>
              </mc:Fallback>
            </mc:AlternateContent>
          </a:graphicData>
        </a:graphic>
      </p:graphicFrame>
      <p:cxnSp>
        <p:nvCxnSpPr>
          <p:cNvPr id="6" name="Straight Connector 5"/>
          <p:cNvCxnSpPr/>
          <p:nvPr/>
        </p:nvCxnSpPr>
        <p:spPr>
          <a:xfrm>
            <a:off x="0" y="1001251"/>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32" name="F25E1CD4-A583-4BB2-82B1-EA8448AABC97" descr="95C080D9-D9F9-4764-A9F0-7C86F910EFA5"/>
          <p:cNvPicPr>
            <a:picLocks noChangeAspect="1" noChangeArrowheads="1"/>
          </p:cNvPicPr>
          <p:nvPr/>
        </p:nvPicPr>
        <p:blipFill>
          <a:blip r:embed="rId31" cstate="print">
            <a:extLst>
              <a:ext uri="{28A0092B-C50C-407E-A947-70E740481C1C}">
                <a14:useLocalDpi xmlns:a14="http://schemas.microsoft.com/office/drawing/2010/main" val="0"/>
              </a:ext>
            </a:extLst>
          </a:blip>
          <a:srcRect/>
          <a:stretch>
            <a:fillRect/>
          </a:stretch>
        </p:blipFill>
        <p:spPr bwMode="auto">
          <a:xfrm>
            <a:off x="527382" y="6412534"/>
            <a:ext cx="480053" cy="280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platzhalter 2"/>
          <p:cNvSpPr txBox="1">
            <a:spLocks/>
          </p:cNvSpPr>
          <p:nvPr userDrawn="1"/>
        </p:nvSpPr>
        <p:spPr bwMode="gray">
          <a:xfrm>
            <a:off x="336000" y="1494002"/>
            <a:ext cx="11520000" cy="4622639"/>
          </a:xfrm>
          <a:prstGeom prst="rect">
            <a:avLst/>
          </a:prstGeom>
        </p:spPr>
        <p:txBody>
          <a:bodyPr vert="horz" lIns="0" tIns="0" rIns="0" bIns="0" rtlCol="0">
            <a:noAutofit/>
          </a:bodyPr>
          <a:lstStyle>
            <a:lvl1pPr marL="285750" marR="0" indent="-285750" algn="l" defTabSz="914400" rtl="0" eaLnBrk="1" fontAlgn="auto" latinLnBrk="0" hangingPunct="1">
              <a:lnSpc>
                <a:spcPct val="100000"/>
              </a:lnSpc>
              <a:spcBef>
                <a:spcPts val="600"/>
              </a:spcBef>
              <a:spcAft>
                <a:spcPts val="200"/>
              </a:spcAft>
              <a:buClr>
                <a:schemeClr val="accent2"/>
              </a:buClr>
              <a:buSzPct val="80000"/>
              <a:buFont typeface="Wingdings" panose="05000000000000000000" pitchFamily="2" charset="2"/>
              <a:buChar char="q"/>
              <a:tabLst/>
              <a:defRPr sz="1800" kern="1200" baseline="0">
                <a:solidFill>
                  <a:schemeClr val="accent2"/>
                </a:solidFill>
                <a:latin typeface="+mn-lt"/>
                <a:ea typeface="+mn-ea"/>
                <a:cs typeface="+mn-cs"/>
              </a:defRPr>
            </a:lvl1pPr>
            <a:lvl2pPr marL="623888" marR="0" indent="-285750" algn="l" defTabSz="914400" rtl="0" eaLnBrk="1" fontAlgn="auto" latinLnBrk="0" hangingPunct="1">
              <a:lnSpc>
                <a:spcPct val="100000"/>
              </a:lnSpc>
              <a:spcBef>
                <a:spcPts val="0"/>
              </a:spcBef>
              <a:spcAft>
                <a:spcPts val="0"/>
              </a:spcAft>
              <a:buClr>
                <a:srgbClr val="ED7404"/>
              </a:buClr>
              <a:buSzPct val="105000"/>
              <a:buFont typeface="Wingdings" panose="05000000000000000000" pitchFamily="2" charset="2"/>
              <a:buChar char="§"/>
              <a:tabLst>
                <a:tab pos="623888" algn="l"/>
              </a:tabLst>
              <a:defRPr sz="1400" kern="1200">
                <a:solidFill>
                  <a:schemeClr val="tx1"/>
                </a:solidFill>
                <a:latin typeface="+mn-lt"/>
                <a:ea typeface="+mn-ea"/>
                <a:cs typeface="+mn-cs"/>
              </a:defRPr>
            </a:lvl2pPr>
            <a:lvl3pPr marL="804863" marR="0" indent="-179388" algn="l" defTabSz="914400" rtl="0" eaLnBrk="1" fontAlgn="auto" latinLnBrk="0" hangingPunct="1">
              <a:lnSpc>
                <a:spcPct val="100000"/>
              </a:lnSpc>
              <a:spcBef>
                <a:spcPts val="500"/>
              </a:spcBef>
              <a:spcAft>
                <a:spcPts val="0"/>
              </a:spcAft>
              <a:buClr>
                <a:srgbClr val="63666A"/>
              </a:buClr>
              <a:buSzTx/>
              <a:buFont typeface="Arial" panose="020B0604020202020204" pitchFamily="34" charset="0"/>
              <a:buChar char="•"/>
              <a:tabLst>
                <a:tab pos="714375" algn="l"/>
              </a:tabLst>
              <a:defRPr sz="1200" kern="1200">
                <a:solidFill>
                  <a:schemeClr val="tx1"/>
                </a:solidFill>
                <a:latin typeface="+mn-lt"/>
                <a:ea typeface="+mn-ea"/>
                <a:cs typeface="+mn-cs"/>
              </a:defRPr>
            </a:lvl3pPr>
            <a:lvl4pPr marL="1074738" marR="0" indent="-185738" algn="l" defTabSz="914400" rtl="0" eaLnBrk="1" fontAlgn="auto" latinLnBrk="0" hangingPunct="1">
              <a:lnSpc>
                <a:spcPct val="100000"/>
              </a:lnSpc>
              <a:spcBef>
                <a:spcPts val="500"/>
              </a:spcBef>
              <a:spcAft>
                <a:spcPts val="0"/>
              </a:spcAft>
              <a:buClr>
                <a:srgbClr val="63666A"/>
              </a:buClr>
              <a:buSzTx/>
              <a:buFont typeface="Symbol" panose="05050102010706020507" pitchFamily="18" charset="2"/>
              <a:buChar char="-"/>
              <a:tabLst/>
              <a:defRPr sz="1200" kern="1200">
                <a:solidFill>
                  <a:schemeClr val="tx1"/>
                </a:solidFill>
                <a:latin typeface="+mn-lt"/>
                <a:ea typeface="+mn-ea"/>
                <a:cs typeface="+mn-cs"/>
              </a:defRPr>
            </a:lvl4pPr>
            <a:lvl5pPr marL="1346200" marR="0" indent="-185738" algn="l" defTabSz="914400" rtl="0" eaLnBrk="1" fontAlgn="auto" latinLnBrk="0" hangingPunct="1">
              <a:lnSpc>
                <a:spcPct val="100000"/>
              </a:lnSpc>
              <a:spcBef>
                <a:spcPts val="500"/>
              </a:spcBef>
              <a:spcAft>
                <a:spcPts val="0"/>
              </a:spcAft>
              <a:buClr>
                <a:srgbClr val="63666A"/>
              </a:buClr>
              <a:buSzPct val="85000"/>
              <a:buFont typeface="Courier New" panose="02070309020205020404" pitchFamily="49" charset="0"/>
              <a:buChar char="o"/>
              <a:tabLst>
                <a:tab pos="1255713" algn="l"/>
              </a:tabLst>
              <a:defRPr sz="1200" kern="1200" baseline="0">
                <a:solidFill>
                  <a:schemeClr val="tx1"/>
                </a:solidFill>
                <a:latin typeface="+mn-lt"/>
                <a:ea typeface="+mn-ea"/>
                <a:cs typeface="+mn-cs"/>
              </a:defRPr>
            </a:lvl5pPr>
            <a:lvl6pPr marL="1706563" marR="0" indent="-185738" algn="l" defTabSz="914400" rtl="0" eaLnBrk="1" fontAlgn="auto" latinLnBrk="0" hangingPunct="1">
              <a:lnSpc>
                <a:spcPct val="100000"/>
              </a:lnSpc>
              <a:spcBef>
                <a:spcPts val="500"/>
              </a:spcBef>
              <a:spcAft>
                <a:spcPts val="0"/>
              </a:spcAft>
              <a:buClr>
                <a:srgbClr val="63666A"/>
              </a:buClr>
              <a:buSzTx/>
              <a:buFont typeface="Calibri" panose="020F0502020204030204" pitchFamily="34" charset="0"/>
              <a:buChar char="»"/>
              <a:tabLst/>
              <a:defRPr sz="1200" kern="1200">
                <a:solidFill>
                  <a:schemeClr val="tx1"/>
                </a:solidFill>
                <a:latin typeface="+mn-lt"/>
                <a:ea typeface="+mn-ea"/>
                <a:cs typeface="+mn-cs"/>
              </a:defRPr>
            </a:lvl6pPr>
            <a:lvl7pPr marL="766800" indent="-187200" algn="l" defTabSz="914400" rtl="0" eaLnBrk="1" latinLnBrk="0" hangingPunct="1">
              <a:spcBef>
                <a:spcPts val="500"/>
              </a:spcBef>
              <a:buClr>
                <a:schemeClr val="tx1"/>
              </a:buClr>
              <a:buFont typeface="Calibri" panose="020F0502020204030204" pitchFamily="34" charset="0"/>
              <a:buChar char="»"/>
              <a:defRPr sz="1400" kern="1200" baseline="0">
                <a:solidFill>
                  <a:srgbClr val="6D6D6D"/>
                </a:solidFill>
                <a:latin typeface="+mn-lt"/>
                <a:ea typeface="+mn-ea"/>
                <a:cs typeface="+mn-cs"/>
              </a:defRPr>
            </a:lvl7pPr>
            <a:lvl8pPr marL="766800" indent="-187200" algn="l" defTabSz="914400" rtl="0" eaLnBrk="1" latinLnBrk="0" hangingPunct="1">
              <a:spcBef>
                <a:spcPts val="500"/>
              </a:spcBef>
              <a:buClr>
                <a:schemeClr val="tx1"/>
              </a:buClr>
              <a:buFont typeface="Calibri" panose="020F0502020204030204" pitchFamily="34" charset="0"/>
              <a:buChar char="»"/>
              <a:defRPr sz="1400" kern="1200" baseline="0">
                <a:solidFill>
                  <a:srgbClr val="6D6D6D"/>
                </a:solidFill>
                <a:latin typeface="+mn-lt"/>
                <a:ea typeface="+mn-ea"/>
                <a:cs typeface="+mn-cs"/>
              </a:defRPr>
            </a:lvl8pPr>
            <a:lvl9pPr marL="766800" indent="-187200" algn="l" defTabSz="914400" rtl="0" eaLnBrk="1" latinLnBrk="0" hangingPunct="1">
              <a:spcBef>
                <a:spcPts val="500"/>
              </a:spcBef>
              <a:buClr>
                <a:schemeClr val="tx1"/>
              </a:buClr>
              <a:buFont typeface="Calibri" panose="020F0502020204030204" pitchFamily="34" charset="0"/>
              <a:buChar char="»"/>
              <a:defRPr sz="1400" kern="1200" baseline="0">
                <a:solidFill>
                  <a:srgbClr val="6D6D6D"/>
                </a:solidFill>
                <a:latin typeface="+mn-lt"/>
                <a:ea typeface="+mn-ea"/>
                <a:cs typeface="+mn-cs"/>
              </a:defRPr>
            </a:lvl9pPr>
          </a:lstStyle>
          <a:p>
            <a:endParaRPr lang="en-US" sz="2400" dirty="0"/>
          </a:p>
        </p:txBody>
      </p:sp>
    </p:spTree>
    <p:extLst>
      <p:ext uri="{BB962C8B-B14F-4D97-AF65-F5344CB8AC3E}">
        <p14:creationId xmlns:p14="http://schemas.microsoft.com/office/powerpoint/2010/main" val="2002706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5" r:id="rId23"/>
    <p:sldLayoutId id="2147483686" r:id="rId24"/>
    <p:sldLayoutId id="2147483687" r:id="rId25"/>
  </p:sldLayoutIdLst>
  <p:txStyles>
    <p:titleStyle>
      <a:lvl1pPr algn="l" defTabSz="1219170" rtl="0" eaLnBrk="1" latinLnBrk="0" hangingPunct="1">
        <a:spcBef>
          <a:spcPct val="0"/>
        </a:spcBef>
        <a:buNone/>
        <a:defRPr sz="3200" kern="1200" cap="none" baseline="0">
          <a:solidFill>
            <a:schemeClr val="accent5"/>
          </a:solidFill>
          <a:latin typeface="+mj-lt"/>
          <a:ea typeface="+mj-ea"/>
          <a:cs typeface="+mj-cs"/>
        </a:defRPr>
      </a:lvl1pPr>
    </p:titleStyle>
    <p:bodyStyle>
      <a:lvl1pPr marL="0" marR="0" indent="0" algn="l" defTabSz="1219170" rtl="0" eaLnBrk="1" fontAlgn="auto" latinLnBrk="0" hangingPunct="1">
        <a:lnSpc>
          <a:spcPct val="100000"/>
        </a:lnSpc>
        <a:spcBef>
          <a:spcPts val="0"/>
        </a:spcBef>
        <a:spcAft>
          <a:spcPts val="667"/>
        </a:spcAft>
        <a:buClrTx/>
        <a:buSzTx/>
        <a:buFont typeface="Arial" panose="020B0604020202020204" pitchFamily="34" charset="0"/>
        <a:buNone/>
        <a:tabLst/>
        <a:defRPr sz="2667" kern="1200" baseline="0">
          <a:solidFill>
            <a:schemeClr val="tx1"/>
          </a:solidFill>
          <a:latin typeface="+mn-lt"/>
          <a:ea typeface="+mn-ea"/>
          <a:cs typeface="+mn-cs"/>
        </a:defRPr>
      </a:lvl1pPr>
      <a:lvl2pPr marL="0" marR="0" indent="0" algn="l" defTabSz="1219170" rtl="0" eaLnBrk="1" fontAlgn="auto" latinLnBrk="0" hangingPunct="1">
        <a:lnSpc>
          <a:spcPct val="100000"/>
        </a:lnSpc>
        <a:spcBef>
          <a:spcPts val="667"/>
        </a:spcBef>
        <a:spcAft>
          <a:spcPts val="0"/>
        </a:spcAft>
        <a:buClr>
          <a:srgbClr val="ED7404"/>
        </a:buClr>
        <a:buSzPct val="105000"/>
        <a:buFontTx/>
        <a:buNone/>
        <a:tabLst/>
        <a:defRPr sz="2400" kern="1200">
          <a:solidFill>
            <a:srgbClr val="6D6D6D"/>
          </a:solidFill>
          <a:latin typeface="+mn-lt"/>
          <a:ea typeface="+mn-ea"/>
          <a:cs typeface="+mn-cs"/>
        </a:defRPr>
      </a:lvl2pPr>
      <a:lvl3pPr marL="239994" marR="0" indent="-239994" algn="l" defTabSz="1219170" rtl="0" eaLnBrk="1" fontAlgn="auto" latinLnBrk="0" hangingPunct="1">
        <a:lnSpc>
          <a:spcPct val="100000"/>
        </a:lnSpc>
        <a:spcBef>
          <a:spcPts val="667"/>
        </a:spcBef>
        <a:spcAft>
          <a:spcPts val="0"/>
        </a:spcAft>
        <a:buClr>
          <a:srgbClr val="63666A"/>
        </a:buClr>
        <a:buSzTx/>
        <a:buFont typeface="Calibri" panose="020F0502020204030204" pitchFamily="34" charset="0"/>
        <a:buChar char="›"/>
        <a:tabLst/>
        <a:defRPr sz="2133" kern="1200">
          <a:solidFill>
            <a:srgbClr val="6D6D6D"/>
          </a:solidFill>
          <a:latin typeface="+mn-lt"/>
          <a:ea typeface="+mn-ea"/>
          <a:cs typeface="+mn-cs"/>
        </a:defRPr>
      </a:lvl3pPr>
      <a:lvl4pPr marL="489588" marR="0" indent="-249594" algn="l" defTabSz="1219170" rtl="0" eaLnBrk="1" fontAlgn="auto" latinLnBrk="0" hangingPunct="1">
        <a:lnSpc>
          <a:spcPct val="100000"/>
        </a:lnSpc>
        <a:spcBef>
          <a:spcPts val="667"/>
        </a:spcBef>
        <a:spcAft>
          <a:spcPts val="0"/>
        </a:spcAft>
        <a:buClr>
          <a:srgbClr val="63666A"/>
        </a:buClr>
        <a:buSzTx/>
        <a:buFont typeface="Symbol" panose="05050102010706020507" pitchFamily="18" charset="2"/>
        <a:buChar char="-"/>
        <a:tabLst/>
        <a:defRPr sz="2133" kern="1200">
          <a:solidFill>
            <a:srgbClr val="6D6D6D"/>
          </a:solidFill>
          <a:latin typeface="+mn-lt"/>
          <a:ea typeface="+mn-ea"/>
          <a:cs typeface="+mn-cs"/>
        </a:defRPr>
      </a:lvl4pPr>
      <a:lvl5pPr marL="767981" marR="0" indent="-249594" algn="l" defTabSz="1219170" rtl="0" eaLnBrk="1" fontAlgn="auto" latinLnBrk="0" hangingPunct="1">
        <a:lnSpc>
          <a:spcPct val="100000"/>
        </a:lnSpc>
        <a:spcBef>
          <a:spcPts val="667"/>
        </a:spcBef>
        <a:spcAft>
          <a:spcPts val="0"/>
        </a:spcAft>
        <a:buClr>
          <a:srgbClr val="63666A"/>
        </a:buClr>
        <a:buSzTx/>
        <a:buFont typeface="Symbol" panose="05050102010706020507" pitchFamily="18" charset="2"/>
        <a:buChar char="-"/>
        <a:tabLst/>
        <a:defRPr sz="1867" kern="1200">
          <a:solidFill>
            <a:srgbClr val="6D6D6D"/>
          </a:solidFill>
          <a:latin typeface="+mn-lt"/>
          <a:ea typeface="+mn-ea"/>
          <a:cs typeface="+mn-cs"/>
        </a:defRPr>
      </a:lvl5pPr>
      <a:lvl6pPr marL="1022325" marR="0" indent="-247644" algn="l" defTabSz="1219170" rtl="0" eaLnBrk="1" fontAlgn="auto" latinLnBrk="0" hangingPunct="1">
        <a:lnSpc>
          <a:spcPct val="100000"/>
        </a:lnSpc>
        <a:spcBef>
          <a:spcPts val="667"/>
        </a:spcBef>
        <a:spcAft>
          <a:spcPts val="0"/>
        </a:spcAft>
        <a:buClr>
          <a:srgbClr val="63666A"/>
        </a:buClr>
        <a:buSzTx/>
        <a:buFont typeface="Calibri" panose="020F0502020204030204" pitchFamily="34" charset="0"/>
        <a:buChar char="»"/>
        <a:tabLst/>
        <a:defRPr sz="1867" kern="1200">
          <a:solidFill>
            <a:srgbClr val="6D6D6D"/>
          </a:solidFill>
          <a:latin typeface="+mn-lt"/>
          <a:ea typeface="+mn-ea"/>
          <a:cs typeface="+mn-cs"/>
        </a:defRPr>
      </a:lvl6pPr>
      <a:lvl7pPr marL="1022374" indent="-249594" algn="l" defTabSz="1219170" rtl="0" eaLnBrk="1" latinLnBrk="0" hangingPunct="1">
        <a:spcBef>
          <a:spcPts val="667"/>
        </a:spcBef>
        <a:buClr>
          <a:schemeClr val="tx1"/>
        </a:buClr>
        <a:buFont typeface="Calibri" panose="020F0502020204030204" pitchFamily="34" charset="0"/>
        <a:buChar char="»"/>
        <a:defRPr sz="1867" kern="1200" baseline="0">
          <a:solidFill>
            <a:srgbClr val="6D6D6D"/>
          </a:solidFill>
          <a:latin typeface="+mn-lt"/>
          <a:ea typeface="+mn-ea"/>
          <a:cs typeface="+mn-cs"/>
        </a:defRPr>
      </a:lvl7pPr>
      <a:lvl8pPr marL="1022374" indent="-249594" algn="l" defTabSz="1219170" rtl="0" eaLnBrk="1" latinLnBrk="0" hangingPunct="1">
        <a:spcBef>
          <a:spcPts val="667"/>
        </a:spcBef>
        <a:buClr>
          <a:schemeClr val="tx1"/>
        </a:buClr>
        <a:buFont typeface="Calibri" panose="020F0502020204030204" pitchFamily="34" charset="0"/>
        <a:buChar char="»"/>
        <a:defRPr sz="1867" kern="1200" baseline="0">
          <a:solidFill>
            <a:srgbClr val="6D6D6D"/>
          </a:solidFill>
          <a:latin typeface="+mn-lt"/>
          <a:ea typeface="+mn-ea"/>
          <a:cs typeface="+mn-cs"/>
        </a:defRPr>
      </a:lvl8pPr>
      <a:lvl9pPr marL="1022374" indent="-249594" algn="l" defTabSz="1219170" rtl="0" eaLnBrk="1" latinLnBrk="0" hangingPunct="1">
        <a:spcBef>
          <a:spcPts val="667"/>
        </a:spcBef>
        <a:buClr>
          <a:schemeClr val="tx1"/>
        </a:buClr>
        <a:buFont typeface="Calibri" panose="020F0502020204030204" pitchFamily="34" charset="0"/>
        <a:buChar char="»"/>
        <a:defRPr sz="1867" kern="1200" baseline="0">
          <a:solidFill>
            <a:srgbClr val="6D6D6D"/>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25.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3.xml"/><Relationship Id="rId4" Type="http://schemas.openxmlformats.org/officeDocument/2006/relationships/image" Target="../media/image32.jpeg"/></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37.jpeg"/><Relationship Id="rId4" Type="http://schemas.openxmlformats.org/officeDocument/2006/relationships/image" Target="../media/image36.jpeg"/></Relationships>
</file>

<file path=ppt/slides/_rels/slide3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3.xml"/><Relationship Id="rId4" Type="http://schemas.openxmlformats.org/officeDocument/2006/relationships/image" Target="../media/image42.jpeg"/></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eg"/><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3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0" y="3321268"/>
            <a:ext cx="10060799" cy="1569744"/>
          </a:xfrm>
        </p:spPr>
        <p:txBody>
          <a:bodyPr/>
          <a:lstStyle/>
          <a:p>
            <a:r>
              <a:rPr lang="fr-FR" dirty="0"/>
              <a:t>Processus MDU</a:t>
            </a:r>
          </a:p>
        </p:txBody>
      </p:sp>
    </p:spTree>
    <p:extLst>
      <p:ext uri="{BB962C8B-B14F-4D97-AF65-F5344CB8AC3E}">
        <p14:creationId xmlns:p14="http://schemas.microsoft.com/office/powerpoint/2010/main" val="2750042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p:cNvSpPr>
            <a:spLocks noGrp="1"/>
          </p:cNvSpPr>
          <p:nvPr>
            <p:ph idx="1"/>
          </p:nvPr>
        </p:nvSpPr>
        <p:spPr>
          <a:xfrm>
            <a:off x="646102" y="1077446"/>
            <a:ext cx="10700410" cy="4622639"/>
          </a:xfrm>
        </p:spPr>
        <p:txBody>
          <a:bodyPr/>
          <a:lstStyle/>
          <a:p>
            <a:endParaRPr lang="fr-FR" dirty="0"/>
          </a:p>
          <a:p>
            <a:pPr marL="0" indent="0">
              <a:buNone/>
            </a:pPr>
            <a:r>
              <a:rPr lang="fr-FR" sz="2800" b="1" dirty="0"/>
              <a:t>1. </a:t>
            </a:r>
            <a:r>
              <a:rPr lang="fr-FR" sz="2800" dirty="0"/>
              <a:t>Nous distinguerons deux types de processus MDU :</a:t>
            </a:r>
          </a:p>
          <a:p>
            <a:pPr fontAlgn="ctr"/>
            <a:r>
              <a:rPr lang="fr-FR" sz="2800" b="1" u="sng" dirty="0"/>
              <a:t>Standard</a:t>
            </a:r>
            <a:r>
              <a:rPr lang="fr-FR" sz="2800" dirty="0"/>
              <a:t> : processus actuellement éprouvé au Gabon/Togo, là où le ratio est en faveur des </a:t>
            </a:r>
            <a:r>
              <a:rPr lang="fr-FR" sz="2800" dirty="0" err="1"/>
              <a:t>OTBs</a:t>
            </a:r>
            <a:r>
              <a:rPr lang="fr-FR" sz="2800" dirty="0"/>
              <a:t> </a:t>
            </a:r>
          </a:p>
          <a:p>
            <a:pPr fontAlgn="ctr"/>
            <a:r>
              <a:rPr lang="fr-FR" sz="2800" b="1" u="sng" dirty="0"/>
              <a:t>Industrialisé</a:t>
            </a:r>
            <a:r>
              <a:rPr lang="fr-FR" sz="2800" dirty="0"/>
              <a:t> : processus à destination de la CIV où le ratio est inversé (en faveur des </a:t>
            </a:r>
            <a:r>
              <a:rPr lang="fr-FR" sz="2800" dirty="0" err="1"/>
              <a:t>MDUs</a:t>
            </a:r>
            <a:r>
              <a:rPr lang="fr-FR" sz="2800" dirty="0"/>
              <a:t>)</a:t>
            </a:r>
          </a:p>
          <a:p>
            <a:pPr fontAlgn="ctr"/>
            <a:endParaRPr lang="fr-FR" sz="2800" dirty="0"/>
          </a:p>
          <a:p>
            <a:pPr marL="0" indent="0" fontAlgn="ctr">
              <a:buNone/>
            </a:pPr>
            <a:r>
              <a:rPr lang="fr-FR" sz="2800" b="1" dirty="0"/>
              <a:t>2. </a:t>
            </a:r>
            <a:r>
              <a:rPr lang="fr-FR" sz="2800" dirty="0"/>
              <a:t>L’entrée du processus reste à être modélisée : dimensionnement des zones d’influence</a:t>
            </a:r>
          </a:p>
        </p:txBody>
      </p:sp>
      <p:sp>
        <p:nvSpPr>
          <p:cNvPr id="3" name="Titre 2"/>
          <p:cNvSpPr>
            <a:spLocks noGrp="1"/>
          </p:cNvSpPr>
          <p:nvPr>
            <p:ph type="title"/>
          </p:nvPr>
        </p:nvSpPr>
        <p:spPr/>
        <p:txBody>
          <a:bodyPr/>
          <a:lstStyle/>
          <a:p>
            <a:r>
              <a:rPr lang="fr-FR" dirty="0"/>
              <a:t>Contexte de modélisation</a:t>
            </a:r>
          </a:p>
        </p:txBody>
      </p:sp>
      <p:sp>
        <p:nvSpPr>
          <p:cNvPr id="5" name="Espace réservé du texte 4"/>
          <p:cNvSpPr>
            <a:spLocks noGrp="1"/>
          </p:cNvSpPr>
          <p:nvPr>
            <p:ph type="body" sz="quarter" idx="13"/>
          </p:nvPr>
        </p:nvSpPr>
        <p:spPr/>
        <p:txBody>
          <a:bodyPr/>
          <a:lstStyle/>
          <a:p>
            <a:endParaRPr lang="fr-FR"/>
          </a:p>
        </p:txBody>
      </p:sp>
    </p:spTree>
    <p:extLst>
      <p:ext uri="{BB962C8B-B14F-4D97-AF65-F5344CB8AC3E}">
        <p14:creationId xmlns:p14="http://schemas.microsoft.com/office/powerpoint/2010/main" val="522115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6"/>
          <p:cNvSpPr txBox="1">
            <a:spLocks/>
          </p:cNvSpPr>
          <p:nvPr/>
        </p:nvSpPr>
        <p:spPr bwMode="gray">
          <a:xfrm>
            <a:off x="303983" y="495324"/>
            <a:ext cx="10727165" cy="332547"/>
          </a:xfrm>
          <a:prstGeom prst="rect">
            <a:avLst/>
          </a:prstGeom>
        </p:spPr>
        <p:txBody>
          <a:bodyPr vert="horz" lIns="0" tIns="0" rIns="0" bIns="0" rtlCol="0" anchor="b">
            <a:noAutofit/>
          </a:bodyPr>
          <a:lstStyle>
            <a:lvl1pPr algn="l" defTabSz="1219170" rtl="0" eaLnBrk="1" latinLnBrk="0" hangingPunct="1">
              <a:spcBef>
                <a:spcPct val="0"/>
              </a:spcBef>
              <a:buNone/>
              <a:defRPr sz="3200" kern="1200" cap="none" baseline="0">
                <a:solidFill>
                  <a:schemeClr val="accent5"/>
                </a:solidFill>
                <a:latin typeface="+mj-lt"/>
                <a:ea typeface="+mj-ea"/>
                <a:cs typeface="+mj-cs"/>
              </a:defRPr>
            </a:lvl1pPr>
          </a:lstStyle>
          <a:p>
            <a:r>
              <a:rPr lang="fr-FR" dirty="0"/>
              <a:t>Contexte de modélisation</a:t>
            </a:r>
            <a:endParaRPr lang="en-US" dirty="0"/>
          </a:p>
        </p:txBody>
      </p:sp>
      <p:sp>
        <p:nvSpPr>
          <p:cNvPr id="4" name="ZoneTexte 3"/>
          <p:cNvSpPr txBox="1"/>
          <p:nvPr/>
        </p:nvSpPr>
        <p:spPr>
          <a:xfrm>
            <a:off x="647205" y="1409033"/>
            <a:ext cx="5931725" cy="724395"/>
          </a:xfrm>
          <a:prstGeom prst="rect">
            <a:avLst/>
          </a:prstGeom>
          <a:noFill/>
        </p:spPr>
        <p:txBody>
          <a:bodyPr wrap="square" lIns="0" tIns="0" rIns="0" bIns="0" rtlCol="0">
            <a:noAutofit/>
          </a:bodyPr>
          <a:lstStyle/>
          <a:p>
            <a:r>
              <a:rPr lang="fr-FR" b="1" dirty="0"/>
              <a:t>Convention de modélisation :</a:t>
            </a:r>
          </a:p>
        </p:txBody>
      </p:sp>
      <p:pic>
        <p:nvPicPr>
          <p:cNvPr id="5" name="Image 4"/>
          <p:cNvPicPr>
            <a:picLocks noChangeAspect="1"/>
          </p:cNvPicPr>
          <p:nvPr/>
        </p:nvPicPr>
        <p:blipFill>
          <a:blip r:embed="rId2"/>
          <a:stretch>
            <a:fillRect/>
          </a:stretch>
        </p:blipFill>
        <p:spPr>
          <a:xfrm>
            <a:off x="8132830" y="2336748"/>
            <a:ext cx="609685" cy="581106"/>
          </a:xfrm>
          <a:prstGeom prst="rect">
            <a:avLst/>
          </a:prstGeom>
        </p:spPr>
      </p:pic>
      <p:pic>
        <p:nvPicPr>
          <p:cNvPr id="6" name="Image 5"/>
          <p:cNvPicPr>
            <a:picLocks noChangeAspect="1"/>
          </p:cNvPicPr>
          <p:nvPr/>
        </p:nvPicPr>
        <p:blipFill>
          <a:blip r:embed="rId3"/>
          <a:stretch>
            <a:fillRect/>
          </a:stretch>
        </p:blipFill>
        <p:spPr>
          <a:xfrm>
            <a:off x="8045487" y="3105737"/>
            <a:ext cx="784369" cy="616291"/>
          </a:xfrm>
          <a:prstGeom prst="rect">
            <a:avLst/>
          </a:prstGeom>
        </p:spPr>
      </p:pic>
      <p:pic>
        <p:nvPicPr>
          <p:cNvPr id="7" name="Image 6"/>
          <p:cNvPicPr>
            <a:picLocks noChangeAspect="1"/>
          </p:cNvPicPr>
          <p:nvPr/>
        </p:nvPicPr>
        <p:blipFill>
          <a:blip r:embed="rId4"/>
          <a:stretch>
            <a:fillRect/>
          </a:stretch>
        </p:blipFill>
        <p:spPr>
          <a:xfrm>
            <a:off x="7924902" y="4082946"/>
            <a:ext cx="1065120" cy="342948"/>
          </a:xfrm>
          <a:prstGeom prst="rect">
            <a:avLst/>
          </a:prstGeom>
        </p:spPr>
      </p:pic>
      <p:cxnSp>
        <p:nvCxnSpPr>
          <p:cNvPr id="9" name="Connecteur droit avec flèche 8"/>
          <p:cNvCxnSpPr/>
          <p:nvPr/>
        </p:nvCxnSpPr>
        <p:spPr>
          <a:xfrm>
            <a:off x="8029950" y="5100981"/>
            <a:ext cx="855024" cy="5937"/>
          </a:xfrm>
          <a:prstGeom prst="straightConnector1">
            <a:avLst/>
          </a:prstGeom>
          <a:ln w="95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pic>
        <p:nvPicPr>
          <p:cNvPr id="12" name="Image 11"/>
          <p:cNvPicPr>
            <a:picLocks noChangeAspect="1"/>
          </p:cNvPicPr>
          <p:nvPr/>
        </p:nvPicPr>
        <p:blipFill>
          <a:blip r:embed="rId5"/>
          <a:stretch>
            <a:fillRect/>
          </a:stretch>
        </p:blipFill>
        <p:spPr>
          <a:xfrm>
            <a:off x="4396858" y="2244359"/>
            <a:ext cx="1099220" cy="804307"/>
          </a:xfrm>
          <a:prstGeom prst="rect">
            <a:avLst/>
          </a:prstGeom>
        </p:spPr>
      </p:pic>
      <p:pic>
        <p:nvPicPr>
          <p:cNvPr id="13" name="Image 12"/>
          <p:cNvPicPr>
            <a:picLocks noChangeAspect="1"/>
          </p:cNvPicPr>
          <p:nvPr/>
        </p:nvPicPr>
        <p:blipFill>
          <a:blip r:embed="rId6"/>
          <a:stretch>
            <a:fillRect/>
          </a:stretch>
        </p:blipFill>
        <p:spPr>
          <a:xfrm>
            <a:off x="4323410" y="3331315"/>
            <a:ext cx="1246117" cy="927766"/>
          </a:xfrm>
          <a:prstGeom prst="rect">
            <a:avLst/>
          </a:prstGeom>
        </p:spPr>
      </p:pic>
      <p:pic>
        <p:nvPicPr>
          <p:cNvPr id="14" name="Image 13"/>
          <p:cNvPicPr>
            <a:picLocks noChangeAspect="1"/>
          </p:cNvPicPr>
          <p:nvPr/>
        </p:nvPicPr>
        <p:blipFill>
          <a:blip r:embed="rId7"/>
          <a:stretch>
            <a:fillRect/>
          </a:stretch>
        </p:blipFill>
        <p:spPr>
          <a:xfrm>
            <a:off x="574003" y="2336748"/>
            <a:ext cx="658286" cy="545143"/>
          </a:xfrm>
          <a:prstGeom prst="rect">
            <a:avLst/>
          </a:prstGeom>
        </p:spPr>
      </p:pic>
      <p:pic>
        <p:nvPicPr>
          <p:cNvPr id="15" name="Image 14"/>
          <p:cNvPicPr>
            <a:picLocks noChangeAspect="1"/>
          </p:cNvPicPr>
          <p:nvPr/>
        </p:nvPicPr>
        <p:blipFill>
          <a:blip r:embed="rId8"/>
          <a:stretch>
            <a:fillRect/>
          </a:stretch>
        </p:blipFill>
        <p:spPr>
          <a:xfrm>
            <a:off x="603042" y="3071646"/>
            <a:ext cx="531900" cy="563188"/>
          </a:xfrm>
          <a:prstGeom prst="rect">
            <a:avLst/>
          </a:prstGeom>
        </p:spPr>
      </p:pic>
      <p:pic>
        <p:nvPicPr>
          <p:cNvPr id="16" name="Image 15"/>
          <p:cNvPicPr>
            <a:picLocks noChangeAspect="1"/>
          </p:cNvPicPr>
          <p:nvPr/>
        </p:nvPicPr>
        <p:blipFill>
          <a:blip r:embed="rId9"/>
          <a:stretch>
            <a:fillRect/>
          </a:stretch>
        </p:blipFill>
        <p:spPr>
          <a:xfrm>
            <a:off x="574003" y="3836692"/>
            <a:ext cx="560939" cy="521574"/>
          </a:xfrm>
          <a:prstGeom prst="rect">
            <a:avLst/>
          </a:prstGeom>
        </p:spPr>
      </p:pic>
      <p:pic>
        <p:nvPicPr>
          <p:cNvPr id="17" name="Image 16"/>
          <p:cNvPicPr>
            <a:picLocks noChangeAspect="1"/>
          </p:cNvPicPr>
          <p:nvPr/>
        </p:nvPicPr>
        <p:blipFill>
          <a:blip r:embed="rId10"/>
          <a:stretch>
            <a:fillRect/>
          </a:stretch>
        </p:blipFill>
        <p:spPr>
          <a:xfrm>
            <a:off x="558140" y="4580131"/>
            <a:ext cx="592667" cy="553155"/>
          </a:xfrm>
          <a:prstGeom prst="rect">
            <a:avLst/>
          </a:prstGeom>
        </p:spPr>
      </p:pic>
      <p:sp>
        <p:nvSpPr>
          <p:cNvPr id="18" name="ZoneTexte 17"/>
          <p:cNvSpPr txBox="1"/>
          <p:nvPr/>
        </p:nvSpPr>
        <p:spPr>
          <a:xfrm>
            <a:off x="1407226" y="2484911"/>
            <a:ext cx="1650670" cy="323209"/>
          </a:xfrm>
          <a:prstGeom prst="rect">
            <a:avLst/>
          </a:prstGeom>
          <a:noFill/>
        </p:spPr>
        <p:txBody>
          <a:bodyPr wrap="square" lIns="0" tIns="0" rIns="0" bIns="0" rtlCol="0">
            <a:noAutofit/>
          </a:bodyPr>
          <a:lstStyle/>
          <a:p>
            <a:r>
              <a:rPr lang="fr-FR" sz="1400" dirty="0"/>
              <a:t>Elément d’entrée</a:t>
            </a:r>
          </a:p>
        </p:txBody>
      </p:sp>
      <p:sp>
        <p:nvSpPr>
          <p:cNvPr id="19" name="ZoneTexte 18"/>
          <p:cNvSpPr txBox="1"/>
          <p:nvPr/>
        </p:nvSpPr>
        <p:spPr>
          <a:xfrm>
            <a:off x="1395329" y="3237788"/>
            <a:ext cx="1650670" cy="323209"/>
          </a:xfrm>
          <a:prstGeom prst="rect">
            <a:avLst/>
          </a:prstGeom>
          <a:noFill/>
        </p:spPr>
        <p:txBody>
          <a:bodyPr wrap="square" lIns="0" tIns="0" rIns="0" bIns="0" rtlCol="0">
            <a:noAutofit/>
          </a:bodyPr>
          <a:lstStyle/>
          <a:p>
            <a:r>
              <a:rPr lang="fr-FR" sz="1400" dirty="0"/>
              <a:t>Elément de sortie</a:t>
            </a:r>
          </a:p>
        </p:txBody>
      </p:sp>
      <p:sp>
        <p:nvSpPr>
          <p:cNvPr id="20" name="ZoneTexte 19"/>
          <p:cNvSpPr txBox="1"/>
          <p:nvPr/>
        </p:nvSpPr>
        <p:spPr>
          <a:xfrm>
            <a:off x="1395329" y="3935874"/>
            <a:ext cx="1650670" cy="323209"/>
          </a:xfrm>
          <a:prstGeom prst="rect">
            <a:avLst/>
          </a:prstGeom>
          <a:noFill/>
        </p:spPr>
        <p:txBody>
          <a:bodyPr wrap="square" lIns="0" tIns="0" rIns="0" bIns="0" rtlCol="0">
            <a:noAutofit/>
          </a:bodyPr>
          <a:lstStyle/>
          <a:p>
            <a:r>
              <a:rPr lang="fr-FR" sz="1400" dirty="0"/>
              <a:t>KO définitif</a:t>
            </a:r>
          </a:p>
        </p:txBody>
      </p:sp>
      <p:sp>
        <p:nvSpPr>
          <p:cNvPr id="21" name="ZoneTexte 20"/>
          <p:cNvSpPr txBox="1"/>
          <p:nvPr/>
        </p:nvSpPr>
        <p:spPr>
          <a:xfrm>
            <a:off x="1395329" y="4743542"/>
            <a:ext cx="1650670" cy="323209"/>
          </a:xfrm>
          <a:prstGeom prst="rect">
            <a:avLst/>
          </a:prstGeom>
          <a:noFill/>
        </p:spPr>
        <p:txBody>
          <a:bodyPr wrap="square" lIns="0" tIns="0" rIns="0" bIns="0" rtlCol="0">
            <a:noAutofit/>
          </a:bodyPr>
          <a:lstStyle/>
          <a:p>
            <a:r>
              <a:rPr lang="fr-FR" sz="1400" dirty="0"/>
              <a:t>KO provisoire</a:t>
            </a:r>
          </a:p>
        </p:txBody>
      </p:sp>
      <p:sp>
        <p:nvSpPr>
          <p:cNvPr id="22" name="ZoneTexte 21"/>
          <p:cNvSpPr txBox="1"/>
          <p:nvPr/>
        </p:nvSpPr>
        <p:spPr>
          <a:xfrm>
            <a:off x="5810069" y="2530124"/>
            <a:ext cx="1650670" cy="323209"/>
          </a:xfrm>
          <a:prstGeom prst="rect">
            <a:avLst/>
          </a:prstGeom>
          <a:noFill/>
        </p:spPr>
        <p:txBody>
          <a:bodyPr wrap="square" lIns="0" tIns="0" rIns="0" bIns="0" rtlCol="0">
            <a:noAutofit/>
          </a:bodyPr>
          <a:lstStyle/>
          <a:p>
            <a:r>
              <a:rPr lang="fr-FR" sz="1400" dirty="0"/>
              <a:t>Activité</a:t>
            </a:r>
          </a:p>
        </p:txBody>
      </p:sp>
      <p:sp>
        <p:nvSpPr>
          <p:cNvPr id="23" name="ZoneTexte 22"/>
          <p:cNvSpPr txBox="1"/>
          <p:nvPr/>
        </p:nvSpPr>
        <p:spPr>
          <a:xfrm>
            <a:off x="5816007" y="3707535"/>
            <a:ext cx="1650670" cy="323209"/>
          </a:xfrm>
          <a:prstGeom prst="rect">
            <a:avLst/>
          </a:prstGeom>
          <a:noFill/>
        </p:spPr>
        <p:txBody>
          <a:bodyPr wrap="square" lIns="0" tIns="0" rIns="0" bIns="0" rtlCol="0">
            <a:noAutofit/>
          </a:bodyPr>
          <a:lstStyle/>
          <a:p>
            <a:r>
              <a:rPr lang="fr-FR" sz="1400" dirty="0"/>
              <a:t>Sous processus</a:t>
            </a:r>
          </a:p>
        </p:txBody>
      </p:sp>
      <p:sp>
        <p:nvSpPr>
          <p:cNvPr id="24" name="ZoneTexte 23"/>
          <p:cNvSpPr txBox="1"/>
          <p:nvPr/>
        </p:nvSpPr>
        <p:spPr>
          <a:xfrm>
            <a:off x="9212779" y="2499400"/>
            <a:ext cx="1650670" cy="323209"/>
          </a:xfrm>
          <a:prstGeom prst="rect">
            <a:avLst/>
          </a:prstGeom>
          <a:noFill/>
        </p:spPr>
        <p:txBody>
          <a:bodyPr wrap="square" lIns="0" tIns="0" rIns="0" bIns="0" rtlCol="0">
            <a:noAutofit/>
          </a:bodyPr>
          <a:lstStyle/>
          <a:p>
            <a:r>
              <a:rPr lang="fr-FR" sz="1400" dirty="0"/>
              <a:t>Choix / condition</a:t>
            </a:r>
          </a:p>
        </p:txBody>
      </p:sp>
      <p:sp>
        <p:nvSpPr>
          <p:cNvPr id="25" name="ZoneTexte 24"/>
          <p:cNvSpPr txBox="1"/>
          <p:nvPr/>
        </p:nvSpPr>
        <p:spPr>
          <a:xfrm>
            <a:off x="9212779" y="3323198"/>
            <a:ext cx="1650670" cy="323209"/>
          </a:xfrm>
          <a:prstGeom prst="rect">
            <a:avLst/>
          </a:prstGeom>
          <a:noFill/>
        </p:spPr>
        <p:txBody>
          <a:bodyPr wrap="square" lIns="0" tIns="0" rIns="0" bIns="0" rtlCol="0">
            <a:noAutofit/>
          </a:bodyPr>
          <a:lstStyle/>
          <a:p>
            <a:r>
              <a:rPr lang="fr-FR" sz="1400" dirty="0"/>
              <a:t>Activités en parallèle</a:t>
            </a:r>
          </a:p>
        </p:txBody>
      </p:sp>
      <p:sp>
        <p:nvSpPr>
          <p:cNvPr id="26" name="ZoneTexte 25"/>
          <p:cNvSpPr txBox="1"/>
          <p:nvPr/>
        </p:nvSpPr>
        <p:spPr>
          <a:xfrm>
            <a:off x="9212779" y="4146996"/>
            <a:ext cx="2252847" cy="323209"/>
          </a:xfrm>
          <a:prstGeom prst="rect">
            <a:avLst/>
          </a:prstGeom>
          <a:noFill/>
        </p:spPr>
        <p:txBody>
          <a:bodyPr wrap="square" lIns="0" tIns="0" rIns="0" bIns="0" rtlCol="0">
            <a:noAutofit/>
          </a:bodyPr>
          <a:lstStyle/>
          <a:p>
            <a:r>
              <a:rPr lang="fr-FR" sz="1400" dirty="0"/>
              <a:t>Actions SI liées à une activité</a:t>
            </a:r>
          </a:p>
        </p:txBody>
      </p:sp>
      <p:sp>
        <p:nvSpPr>
          <p:cNvPr id="27" name="ZoneTexte 26"/>
          <p:cNvSpPr txBox="1"/>
          <p:nvPr/>
        </p:nvSpPr>
        <p:spPr>
          <a:xfrm>
            <a:off x="9171213" y="4939376"/>
            <a:ext cx="2252847" cy="323209"/>
          </a:xfrm>
          <a:prstGeom prst="rect">
            <a:avLst/>
          </a:prstGeom>
          <a:noFill/>
        </p:spPr>
        <p:txBody>
          <a:bodyPr wrap="square" lIns="0" tIns="0" rIns="0" bIns="0" rtlCol="0">
            <a:noAutofit/>
          </a:bodyPr>
          <a:lstStyle/>
          <a:p>
            <a:r>
              <a:rPr lang="fr-FR" sz="1400" dirty="0"/>
              <a:t>Flux</a:t>
            </a:r>
          </a:p>
        </p:txBody>
      </p:sp>
      <p:pic>
        <p:nvPicPr>
          <p:cNvPr id="28" name="Image 27"/>
          <p:cNvPicPr>
            <a:picLocks noChangeAspect="1"/>
          </p:cNvPicPr>
          <p:nvPr/>
        </p:nvPicPr>
        <p:blipFill>
          <a:blip r:embed="rId11"/>
          <a:stretch>
            <a:fillRect/>
          </a:stretch>
        </p:blipFill>
        <p:spPr>
          <a:xfrm>
            <a:off x="4819392" y="4638752"/>
            <a:ext cx="341618" cy="300624"/>
          </a:xfrm>
          <a:prstGeom prst="rect">
            <a:avLst/>
          </a:prstGeom>
        </p:spPr>
      </p:pic>
      <p:pic>
        <p:nvPicPr>
          <p:cNvPr id="29" name="Image 28"/>
          <p:cNvPicPr>
            <a:picLocks noChangeAspect="1"/>
          </p:cNvPicPr>
          <p:nvPr/>
        </p:nvPicPr>
        <p:blipFill>
          <a:blip r:embed="rId12"/>
          <a:stretch>
            <a:fillRect/>
          </a:stretch>
        </p:blipFill>
        <p:spPr>
          <a:xfrm>
            <a:off x="4833260" y="5319047"/>
            <a:ext cx="327750" cy="317178"/>
          </a:xfrm>
          <a:prstGeom prst="rect">
            <a:avLst/>
          </a:prstGeom>
        </p:spPr>
      </p:pic>
      <p:sp>
        <p:nvSpPr>
          <p:cNvPr id="30" name="ZoneTexte 29"/>
          <p:cNvSpPr txBox="1"/>
          <p:nvPr/>
        </p:nvSpPr>
        <p:spPr>
          <a:xfrm>
            <a:off x="5810069" y="4689883"/>
            <a:ext cx="1650670" cy="323209"/>
          </a:xfrm>
          <a:prstGeom prst="rect">
            <a:avLst/>
          </a:prstGeom>
          <a:noFill/>
        </p:spPr>
        <p:txBody>
          <a:bodyPr wrap="square" lIns="0" tIns="0" rIns="0" bIns="0" rtlCol="0">
            <a:noAutofit/>
          </a:bodyPr>
          <a:lstStyle/>
          <a:p>
            <a:r>
              <a:rPr lang="fr-FR" sz="1400" dirty="0"/>
              <a:t>Action humaine</a:t>
            </a:r>
          </a:p>
        </p:txBody>
      </p:sp>
      <p:sp>
        <p:nvSpPr>
          <p:cNvPr id="31" name="ZoneTexte 30"/>
          <p:cNvSpPr txBox="1"/>
          <p:nvPr/>
        </p:nvSpPr>
        <p:spPr>
          <a:xfrm>
            <a:off x="5810069" y="5398694"/>
            <a:ext cx="1650670" cy="323209"/>
          </a:xfrm>
          <a:prstGeom prst="rect">
            <a:avLst/>
          </a:prstGeom>
          <a:noFill/>
        </p:spPr>
        <p:txBody>
          <a:bodyPr wrap="square" lIns="0" tIns="0" rIns="0" bIns="0" rtlCol="0">
            <a:noAutofit/>
          </a:bodyPr>
          <a:lstStyle/>
          <a:p>
            <a:r>
              <a:rPr lang="fr-FR" sz="1400" dirty="0"/>
              <a:t>Action automatique</a:t>
            </a:r>
          </a:p>
        </p:txBody>
      </p:sp>
    </p:spTree>
    <p:extLst>
      <p:ext uri="{BB962C8B-B14F-4D97-AF65-F5344CB8AC3E}">
        <p14:creationId xmlns:p14="http://schemas.microsoft.com/office/powerpoint/2010/main" val="4129079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lstStyle/>
          <a:p>
            <a:r>
              <a:rPr lang="fr-FR" dirty="0"/>
              <a:t>construction MDU standard</a:t>
            </a:r>
            <a:br>
              <a:rPr lang="fr-FR" dirty="0"/>
            </a:br>
            <a:r>
              <a:rPr lang="fr-FR" sz="3200" i="1" dirty="0"/>
              <a:t>Nb adressables &gt; 8</a:t>
            </a:r>
          </a:p>
        </p:txBody>
      </p:sp>
    </p:spTree>
    <p:extLst>
      <p:ext uri="{BB962C8B-B14F-4D97-AF65-F5344CB8AC3E}">
        <p14:creationId xmlns:p14="http://schemas.microsoft.com/office/powerpoint/2010/main" val="2391471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au 7"/>
          <p:cNvGraphicFramePr>
            <a:graphicFrameLocks noGrp="1"/>
          </p:cNvGraphicFramePr>
          <p:nvPr/>
        </p:nvGraphicFramePr>
        <p:xfrm>
          <a:off x="842569" y="1167342"/>
          <a:ext cx="4974621" cy="5385496"/>
        </p:xfrm>
        <a:graphic>
          <a:graphicData uri="http://schemas.openxmlformats.org/drawingml/2006/table">
            <a:tbl>
              <a:tblPr firstRow="1" bandRow="1">
                <a:tableStyleId>{2D5ABB26-0587-4C30-8999-92F81FD0307C}</a:tableStyleId>
              </a:tblPr>
              <a:tblGrid>
                <a:gridCol w="1088563">
                  <a:extLst>
                    <a:ext uri="{9D8B030D-6E8A-4147-A177-3AD203B41FA5}">
                      <a16:colId xmlns:a16="http://schemas.microsoft.com/office/drawing/2014/main" val="1016517965"/>
                    </a:ext>
                  </a:extLst>
                </a:gridCol>
                <a:gridCol w="1584093">
                  <a:extLst>
                    <a:ext uri="{9D8B030D-6E8A-4147-A177-3AD203B41FA5}">
                      <a16:colId xmlns:a16="http://schemas.microsoft.com/office/drawing/2014/main" val="2732424858"/>
                    </a:ext>
                  </a:extLst>
                </a:gridCol>
                <a:gridCol w="890497">
                  <a:extLst>
                    <a:ext uri="{9D8B030D-6E8A-4147-A177-3AD203B41FA5}">
                      <a16:colId xmlns:a16="http://schemas.microsoft.com/office/drawing/2014/main" val="3446518124"/>
                    </a:ext>
                  </a:extLst>
                </a:gridCol>
                <a:gridCol w="1411468">
                  <a:extLst>
                    <a:ext uri="{9D8B030D-6E8A-4147-A177-3AD203B41FA5}">
                      <a16:colId xmlns:a16="http://schemas.microsoft.com/office/drawing/2014/main" val="796687613"/>
                    </a:ext>
                  </a:extLst>
                </a:gridCol>
              </a:tblGrid>
              <a:tr h="696615">
                <a:tc>
                  <a:txBody>
                    <a:bodyPr/>
                    <a:lstStyle/>
                    <a:p>
                      <a:pPr algn="ctr"/>
                      <a:r>
                        <a:rPr lang="fr-FR" sz="1200" b="1" dirty="0">
                          <a:solidFill>
                            <a:schemeClr val="bg1"/>
                          </a:solidFill>
                        </a:rPr>
                        <a:t>Famille de la chaîne de valeur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B7FAC"/>
                    </a:solidFill>
                  </a:tcPr>
                </a:tc>
                <a:tc gridSpan="3">
                  <a:txBody>
                    <a:bodyPr/>
                    <a:lstStyle/>
                    <a:p>
                      <a:r>
                        <a:rPr lang="fr-FR" sz="1300" dirty="0" err="1"/>
                        <a:t>Core</a:t>
                      </a:r>
                      <a:r>
                        <a:rPr lang="fr-FR" sz="1300" dirty="0"/>
                        <a:t> Business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847903403"/>
                  </a:ext>
                </a:extLst>
              </a:tr>
              <a:tr h="696615">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200" b="1" dirty="0">
                          <a:solidFill>
                            <a:schemeClr val="bg1"/>
                          </a:solidFill>
                        </a:rPr>
                        <a:t>Maillon chaîne de valeur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B7FAC"/>
                    </a:solidFill>
                  </a:tcPr>
                </a:tc>
                <a:tc gridSpan="3">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1300" dirty="0" err="1"/>
                        <a:t>Run</a:t>
                      </a:r>
                      <a:endParaRPr lang="fr-FR"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dirty="0"/>
                    </a:p>
                  </a:txBody>
                  <a:tcPr/>
                </a:tc>
                <a:tc hMerge="1">
                  <a:txBody>
                    <a:bodyPr/>
                    <a:lstStyle/>
                    <a:p>
                      <a:endParaRPr lang="fr-FR"/>
                    </a:p>
                  </a:txBody>
                  <a:tcPr/>
                </a:tc>
                <a:extLst>
                  <a:ext uri="{0D108BD9-81ED-4DB2-BD59-A6C34878D82A}">
                    <a16:rowId xmlns:a16="http://schemas.microsoft.com/office/drawing/2014/main" val="3245999517"/>
                  </a:ext>
                </a:extLst>
              </a:tr>
              <a:tr h="497582">
                <a:tc>
                  <a:txBody>
                    <a:bodyPr/>
                    <a:lstStyle/>
                    <a:p>
                      <a:pPr algn="ctr"/>
                      <a:r>
                        <a:rPr lang="fr-FR" sz="1200" b="1" dirty="0">
                          <a:solidFill>
                            <a:schemeClr val="bg1"/>
                          </a:solidFill>
                        </a:rPr>
                        <a:t>Macro</a:t>
                      </a:r>
                      <a:r>
                        <a:rPr lang="fr-FR" sz="1200" b="1" baseline="0" dirty="0">
                          <a:solidFill>
                            <a:schemeClr val="bg1"/>
                          </a:solidFill>
                        </a:rPr>
                        <a:t> processus</a:t>
                      </a:r>
                      <a:endParaRPr lang="fr-FR" sz="12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B7FAC"/>
                    </a:solidFill>
                  </a:tcPr>
                </a:tc>
                <a:tc gridSpan="3">
                  <a:txBody>
                    <a:bodyPr/>
                    <a:lstStyle/>
                    <a:p>
                      <a:r>
                        <a:rPr lang="fr-FR" sz="1300" dirty="0"/>
                        <a:t>OSP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021360870"/>
                  </a:ext>
                </a:extLst>
              </a:tr>
              <a:tr h="315135">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200" b="1" dirty="0">
                          <a:solidFill>
                            <a:schemeClr val="bg1"/>
                          </a:solidFill>
                        </a:rPr>
                        <a:t>Processus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B7FAC"/>
                    </a:solidFill>
                  </a:tcPr>
                </a:tc>
                <a:tc gridSpan="3">
                  <a:txBody>
                    <a:bodyPr/>
                    <a:lstStyle/>
                    <a:p>
                      <a:r>
                        <a:rPr lang="fr-FR" sz="1300" b="1" dirty="0"/>
                        <a:t>Construction MDU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96914622"/>
                  </a:ext>
                </a:extLst>
              </a:tr>
              <a:tr h="817833">
                <a:tc>
                  <a:txBody>
                    <a:bodyPr/>
                    <a:lstStyle/>
                    <a:p>
                      <a:pPr algn="ctr"/>
                      <a:r>
                        <a:rPr lang="fr-FR" sz="1200" b="1">
                          <a:solidFill>
                            <a:schemeClr val="bg1"/>
                          </a:solidFill>
                        </a:rPr>
                        <a:t>Début</a:t>
                      </a:r>
                      <a:endParaRPr lang="fr-FR" sz="12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DC8E8"/>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1300" dirty="0"/>
                        <a:t>Nouvelle zone d'influence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200" b="1" i="0" dirty="0">
                          <a:solidFill>
                            <a:schemeClr val="bg1"/>
                          </a:solidFill>
                        </a:rPr>
                        <a:t>Fin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DC8E8"/>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1200" dirty="0"/>
                        <a:t>Création du </a:t>
                      </a:r>
                      <a:r>
                        <a:rPr lang="fr-FR" sz="1200" dirty="0" err="1"/>
                        <a:t>worker</a:t>
                      </a:r>
                      <a:r>
                        <a:rPr lang="fr-FR" sz="1200" dirty="0"/>
                        <a:t> </a:t>
                      </a:r>
                      <a:r>
                        <a:rPr lang="fr-FR" sz="1200" dirty="0" err="1"/>
                        <a:t>order</a:t>
                      </a:r>
                      <a:r>
                        <a:rPr lang="fr-FR" sz="1200" dirty="0"/>
                        <a:t> d'installation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28231715"/>
                  </a:ext>
                </a:extLst>
              </a:tr>
              <a:tr h="968486">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200" b="1" dirty="0">
                          <a:solidFill>
                            <a:schemeClr val="bg1"/>
                          </a:solidFill>
                        </a:rPr>
                        <a:t>Fournisseur inputs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DC8E8"/>
                    </a:solidFill>
                  </a:tcPr>
                </a:tc>
                <a:tc gridSpan="3">
                  <a:txBody>
                    <a:bodyPr/>
                    <a:lstStyle/>
                    <a:p>
                      <a:pPr marL="171450" indent="-171450">
                        <a:buFont typeface="Arial" panose="020B0604020202020204" pitchFamily="34" charset="0"/>
                        <a:buChar char="•"/>
                      </a:pPr>
                      <a:r>
                        <a:rPr lang="fr-FR" sz="1300" dirty="0"/>
                        <a:t>MQ</a:t>
                      </a:r>
                    </a:p>
                    <a:p>
                      <a:pPr marL="171450" indent="-171450">
                        <a:buFont typeface="Arial" panose="020B0604020202020204" pitchFamily="34" charset="0"/>
                        <a:buChar char="•"/>
                      </a:pPr>
                      <a:r>
                        <a:rPr lang="fr-FR" sz="1300" dirty="0"/>
                        <a:t>Design (influence 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350025611"/>
                  </a:ext>
                </a:extLst>
              </a:tr>
              <a:tr h="1393230">
                <a:tc>
                  <a:txBody>
                    <a:bodyPr/>
                    <a:lstStyle/>
                    <a:p>
                      <a:pPr algn="ctr"/>
                      <a:r>
                        <a:rPr lang="fr-FR" sz="1200" b="1" dirty="0">
                          <a:solidFill>
                            <a:schemeClr val="bg1"/>
                          </a:solidFill>
                        </a:rPr>
                        <a:t>Fonctions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DC8E8"/>
                    </a:solidFill>
                  </a:tcPr>
                </a:tc>
                <a:tc gridSpan="3">
                  <a:txBody>
                    <a:bodyPr/>
                    <a:lstStyle/>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300" dirty="0"/>
                        <a:t>Designer OSP</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300" dirty="0"/>
                        <a:t>Rapporteur d’affaires </a:t>
                      </a:r>
                      <a:r>
                        <a:rPr lang="fr-FR" sz="1300" baseline="0" dirty="0"/>
                        <a:t>– COMMERCE</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300" baseline="0" dirty="0"/>
                        <a:t>Enquêteur OSP MDU</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300" baseline="0" dirty="0"/>
                        <a:t>Responsable OSP/ISP</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300" baseline="0" dirty="0"/>
                        <a:t>Ingénieur de </a:t>
                      </a:r>
                      <a:r>
                        <a:rPr lang="fr-FR" sz="1300" baseline="0" dirty="0" err="1"/>
                        <a:t>prod</a:t>
                      </a:r>
                      <a:endParaRPr lang="fr-FR" sz="1300" baseline="0" dirty="0"/>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300" baseline="0" dirty="0"/>
                        <a:t>NETIS </a:t>
                      </a:r>
                      <a:r>
                        <a:rPr lang="fr-FR" sz="1300" baseline="0" dirty="0">
                          <a:solidFill>
                            <a:srgbClr val="FF0000"/>
                          </a:solidFill>
                        </a:rPr>
                        <a:t>(à préciser qui )</a:t>
                      </a:r>
                      <a:endParaRPr lang="fr-FR" sz="13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fr-FR" sz="1400" b="1" dirty="0"/>
                    </a:p>
                  </a:txBody>
                  <a:tcPr anchor="ctr"/>
                </a:tc>
                <a:tc hMerge="1">
                  <a:txBody>
                    <a:bodyPr/>
                    <a:lstStyle/>
                    <a:p>
                      <a:endParaRPr lang="fr-FR" sz="1400" dirty="0"/>
                    </a:p>
                  </a:txBody>
                  <a:tcPr anchor="ctr"/>
                </a:tc>
                <a:extLst>
                  <a:ext uri="{0D108BD9-81ED-4DB2-BD59-A6C34878D82A}">
                    <a16:rowId xmlns:a16="http://schemas.microsoft.com/office/drawing/2014/main" val="3495062787"/>
                  </a:ext>
                </a:extLst>
              </a:tr>
            </a:tbl>
          </a:graphicData>
        </a:graphic>
      </p:graphicFrame>
      <p:sp>
        <p:nvSpPr>
          <p:cNvPr id="9" name="Titre 2"/>
          <p:cNvSpPr txBox="1">
            <a:spLocks/>
          </p:cNvSpPr>
          <p:nvPr/>
        </p:nvSpPr>
        <p:spPr bwMode="gray">
          <a:xfrm>
            <a:off x="418806" y="0"/>
            <a:ext cx="11519451" cy="903600"/>
          </a:xfrm>
          <a:prstGeom prst="rect">
            <a:avLst/>
          </a:prstGeom>
        </p:spPr>
        <p:txBody>
          <a:bodyPr vert="horz" lIns="0" tIns="0" rIns="0" bIns="0" rtlCol="0" anchor="b">
            <a:noAutofit/>
          </a:bodyPr>
          <a:lstStyle>
            <a:lvl1pPr algn="l" defTabSz="1219170" rtl="0" eaLnBrk="1" latinLnBrk="0" hangingPunct="1">
              <a:spcBef>
                <a:spcPct val="0"/>
              </a:spcBef>
              <a:buNone/>
              <a:defRPr sz="3200" kern="1200" cap="none" baseline="0">
                <a:solidFill>
                  <a:schemeClr val="accent5"/>
                </a:solidFill>
                <a:latin typeface="+mj-lt"/>
                <a:ea typeface="+mj-ea"/>
                <a:cs typeface="+mj-cs"/>
              </a:defRPr>
            </a:lvl1pPr>
          </a:lstStyle>
          <a:p>
            <a:r>
              <a:rPr lang="fr-FR" dirty="0"/>
              <a:t>Carte identité processus – Construction MDU standard</a:t>
            </a:r>
          </a:p>
        </p:txBody>
      </p:sp>
      <p:graphicFrame>
        <p:nvGraphicFramePr>
          <p:cNvPr id="10" name="Tableau 9"/>
          <p:cNvGraphicFramePr>
            <a:graphicFrameLocks noGrp="1"/>
          </p:cNvGraphicFramePr>
          <p:nvPr>
            <p:extLst>
              <p:ext uri="{D42A27DB-BD31-4B8C-83A1-F6EECF244321}">
                <p14:modId xmlns:p14="http://schemas.microsoft.com/office/powerpoint/2010/main" val="1240594897"/>
              </p:ext>
            </p:extLst>
          </p:nvPr>
        </p:nvGraphicFramePr>
        <p:xfrm>
          <a:off x="6178532" y="1167342"/>
          <a:ext cx="5270518" cy="5385496"/>
        </p:xfrm>
        <a:graphic>
          <a:graphicData uri="http://schemas.openxmlformats.org/drawingml/2006/table">
            <a:tbl>
              <a:tblPr firstRow="1" bandRow="1">
                <a:tableStyleId>{2D5ABB26-0587-4C30-8999-92F81FD0307C}</a:tableStyleId>
              </a:tblPr>
              <a:tblGrid>
                <a:gridCol w="1194439">
                  <a:extLst>
                    <a:ext uri="{9D8B030D-6E8A-4147-A177-3AD203B41FA5}">
                      <a16:colId xmlns:a16="http://schemas.microsoft.com/office/drawing/2014/main" val="1170727219"/>
                    </a:ext>
                  </a:extLst>
                </a:gridCol>
                <a:gridCol w="4076079">
                  <a:extLst>
                    <a:ext uri="{9D8B030D-6E8A-4147-A177-3AD203B41FA5}">
                      <a16:colId xmlns:a16="http://schemas.microsoft.com/office/drawing/2014/main" val="1953787792"/>
                    </a:ext>
                  </a:extLst>
                </a:gridCol>
              </a:tblGrid>
              <a:tr h="593656">
                <a:tc>
                  <a:txBody>
                    <a:bodyPr/>
                    <a:lstStyle/>
                    <a:p>
                      <a:pPr algn="ctr"/>
                      <a:r>
                        <a:rPr lang="fr-FR" sz="1300" b="1" dirty="0">
                          <a:solidFill>
                            <a:schemeClr val="bg1"/>
                          </a:solidFill>
                        </a:rPr>
                        <a:t>Location des acteurs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DC8E8"/>
                    </a:solidFill>
                  </a:tcPr>
                </a:tc>
                <a:tc>
                  <a:txBody>
                    <a:bodyPr/>
                    <a:lstStyle/>
                    <a:p>
                      <a:pPr marL="285750" indent="-285750">
                        <a:buFont typeface="Arial" panose="020B0604020202020204" pitchFamily="34" charset="0"/>
                        <a:buChar char="•"/>
                      </a:pPr>
                      <a:r>
                        <a:rPr lang="fr-FR" sz="1300" dirty="0"/>
                        <a:t>Filiale</a:t>
                      </a:r>
                    </a:p>
                    <a:p>
                      <a:pPr marL="285750" indent="-285750">
                        <a:buFont typeface="Arial" panose="020B0604020202020204" pitchFamily="34" charset="0"/>
                        <a:buChar char="•"/>
                      </a:pPr>
                      <a:r>
                        <a:rPr lang="fr-FR" sz="1300" dirty="0"/>
                        <a:t>Partenaire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7097725"/>
                  </a:ext>
                </a:extLst>
              </a:tr>
              <a:tr h="593656">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300" b="1" dirty="0">
                          <a:solidFill>
                            <a:schemeClr val="bg1"/>
                          </a:solidFill>
                        </a:rPr>
                        <a:t>SI de mise en œuvre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DC8E8"/>
                    </a:solidFill>
                  </a:tcPr>
                </a:tc>
                <a:tc>
                  <a:txBody>
                    <a:bodyPr/>
                    <a:lstStyle/>
                    <a:p>
                      <a:pPr marL="285750" indent="-285750">
                        <a:buFont typeface="Arial" panose="020B0604020202020204" pitchFamily="34" charset="0"/>
                        <a:buChar char="•"/>
                      </a:pPr>
                      <a:r>
                        <a:rPr lang="fr-FR" sz="1300" baseline="0" dirty="0"/>
                        <a:t>QGIS</a:t>
                      </a:r>
                    </a:p>
                    <a:p>
                      <a:pPr marL="285750" indent="-285750">
                        <a:buFont typeface="Arial" panose="020B0604020202020204" pitchFamily="34" charset="0"/>
                        <a:buChar char="•"/>
                      </a:pPr>
                      <a:r>
                        <a:rPr lang="fr-FR" sz="1300" baseline="0" dirty="0" err="1"/>
                        <a:t>NetCracker</a:t>
                      </a:r>
                      <a:endParaRPr lang="fr-FR" sz="13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2474209"/>
                  </a:ext>
                </a:extLst>
              </a:tr>
              <a:tr h="1963236">
                <a:tc>
                  <a:txBody>
                    <a:bodyPr/>
                    <a:lstStyle/>
                    <a:p>
                      <a:pPr algn="ctr"/>
                      <a:r>
                        <a:rPr lang="fr-FR" sz="1300" b="1" dirty="0">
                          <a:solidFill>
                            <a:schemeClr val="bg1"/>
                          </a:solidFill>
                        </a:rPr>
                        <a:t>Mesure de la 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DC8E8"/>
                    </a:solidFill>
                  </a:tcPr>
                </a:tc>
                <a:tc>
                  <a:txBody>
                    <a:bodyPr/>
                    <a:lstStyle/>
                    <a:p>
                      <a:pPr marL="285750" indent="-285750">
                        <a:buFont typeface="Arial" panose="020B0604020202020204" pitchFamily="34" charset="0"/>
                        <a:buChar char="•"/>
                      </a:pPr>
                      <a:r>
                        <a:rPr lang="fr-FR" sz="1300" dirty="0"/>
                        <a:t>Taux de signatures conformes « décideurs » </a:t>
                      </a:r>
                    </a:p>
                    <a:p>
                      <a:pPr marL="285750" indent="-285750">
                        <a:buFont typeface="Arial" panose="020B0604020202020204" pitchFamily="34" charset="0"/>
                        <a:buChar char="•"/>
                      </a:pPr>
                      <a:r>
                        <a:rPr lang="fr-FR" sz="1300" dirty="0"/>
                        <a:t>Etude terrain</a:t>
                      </a:r>
                      <a:r>
                        <a:rPr lang="fr-FR" sz="1300" baseline="0" dirty="0"/>
                        <a:t> 48h après réception de l’autorisation</a:t>
                      </a:r>
                    </a:p>
                    <a:p>
                      <a:pPr marL="285750" indent="-285750">
                        <a:buFont typeface="Arial" panose="020B0604020202020204" pitchFamily="34" charset="0"/>
                        <a:buChar char="•"/>
                      </a:pPr>
                      <a:r>
                        <a:rPr lang="fr-FR" sz="1300" baseline="0" dirty="0"/>
                        <a:t>Exécution des travaux 2 semaines après le </a:t>
                      </a:r>
                      <a:r>
                        <a:rPr lang="fr-FR" sz="1300" baseline="0" dirty="0" err="1"/>
                        <a:t>survey</a:t>
                      </a:r>
                      <a:r>
                        <a:rPr lang="fr-FR" sz="1300" baseline="0" dirty="0"/>
                        <a:t> (délai de validation </a:t>
                      </a:r>
                      <a:r>
                        <a:rPr lang="fr-FR" sz="1300" baseline="0" dirty="0" err="1"/>
                        <a:t>survey</a:t>
                      </a:r>
                      <a:r>
                        <a:rPr lang="fr-FR" sz="1300" baseline="0" dirty="0"/>
                        <a:t> + FA + cotation)</a:t>
                      </a:r>
                    </a:p>
                    <a:p>
                      <a:pPr marL="285750" indent="-285750">
                        <a:buFont typeface="Arial" panose="020B0604020202020204" pitchFamily="34" charset="0"/>
                        <a:buChar char="•"/>
                      </a:pPr>
                      <a:r>
                        <a:rPr lang="fr-FR" sz="1300" dirty="0"/>
                        <a:t>Taux d'accords de pose</a:t>
                      </a:r>
                    </a:p>
                    <a:p>
                      <a:pPr marL="285750" indent="-285750">
                        <a:buFont typeface="Arial" panose="020B0604020202020204" pitchFamily="34" charset="0"/>
                        <a:buChar char="•"/>
                      </a:pPr>
                      <a:r>
                        <a:rPr lang="fr-FR" sz="1300" dirty="0"/>
                        <a:t>Volume de </a:t>
                      </a:r>
                      <a:r>
                        <a:rPr lang="fr-FR" sz="1300" dirty="0" err="1"/>
                        <a:t>survey</a:t>
                      </a:r>
                      <a:r>
                        <a:rPr lang="fr-FR" sz="1300" dirty="0"/>
                        <a:t> réalisés</a:t>
                      </a:r>
                    </a:p>
                    <a:p>
                      <a:pPr marL="285750" indent="-285750">
                        <a:buFont typeface="Arial" panose="020B0604020202020204" pitchFamily="34" charset="0"/>
                        <a:buChar char="•"/>
                      </a:pPr>
                      <a:r>
                        <a:rPr lang="fr-FR" sz="1300" dirty="0"/>
                        <a:t>Volume d'OTBB installés</a:t>
                      </a:r>
                    </a:p>
                    <a:p>
                      <a:pPr marL="285750" indent="-285750">
                        <a:buFont typeface="Arial" panose="020B0604020202020204" pitchFamily="34" charset="0"/>
                        <a:buChar char="•"/>
                      </a:pPr>
                      <a:r>
                        <a:rPr lang="fr-FR" sz="1300" dirty="0"/>
                        <a:t>Volume d'OTBB mis en production</a:t>
                      </a:r>
                    </a:p>
                    <a:p>
                      <a:pPr marL="285750" indent="-285750">
                        <a:buFont typeface="Arial" panose="020B0604020202020204" pitchFamily="34" charset="0"/>
                        <a:buChar char="•"/>
                      </a:pPr>
                      <a:r>
                        <a:rPr lang="fr-FR" sz="1300" dirty="0"/>
                        <a:t>Taux de remplissage/pénétration des OTBB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4683358"/>
                  </a:ext>
                </a:extLst>
              </a:tr>
              <a:tr h="907947">
                <a:tc>
                  <a:txBody>
                    <a:bodyPr/>
                    <a:lstStyle/>
                    <a:p>
                      <a:pPr algn="ctr"/>
                      <a:r>
                        <a:rPr lang="fr-FR" sz="1300" b="1" dirty="0">
                          <a:solidFill>
                            <a:schemeClr val="bg1"/>
                          </a:solidFill>
                        </a:rPr>
                        <a:t>Points de contrôle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DC8E8"/>
                    </a:solidFill>
                  </a:tcPr>
                </a:tc>
                <a:tc>
                  <a:txBody>
                    <a:bodyPr/>
                    <a:lstStyle/>
                    <a:p>
                      <a:pPr marL="285750" indent="-285750">
                        <a:buFont typeface="Arial" panose="020B0604020202020204" pitchFamily="34" charset="0"/>
                        <a:buChar char="•"/>
                      </a:pPr>
                      <a:r>
                        <a:rPr lang="fr-FR" sz="1300" dirty="0"/>
                        <a:t>Exécution</a:t>
                      </a:r>
                      <a:r>
                        <a:rPr lang="fr-FR" sz="1300" baseline="0" dirty="0"/>
                        <a:t> des travaux</a:t>
                      </a:r>
                    </a:p>
                    <a:p>
                      <a:pPr marL="285750" indent="-285750">
                        <a:buFont typeface="Arial" panose="020B0604020202020204" pitchFamily="34" charset="0"/>
                        <a:buChar char="•"/>
                      </a:pPr>
                      <a:r>
                        <a:rPr lang="fr-FR" sz="1300" baseline="0" dirty="0"/>
                        <a:t>Test de continuité</a:t>
                      </a:r>
                    </a:p>
                    <a:p>
                      <a:pPr marL="285750" indent="-285750">
                        <a:buFont typeface="Arial" panose="020B0604020202020204" pitchFamily="34" charset="0"/>
                        <a:buChar char="•"/>
                      </a:pPr>
                      <a:r>
                        <a:rPr lang="fr-FR" sz="1300" baseline="0" dirty="0"/>
                        <a:t>Mise en production du MDU</a:t>
                      </a:r>
                      <a:endParaRPr lang="fr-FR"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6359023"/>
                  </a:ext>
                </a:extLst>
              </a:tr>
              <a:tr h="1327001">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300" b="1" dirty="0">
                          <a:solidFill>
                            <a:schemeClr val="bg1"/>
                          </a:solidFill>
                        </a:rPr>
                        <a:t>Sous processus liés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C9CD6"/>
                    </a:solidFill>
                  </a:tcPr>
                </a:tc>
                <a:tc>
                  <a:txBody>
                    <a:bodyPr/>
                    <a:lstStyle/>
                    <a:p>
                      <a:r>
                        <a:rPr lang="fr-FR" sz="1300" dirty="0"/>
                        <a:t>Prospection</a:t>
                      </a:r>
                      <a:r>
                        <a:rPr lang="fr-FR" sz="1300" baseline="0" dirty="0"/>
                        <a:t> B2C</a:t>
                      </a:r>
                    </a:p>
                    <a:p>
                      <a:r>
                        <a:rPr lang="fr-FR" sz="1300" baseline="0" dirty="0"/>
                        <a:t>Souscription B2C</a:t>
                      </a:r>
                    </a:p>
                    <a:p>
                      <a:r>
                        <a:rPr lang="fr-FR" sz="1300" baseline="0" dirty="0"/>
                        <a:t>Dimensionnement des ZI</a:t>
                      </a:r>
                      <a:endParaRPr lang="fr-FR"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126771"/>
                  </a:ext>
                </a:extLst>
              </a:tr>
            </a:tbl>
          </a:graphicData>
        </a:graphic>
      </p:graphicFrame>
    </p:spTree>
    <p:extLst>
      <p:ext uri="{BB962C8B-B14F-4D97-AF65-F5344CB8AC3E}">
        <p14:creationId xmlns:p14="http://schemas.microsoft.com/office/powerpoint/2010/main" val="2789755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2"/>
          <p:cNvSpPr txBox="1">
            <a:spLocks/>
          </p:cNvSpPr>
          <p:nvPr/>
        </p:nvSpPr>
        <p:spPr bwMode="gray">
          <a:xfrm>
            <a:off x="418806" y="0"/>
            <a:ext cx="11519451" cy="903600"/>
          </a:xfrm>
          <a:prstGeom prst="rect">
            <a:avLst/>
          </a:prstGeom>
        </p:spPr>
        <p:txBody>
          <a:bodyPr vert="horz" lIns="0" tIns="0" rIns="0" bIns="0" rtlCol="0" anchor="b">
            <a:noAutofit/>
          </a:bodyPr>
          <a:lstStyle>
            <a:lvl1pPr algn="l" defTabSz="1219170" rtl="0" eaLnBrk="1" latinLnBrk="0" hangingPunct="1">
              <a:spcBef>
                <a:spcPct val="0"/>
              </a:spcBef>
              <a:buNone/>
              <a:defRPr sz="3200" kern="1200" cap="none" baseline="0">
                <a:solidFill>
                  <a:schemeClr val="accent5"/>
                </a:solidFill>
                <a:latin typeface="+mj-lt"/>
                <a:ea typeface="+mj-ea"/>
                <a:cs typeface="+mj-cs"/>
              </a:defRPr>
            </a:lvl1pPr>
          </a:lstStyle>
          <a:p>
            <a:r>
              <a:rPr lang="fr-FR" dirty="0"/>
              <a:t>Modélisation – Construction MDU standard</a:t>
            </a:r>
          </a:p>
        </p:txBody>
      </p:sp>
      <p:pic>
        <p:nvPicPr>
          <p:cNvPr id="3" name="Image 2">
            <a:extLst>
              <a:ext uri="{FF2B5EF4-FFF2-40B4-BE49-F238E27FC236}">
                <a16:creationId xmlns:a16="http://schemas.microsoft.com/office/drawing/2014/main" id="{1A1B3746-75B4-4CE4-981E-7B5674DC0DBF}"/>
              </a:ext>
            </a:extLst>
          </p:cNvPr>
          <p:cNvPicPr>
            <a:picLocks noChangeAspect="1"/>
          </p:cNvPicPr>
          <p:nvPr/>
        </p:nvPicPr>
        <p:blipFill rotWithShape="1">
          <a:blip r:embed="rId2">
            <a:extLst>
              <a:ext uri="{28A0092B-C50C-407E-A947-70E740481C1C}">
                <a14:useLocalDpi xmlns:a14="http://schemas.microsoft.com/office/drawing/2010/main" val="0"/>
              </a:ext>
            </a:extLst>
          </a:blip>
          <a:srcRect r="176" b="4167"/>
          <a:stretch/>
        </p:blipFill>
        <p:spPr>
          <a:xfrm>
            <a:off x="1502229" y="1111609"/>
            <a:ext cx="9652858" cy="5507293"/>
          </a:xfrm>
          <a:prstGeom prst="rect">
            <a:avLst/>
          </a:prstGeom>
        </p:spPr>
      </p:pic>
    </p:spTree>
    <p:extLst>
      <p:ext uri="{BB962C8B-B14F-4D97-AF65-F5344CB8AC3E}">
        <p14:creationId xmlns:p14="http://schemas.microsoft.com/office/powerpoint/2010/main" val="911969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2"/>
          <p:cNvSpPr txBox="1">
            <a:spLocks/>
          </p:cNvSpPr>
          <p:nvPr/>
        </p:nvSpPr>
        <p:spPr bwMode="gray">
          <a:xfrm>
            <a:off x="418806" y="0"/>
            <a:ext cx="11519451" cy="903600"/>
          </a:xfrm>
          <a:prstGeom prst="rect">
            <a:avLst/>
          </a:prstGeom>
        </p:spPr>
        <p:txBody>
          <a:bodyPr vert="horz" lIns="0" tIns="0" rIns="0" bIns="0" rtlCol="0" anchor="b">
            <a:noAutofit/>
          </a:bodyPr>
          <a:lstStyle>
            <a:lvl1pPr algn="l" defTabSz="1219170" rtl="0" eaLnBrk="1" latinLnBrk="0" hangingPunct="1">
              <a:spcBef>
                <a:spcPct val="0"/>
              </a:spcBef>
              <a:buNone/>
              <a:defRPr sz="3200" kern="1200" cap="none" baseline="0">
                <a:solidFill>
                  <a:schemeClr val="accent5"/>
                </a:solidFill>
                <a:latin typeface="+mj-lt"/>
                <a:ea typeface="+mj-ea"/>
                <a:cs typeface="+mj-cs"/>
              </a:defRPr>
            </a:lvl1pPr>
          </a:lstStyle>
          <a:p>
            <a:r>
              <a:rPr lang="fr-FR" dirty="0"/>
              <a:t>Support de modélisation – Construction MDU standard</a:t>
            </a:r>
          </a:p>
        </p:txBody>
      </p:sp>
      <p:graphicFrame>
        <p:nvGraphicFramePr>
          <p:cNvPr id="2" name="Tableau 1">
            <a:extLst>
              <a:ext uri="{FF2B5EF4-FFF2-40B4-BE49-F238E27FC236}">
                <a16:creationId xmlns:a16="http://schemas.microsoft.com/office/drawing/2014/main" id="{1802B840-D85A-4E5F-915D-9AD0C1D9D77F}"/>
              </a:ext>
            </a:extLst>
          </p:cNvPr>
          <p:cNvGraphicFramePr>
            <a:graphicFrameLocks noGrp="1"/>
          </p:cNvGraphicFramePr>
          <p:nvPr>
            <p:extLst>
              <p:ext uri="{D42A27DB-BD31-4B8C-83A1-F6EECF244321}">
                <p14:modId xmlns:p14="http://schemas.microsoft.com/office/powerpoint/2010/main" val="2571126091"/>
              </p:ext>
            </p:extLst>
          </p:nvPr>
        </p:nvGraphicFramePr>
        <p:xfrm>
          <a:off x="253743" y="903600"/>
          <a:ext cx="11684516" cy="8082054"/>
        </p:xfrm>
        <a:graphic>
          <a:graphicData uri="http://schemas.openxmlformats.org/drawingml/2006/table">
            <a:tbl>
              <a:tblPr>
                <a:tableStyleId>{5C22544A-7EE6-4342-B048-85BDC9FD1C3A}</a:tableStyleId>
              </a:tblPr>
              <a:tblGrid>
                <a:gridCol w="747106">
                  <a:extLst>
                    <a:ext uri="{9D8B030D-6E8A-4147-A177-3AD203B41FA5}">
                      <a16:colId xmlns:a16="http://schemas.microsoft.com/office/drawing/2014/main" val="1193821672"/>
                    </a:ext>
                  </a:extLst>
                </a:gridCol>
                <a:gridCol w="741613">
                  <a:extLst>
                    <a:ext uri="{9D8B030D-6E8A-4147-A177-3AD203B41FA5}">
                      <a16:colId xmlns:a16="http://schemas.microsoft.com/office/drawing/2014/main" val="1132748623"/>
                    </a:ext>
                  </a:extLst>
                </a:gridCol>
                <a:gridCol w="741613">
                  <a:extLst>
                    <a:ext uri="{9D8B030D-6E8A-4147-A177-3AD203B41FA5}">
                      <a16:colId xmlns:a16="http://schemas.microsoft.com/office/drawing/2014/main" val="290354086"/>
                    </a:ext>
                  </a:extLst>
                </a:gridCol>
                <a:gridCol w="653718">
                  <a:extLst>
                    <a:ext uri="{9D8B030D-6E8A-4147-A177-3AD203B41FA5}">
                      <a16:colId xmlns:a16="http://schemas.microsoft.com/office/drawing/2014/main" val="4077999927"/>
                    </a:ext>
                  </a:extLst>
                </a:gridCol>
                <a:gridCol w="697664">
                  <a:extLst>
                    <a:ext uri="{9D8B030D-6E8A-4147-A177-3AD203B41FA5}">
                      <a16:colId xmlns:a16="http://schemas.microsoft.com/office/drawing/2014/main" val="778501338"/>
                    </a:ext>
                  </a:extLst>
                </a:gridCol>
                <a:gridCol w="741613">
                  <a:extLst>
                    <a:ext uri="{9D8B030D-6E8A-4147-A177-3AD203B41FA5}">
                      <a16:colId xmlns:a16="http://schemas.microsoft.com/office/drawing/2014/main" val="2895095531"/>
                    </a:ext>
                  </a:extLst>
                </a:gridCol>
                <a:gridCol w="741613">
                  <a:extLst>
                    <a:ext uri="{9D8B030D-6E8A-4147-A177-3AD203B41FA5}">
                      <a16:colId xmlns:a16="http://schemas.microsoft.com/office/drawing/2014/main" val="1766734780"/>
                    </a:ext>
                  </a:extLst>
                </a:gridCol>
                <a:gridCol w="593290">
                  <a:extLst>
                    <a:ext uri="{9D8B030D-6E8A-4147-A177-3AD203B41FA5}">
                      <a16:colId xmlns:a16="http://schemas.microsoft.com/office/drawing/2014/main" val="795949979"/>
                    </a:ext>
                  </a:extLst>
                </a:gridCol>
                <a:gridCol w="675690">
                  <a:extLst>
                    <a:ext uri="{9D8B030D-6E8A-4147-A177-3AD203B41FA5}">
                      <a16:colId xmlns:a16="http://schemas.microsoft.com/office/drawing/2014/main" val="3766757598"/>
                    </a:ext>
                  </a:extLst>
                </a:gridCol>
                <a:gridCol w="576809">
                  <a:extLst>
                    <a:ext uri="{9D8B030D-6E8A-4147-A177-3AD203B41FA5}">
                      <a16:colId xmlns:a16="http://schemas.microsoft.com/office/drawing/2014/main" val="2924996816"/>
                    </a:ext>
                  </a:extLst>
                </a:gridCol>
                <a:gridCol w="576809">
                  <a:extLst>
                    <a:ext uri="{9D8B030D-6E8A-4147-A177-3AD203B41FA5}">
                      <a16:colId xmlns:a16="http://schemas.microsoft.com/office/drawing/2014/main" val="241313425"/>
                    </a:ext>
                  </a:extLst>
                </a:gridCol>
                <a:gridCol w="576809">
                  <a:extLst>
                    <a:ext uri="{9D8B030D-6E8A-4147-A177-3AD203B41FA5}">
                      <a16:colId xmlns:a16="http://schemas.microsoft.com/office/drawing/2014/main" val="562201198"/>
                    </a:ext>
                  </a:extLst>
                </a:gridCol>
                <a:gridCol w="499902">
                  <a:extLst>
                    <a:ext uri="{9D8B030D-6E8A-4147-A177-3AD203B41FA5}">
                      <a16:colId xmlns:a16="http://schemas.microsoft.com/office/drawing/2014/main" val="2458525284"/>
                    </a:ext>
                  </a:extLst>
                </a:gridCol>
                <a:gridCol w="499902">
                  <a:extLst>
                    <a:ext uri="{9D8B030D-6E8A-4147-A177-3AD203B41FA5}">
                      <a16:colId xmlns:a16="http://schemas.microsoft.com/office/drawing/2014/main" val="2728342445"/>
                    </a:ext>
                  </a:extLst>
                </a:gridCol>
                <a:gridCol w="499902">
                  <a:extLst>
                    <a:ext uri="{9D8B030D-6E8A-4147-A177-3AD203B41FA5}">
                      <a16:colId xmlns:a16="http://schemas.microsoft.com/office/drawing/2014/main" val="680869311"/>
                    </a:ext>
                  </a:extLst>
                </a:gridCol>
                <a:gridCol w="532862">
                  <a:extLst>
                    <a:ext uri="{9D8B030D-6E8A-4147-A177-3AD203B41FA5}">
                      <a16:colId xmlns:a16="http://schemas.microsoft.com/office/drawing/2014/main" val="728324230"/>
                    </a:ext>
                  </a:extLst>
                </a:gridCol>
                <a:gridCol w="527369">
                  <a:extLst>
                    <a:ext uri="{9D8B030D-6E8A-4147-A177-3AD203B41FA5}">
                      <a16:colId xmlns:a16="http://schemas.microsoft.com/office/drawing/2014/main" val="3784749121"/>
                    </a:ext>
                  </a:extLst>
                </a:gridCol>
                <a:gridCol w="494409">
                  <a:extLst>
                    <a:ext uri="{9D8B030D-6E8A-4147-A177-3AD203B41FA5}">
                      <a16:colId xmlns:a16="http://schemas.microsoft.com/office/drawing/2014/main" val="1650892961"/>
                    </a:ext>
                  </a:extLst>
                </a:gridCol>
                <a:gridCol w="565823">
                  <a:extLst>
                    <a:ext uri="{9D8B030D-6E8A-4147-A177-3AD203B41FA5}">
                      <a16:colId xmlns:a16="http://schemas.microsoft.com/office/drawing/2014/main" val="4061480440"/>
                    </a:ext>
                  </a:extLst>
                </a:gridCol>
              </a:tblGrid>
              <a:tr h="227654">
                <a:tc>
                  <a:txBody>
                    <a:bodyPr/>
                    <a:lstStyle/>
                    <a:p>
                      <a:pPr algn="ctr" fontAlgn="ctr"/>
                      <a:r>
                        <a:rPr lang="fr-FR" sz="600" u="none" strike="noStrike" dirty="0">
                          <a:effectLst/>
                        </a:rPr>
                        <a:t>Début du processus : fait générateur</a:t>
                      </a:r>
                      <a:endParaRPr lang="fr-FR" sz="600" b="0" i="0" u="none" strike="noStrike" dirty="0">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Nouvelle zone d'influence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Liste des MDU/OTBB de la zone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Bâtiment MDU à prospecter</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Liste de prospects chauds</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MDU autorisé par le syndic</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Validation du responsable OSP</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Document d'exécution (résultats des tests)</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Quality report vérifié &amp; Synoptique OTBs intégrée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Etude terrain validée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Intervention d'adduction à planifer</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Intervention d'adduction créée et planifiée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Work order d'installation</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Fin des travaux</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Document d'exécution (résultats des tests)</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Résultats test OK</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OTBB  en statut "in service"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OTBB  en statut "in service"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Début des travaux</a:t>
                      </a:r>
                      <a:endParaRPr lang="fr-FR" sz="600" b="0" i="0" u="none" strike="noStrike">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583988277"/>
                  </a:ext>
                </a:extLst>
              </a:tr>
              <a:tr h="56914">
                <a:tc>
                  <a:txBody>
                    <a:bodyPr/>
                    <a:lstStyle/>
                    <a:p>
                      <a:pPr algn="ctr" fontAlgn="ctr"/>
                      <a:r>
                        <a:rPr lang="fr-FR" sz="600" u="none" strike="noStrike">
                          <a:effectLst/>
                        </a:rPr>
                        <a:t>Fournisseur de l'input</a:t>
                      </a:r>
                      <a:endParaRPr lang="fr-FR" sz="600" b="0" i="0" u="none" strike="noStrike">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Designer</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Designer</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616034912"/>
                  </a:ext>
                </a:extLst>
              </a:tr>
              <a:tr h="227654">
                <a:tc>
                  <a:txBody>
                    <a:bodyPr/>
                    <a:lstStyle/>
                    <a:p>
                      <a:pPr algn="ctr" fontAlgn="ctr"/>
                      <a:r>
                        <a:rPr lang="fr-FR" sz="600" u="none" strike="noStrike">
                          <a:effectLst/>
                        </a:rPr>
                        <a:t>Activité</a:t>
                      </a:r>
                      <a:endParaRPr lang="fr-FR" sz="600" b="0" i="0" u="none" strike="noStrike">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Etude et répartition des ZI et défintion des MUD/OTBB</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Transmettre la liste au commerce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Prospection MDU</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Négociation/autorisation syndic immeuble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Etude terrain OSP</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Validation de l'étude par le propriétaire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dirty="0">
                          <a:effectLst/>
                        </a:rPr>
                        <a:t>Import </a:t>
                      </a:r>
                      <a:r>
                        <a:rPr lang="fr-FR" sz="600" u="none" strike="noStrike" dirty="0" err="1">
                          <a:effectLst/>
                        </a:rPr>
                        <a:t>OTBs</a:t>
                      </a:r>
                      <a:r>
                        <a:rPr lang="fr-FR" sz="600" u="none" strike="noStrike" dirty="0">
                          <a:effectLst/>
                        </a:rPr>
                        <a:t> dans </a:t>
                      </a:r>
                      <a:r>
                        <a:rPr lang="fr-FR" sz="600" u="none" strike="noStrike" dirty="0" err="1">
                          <a:effectLst/>
                        </a:rPr>
                        <a:t>Netcracker</a:t>
                      </a:r>
                      <a:endParaRPr lang="fr-FR" sz="600" b="0" i="0" u="none" strike="noStrike" dirty="0">
                        <a:solidFill>
                          <a:srgbClr val="000000"/>
                        </a:solidFill>
                        <a:effectLst/>
                        <a:latin typeface="Calibri" panose="020F0502020204030204" pitchFamily="34" charset="0"/>
                      </a:endParaRPr>
                    </a:p>
                  </a:txBody>
                  <a:tcPr marL="1963" marR="1963" marT="1963" marB="0" anchor="ctr">
                    <a:solidFill>
                      <a:schemeClr val="accent3">
                        <a:lumMod val="60000"/>
                        <a:lumOff val="40000"/>
                      </a:schemeClr>
                    </a:solidFill>
                  </a:tcPr>
                </a:tc>
                <a:tc>
                  <a:txBody>
                    <a:bodyPr/>
                    <a:lstStyle/>
                    <a:p>
                      <a:pPr algn="ctr" fontAlgn="ctr"/>
                      <a:r>
                        <a:rPr lang="fr-FR" sz="600" u="none" strike="noStrike">
                          <a:effectLst/>
                        </a:rPr>
                        <a:t>Passage OTBB au statut "planned"dans Netcracker</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Partage avec NETIS pour exécution</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Création d'une intervention adduction MDU dans Pxo</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dirty="0">
                          <a:effectLst/>
                        </a:rPr>
                        <a:t>Planification MDU</a:t>
                      </a:r>
                      <a:endParaRPr lang="fr-FR" sz="600" b="0" i="0" u="none" strike="noStrike" dirty="0">
                        <a:solidFill>
                          <a:srgbClr val="000000"/>
                        </a:solidFill>
                        <a:effectLst/>
                        <a:latin typeface="Calibri" panose="020F0502020204030204" pitchFamily="34" charset="0"/>
                      </a:endParaRPr>
                    </a:p>
                  </a:txBody>
                  <a:tcPr marL="1963" marR="1963" marT="1963" marB="0" anchor="ctr">
                    <a:solidFill>
                      <a:schemeClr val="accent3">
                        <a:lumMod val="60000"/>
                        <a:lumOff val="40000"/>
                      </a:schemeClr>
                    </a:solidFill>
                  </a:tcPr>
                </a:tc>
                <a:tc>
                  <a:txBody>
                    <a:bodyPr/>
                    <a:lstStyle/>
                    <a:p>
                      <a:pPr algn="ctr" fontAlgn="ctr"/>
                      <a:r>
                        <a:rPr lang="fr-FR" sz="600" u="none" strike="noStrike">
                          <a:effectLst/>
                        </a:rPr>
                        <a:t>Exécution des travaux</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Test de continuité</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Validation de l'intervention</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Passage OTBB  au statut "in service" dans Netcracker</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dirty="0">
                          <a:effectLst/>
                        </a:rPr>
                        <a:t>Souscription B2C</a:t>
                      </a:r>
                      <a:endParaRPr lang="fr-FR" sz="600" b="0" i="0" u="none" strike="noStrike" dirty="0">
                        <a:solidFill>
                          <a:srgbClr val="000000"/>
                        </a:solidFill>
                        <a:effectLst/>
                        <a:latin typeface="Calibri" panose="020F0502020204030204" pitchFamily="34" charset="0"/>
                      </a:endParaRPr>
                    </a:p>
                  </a:txBody>
                  <a:tcPr marL="1963" marR="1963" marT="1963" marB="0" anchor="ctr">
                    <a:solidFill>
                      <a:schemeClr val="accent3">
                        <a:lumMod val="60000"/>
                        <a:lumOff val="40000"/>
                      </a:schemeClr>
                    </a:solidFill>
                  </a:tcPr>
                </a:tc>
                <a:tc>
                  <a:txBody>
                    <a:bodyPr/>
                    <a:lstStyle/>
                    <a:p>
                      <a:pPr algn="ctr" fontAlgn="ctr"/>
                      <a:r>
                        <a:rPr lang="fr-FR" sz="600" u="none" strike="noStrike" dirty="0">
                          <a:effectLst/>
                        </a:rPr>
                        <a:t>Souscription B2B</a:t>
                      </a:r>
                      <a:endParaRPr lang="fr-FR" sz="600" b="0" i="0" u="none" strike="noStrike" dirty="0">
                        <a:solidFill>
                          <a:srgbClr val="000000"/>
                        </a:solidFill>
                        <a:effectLst/>
                        <a:latin typeface="Calibri" panose="020F0502020204030204" pitchFamily="34" charset="0"/>
                      </a:endParaRPr>
                    </a:p>
                  </a:txBody>
                  <a:tcPr marL="1963" marR="1963" marT="1963" marB="0" anchor="ctr">
                    <a:solidFill>
                      <a:schemeClr val="accent3">
                        <a:lumMod val="60000"/>
                        <a:lumOff val="40000"/>
                      </a:schemeClr>
                    </a:solidFill>
                  </a:tcPr>
                </a:tc>
                <a:tc>
                  <a:txBody>
                    <a:bodyPr/>
                    <a:lstStyle/>
                    <a:p>
                      <a:pPr algn="ctr" fontAlgn="ctr"/>
                      <a:r>
                        <a:rPr lang="fr-FR" sz="600" u="none" strike="noStrike">
                          <a:effectLst/>
                        </a:rPr>
                        <a:t>Exécution des travaux de connexion des clients</a:t>
                      </a:r>
                      <a:endParaRPr lang="fr-FR" sz="600" b="0" i="0" u="none" strike="noStrike">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3124577281"/>
                  </a:ext>
                </a:extLst>
              </a:tr>
              <a:tr h="934560">
                <a:tc>
                  <a:txBody>
                    <a:bodyPr/>
                    <a:lstStyle/>
                    <a:p>
                      <a:pPr algn="ctr" fontAlgn="ctr"/>
                      <a:r>
                        <a:rPr lang="fr-FR" sz="600" u="none" strike="noStrike" dirty="0">
                          <a:effectLst/>
                        </a:rPr>
                        <a:t>Sous activités</a:t>
                      </a:r>
                      <a:endParaRPr lang="fr-FR" sz="600" b="0" i="0" u="none" strike="noStrike" dirty="0">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Lister au format QGIS +Localisation</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Obtenir signatures : etude et autorisation de travaux </a:t>
                      </a:r>
                      <a:br>
                        <a:rPr lang="fr-FR" sz="600" u="none" strike="noStrike">
                          <a:effectLst/>
                        </a:rPr>
                      </a:br>
                      <a:r>
                        <a:rPr lang="fr-FR" sz="600" u="none" strike="noStrike">
                          <a:effectLst/>
                        </a:rPr>
                        <a:t>Mise à jour du fichier</a:t>
                      </a:r>
                      <a:br>
                        <a:rPr lang="fr-FR" sz="600" u="none" strike="noStrike">
                          <a:effectLst/>
                        </a:rPr>
                      </a:b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l" fontAlgn="ctr"/>
                      <a:r>
                        <a:rPr lang="fr-FR" sz="600" u="none" strike="noStrike">
                          <a:effectLst/>
                        </a:rPr>
                        <a:t>*Vérifier que la zone est déployée</a:t>
                      </a:r>
                      <a:br>
                        <a:rPr lang="fr-FR" sz="600" u="none" strike="noStrike">
                          <a:effectLst/>
                        </a:rPr>
                      </a:br>
                      <a:r>
                        <a:rPr lang="fr-FR" sz="600" u="none" strike="noStrike">
                          <a:effectLst/>
                        </a:rPr>
                        <a:t>*Passage des câbles pour l'aduction : aérien/autre opérateur</a:t>
                      </a:r>
                      <a:br>
                        <a:rPr lang="fr-FR" sz="600" u="none" strike="noStrike">
                          <a:effectLst/>
                        </a:rPr>
                      </a:br>
                      <a:r>
                        <a:rPr lang="fr-FR" sz="600" u="none" strike="noStrike">
                          <a:effectLst/>
                        </a:rPr>
                        <a:t>*Enplacement OTBB</a:t>
                      </a:r>
                      <a:br>
                        <a:rPr lang="fr-FR" sz="600" u="none" strike="noStrike">
                          <a:effectLst/>
                        </a:rPr>
                      </a:br>
                      <a:r>
                        <a:rPr lang="fr-FR" sz="600" u="none" strike="noStrike">
                          <a:effectLst/>
                        </a:rPr>
                        <a:t>*Inventaire matériel nécessaire</a:t>
                      </a:r>
                      <a:br>
                        <a:rPr lang="fr-FR" sz="600" u="none" strike="noStrike">
                          <a:effectLst/>
                        </a:rPr>
                      </a:br>
                      <a:r>
                        <a:rPr lang="fr-FR" sz="600" u="none" strike="noStrike">
                          <a:effectLst/>
                        </a:rPr>
                        <a:t>*Liste des tâches à effectuer</a:t>
                      </a:r>
                      <a:br>
                        <a:rPr lang="fr-FR" sz="600" u="none" strike="noStrike">
                          <a:effectLst/>
                        </a:rPr>
                      </a:br>
                      <a:r>
                        <a:rPr lang="fr-FR" sz="600" u="none" strike="noStrike">
                          <a:effectLst/>
                        </a:rPr>
                        <a:t>*Mise à jour fiber allocation</a:t>
                      </a:r>
                      <a:br>
                        <a:rPr lang="fr-FR" sz="600" u="none" strike="noStrike">
                          <a:effectLst/>
                        </a:rPr>
                      </a:br>
                      <a:r>
                        <a:rPr lang="fr-FR" sz="600" u="none" strike="noStrike">
                          <a:effectLst/>
                        </a:rPr>
                        <a:t>*Contrat</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l" fontAlgn="ctr"/>
                      <a:r>
                        <a:rPr lang="fr-FR" sz="600" u="none" strike="noStrike">
                          <a:effectLst/>
                        </a:rPr>
                        <a:t>Faire valider l'étude par le propritaire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l" fontAlgn="ctr"/>
                      <a:r>
                        <a:rPr lang="fr-FR" sz="600" u="none" strike="noStrike" dirty="0">
                          <a:effectLst/>
                        </a:rPr>
                        <a:t>Changement de statut de l'OTBB : </a:t>
                      </a:r>
                      <a:br>
                        <a:rPr lang="fr-FR" sz="600" u="none" strike="noStrike" dirty="0">
                          <a:effectLst/>
                        </a:rPr>
                      </a:br>
                      <a:r>
                        <a:rPr lang="fr-FR" sz="600" u="none" strike="noStrike" dirty="0">
                          <a:effectLst/>
                        </a:rPr>
                        <a:t> </a:t>
                      </a:r>
                      <a:r>
                        <a:rPr lang="fr-FR" sz="600" u="none" strike="noStrike" dirty="0" err="1">
                          <a:effectLst/>
                        </a:rPr>
                        <a:t>physical</a:t>
                      </a:r>
                      <a:r>
                        <a:rPr lang="fr-FR" sz="600" u="none" strike="noStrike" dirty="0">
                          <a:effectLst/>
                        </a:rPr>
                        <a:t> </a:t>
                      </a:r>
                      <a:r>
                        <a:rPr lang="fr-FR" sz="600" u="none" strike="noStrike" dirty="0" err="1">
                          <a:effectLst/>
                        </a:rPr>
                        <a:t>status</a:t>
                      </a:r>
                      <a:r>
                        <a:rPr lang="fr-FR" sz="600" u="none" strike="noStrike" dirty="0">
                          <a:effectLst/>
                        </a:rPr>
                        <a:t> = "</a:t>
                      </a:r>
                      <a:r>
                        <a:rPr lang="fr-FR" sz="600" u="none" strike="noStrike" dirty="0" err="1">
                          <a:effectLst/>
                        </a:rPr>
                        <a:t>planned</a:t>
                      </a:r>
                      <a:r>
                        <a:rPr lang="fr-FR" sz="600" u="none" strike="noStrike" dirty="0">
                          <a:effectLst/>
                        </a:rPr>
                        <a:t>"</a:t>
                      </a:r>
                      <a:endParaRPr lang="fr-FR" sz="600" b="0" i="0" u="none" strike="noStrike" dirty="0">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Survey préparatoire : préparer les consommables et s'assurer qu'il n'y ait pas de blocage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l" fontAlgn="ctr"/>
                      <a:r>
                        <a:rPr lang="fr-FR" sz="600" u="none" strike="noStrike">
                          <a:effectLst/>
                        </a:rPr>
                        <a:t>*Création d'une  nouvelle intervention</a:t>
                      </a:r>
                      <a:br>
                        <a:rPr lang="fr-FR" sz="600" u="none" strike="noStrike">
                          <a:effectLst/>
                        </a:rPr>
                      </a:br>
                      <a:r>
                        <a:rPr lang="fr-FR" sz="600" u="none" strike="noStrike">
                          <a:effectLst/>
                        </a:rPr>
                        <a:t>*Qualification de l'intervention type adduction MDU</a:t>
                      </a:r>
                      <a:br>
                        <a:rPr lang="fr-FR" sz="600" u="none" strike="noStrike">
                          <a:effectLst/>
                        </a:rPr>
                      </a:br>
                      <a:r>
                        <a:rPr lang="fr-FR" sz="600" u="none" strike="noStrike">
                          <a:effectLst/>
                        </a:rPr>
                        <a:t>*Import des documents (3 docs : survey, Geopackage, FA )</a:t>
                      </a:r>
                      <a:br>
                        <a:rPr lang="fr-FR" sz="600" u="none" strike="noStrike">
                          <a:effectLst/>
                        </a:rPr>
                      </a:br>
                      <a:r>
                        <a:rPr lang="fr-FR" sz="600" u="none" strike="noStrike">
                          <a:effectLst/>
                        </a:rPr>
                        <a:t>*Renseigner nom point de piquage (dans le survey)</a:t>
                      </a:r>
                      <a:br>
                        <a:rPr lang="fr-FR" sz="600" u="none" strike="noStrike">
                          <a:effectLst/>
                        </a:rPr>
                      </a:br>
                      <a:r>
                        <a:rPr lang="fr-FR" sz="600" u="none" strike="noStrike">
                          <a:effectLst/>
                        </a:rPr>
                        <a:t>*Renseigner le nombre d'OTBBs à installer</a:t>
                      </a:r>
                      <a:br>
                        <a:rPr lang="fr-FR" sz="600" u="none" strike="noStrike">
                          <a:effectLst/>
                        </a:rPr>
                      </a:br>
                      <a:r>
                        <a:rPr lang="fr-FR" sz="600" u="none" strike="noStrike">
                          <a:effectLst/>
                        </a:rPr>
                        <a:t>*Renseigner pour chaque OTBB si connu  nom, ID building, étage dans le bâtiment</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l" fontAlgn="ctr"/>
                      <a:r>
                        <a:rPr lang="fr-FR" sz="600" u="none" strike="noStrike">
                          <a:effectLst/>
                        </a:rPr>
                        <a:t>Processus différent --&gt; process dédié à modeliser</a:t>
                      </a:r>
                      <a:br>
                        <a:rPr lang="fr-FR" sz="600" u="none" strike="noStrike">
                          <a:effectLst/>
                        </a:rPr>
                      </a:br>
                      <a:r>
                        <a:rPr lang="fr-FR" sz="600" u="none" strike="noStrike">
                          <a:effectLst/>
                        </a:rPr>
                        <a:t>La mesure de la perf est différent</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l" fontAlgn="ctr"/>
                      <a:r>
                        <a:rPr lang="fr-FR" sz="600" u="none" strike="noStrike">
                          <a:effectLst/>
                        </a:rPr>
                        <a:t>*Intervention</a:t>
                      </a:r>
                      <a:br>
                        <a:rPr lang="fr-FR" sz="600" u="none" strike="noStrike">
                          <a:effectLst/>
                        </a:rPr>
                      </a:br>
                      <a:r>
                        <a:rPr lang="fr-FR" sz="600" u="none" strike="noStrike">
                          <a:effectLst/>
                        </a:rPr>
                        <a:t> Poteau &amp; bras de déport</a:t>
                      </a:r>
                      <a:br>
                        <a:rPr lang="fr-FR" sz="600" u="none" strike="noStrike">
                          <a:effectLst/>
                        </a:rPr>
                      </a:br>
                      <a:r>
                        <a:rPr lang="fr-FR" sz="600" u="none" strike="noStrike">
                          <a:effectLst/>
                        </a:rPr>
                        <a:t>*Intervention</a:t>
                      </a:r>
                      <a:br>
                        <a:rPr lang="fr-FR" sz="600" u="none" strike="noStrike">
                          <a:effectLst/>
                        </a:rPr>
                      </a:br>
                      <a:r>
                        <a:rPr lang="fr-FR" sz="600" u="none" strike="noStrike">
                          <a:effectLst/>
                        </a:rPr>
                        <a:t> Génie Civil</a:t>
                      </a:r>
                      <a:br>
                        <a:rPr lang="fr-FR" sz="600" u="none" strike="noStrike">
                          <a:effectLst/>
                        </a:rPr>
                      </a:br>
                      <a:r>
                        <a:rPr lang="fr-FR" sz="600" u="none" strike="noStrike">
                          <a:effectLst/>
                        </a:rPr>
                        <a:t> *Intervention</a:t>
                      </a:r>
                      <a:br>
                        <a:rPr lang="fr-FR" sz="600" u="none" strike="noStrike">
                          <a:effectLst/>
                        </a:rPr>
                      </a:br>
                      <a:r>
                        <a:rPr lang="fr-FR" sz="600" u="none" strike="noStrike">
                          <a:effectLst/>
                        </a:rPr>
                        <a:t> Tirage de câble</a:t>
                      </a:r>
                      <a:br>
                        <a:rPr lang="fr-FR" sz="600" u="none" strike="noStrike">
                          <a:effectLst/>
                        </a:rPr>
                      </a:br>
                      <a:r>
                        <a:rPr lang="fr-FR" sz="600" u="none" strike="noStrike">
                          <a:effectLst/>
                        </a:rPr>
                        <a:t>*Intervention</a:t>
                      </a:r>
                      <a:br>
                        <a:rPr lang="fr-FR" sz="600" u="none" strike="noStrike">
                          <a:effectLst/>
                        </a:rPr>
                      </a:br>
                      <a:r>
                        <a:rPr lang="fr-FR" sz="600" u="none" strike="noStrike">
                          <a:effectLst/>
                        </a:rPr>
                        <a:t> Splicing Piquage</a:t>
                      </a:r>
                      <a:br>
                        <a:rPr lang="fr-FR" sz="600" u="none" strike="noStrike">
                          <a:effectLst/>
                        </a:rPr>
                      </a:br>
                      <a:r>
                        <a:rPr lang="fr-FR" sz="600" u="none" strike="noStrike">
                          <a:effectLst/>
                        </a:rPr>
                        <a:t>*Installation OTBB 1, 2, ..., 10</a:t>
                      </a:r>
                      <a:br>
                        <a:rPr lang="fr-FR" sz="600" u="none" strike="noStrike">
                          <a:effectLst/>
                        </a:rPr>
                      </a:br>
                      <a:r>
                        <a:rPr lang="fr-FR" sz="600" u="none" strike="noStrike">
                          <a:effectLst/>
                        </a:rPr>
                        <a:t> *Saisie</a:t>
                      </a:r>
                      <a:br>
                        <a:rPr lang="fr-FR" sz="600" u="none" strike="noStrike">
                          <a:effectLst/>
                        </a:rPr>
                      </a:br>
                      <a:r>
                        <a:rPr lang="fr-FR" sz="600" u="none" strike="noStrike">
                          <a:effectLst/>
                        </a:rPr>
                        <a:t> des articles</a:t>
                      </a:r>
                      <a:br>
                        <a:rPr lang="fr-FR" sz="600" u="none" strike="noStrike">
                          <a:effectLst/>
                        </a:rPr>
                      </a:br>
                      <a:r>
                        <a:rPr lang="fr-FR" sz="600" u="none" strike="noStrike">
                          <a:effectLst/>
                        </a:rPr>
                        <a:t> *Résultat</a:t>
                      </a:r>
                      <a:br>
                        <a:rPr lang="fr-FR" sz="600" u="none" strike="noStrike">
                          <a:effectLst/>
                        </a:rPr>
                      </a:br>
                      <a:r>
                        <a:rPr lang="fr-FR" sz="600" u="none" strike="noStrike">
                          <a:effectLst/>
                        </a:rPr>
                        <a:t> Intervention MDU</a:t>
                      </a:r>
                      <a:br>
                        <a:rPr lang="fr-FR" sz="600" u="none" strike="noStrike">
                          <a:effectLst/>
                        </a:rPr>
                      </a:br>
                      <a:r>
                        <a:rPr lang="fr-FR" sz="600" u="none" strike="noStrike">
                          <a:effectLst/>
                        </a:rPr>
                        <a:t>*Section</a:t>
                      </a:r>
                      <a:br>
                        <a:rPr lang="fr-FR" sz="600" u="none" strike="noStrike">
                          <a:effectLst/>
                        </a:rPr>
                      </a:br>
                      <a:r>
                        <a:rPr lang="fr-FR" sz="600" u="none" strike="noStrike">
                          <a:effectLst/>
                        </a:rPr>
                        <a:t> Validation Référent</a:t>
                      </a:r>
                      <a:br>
                        <a:rPr lang="fr-FR" sz="600" u="none" strike="noStrike">
                          <a:effectLst/>
                        </a:rPr>
                      </a:b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l" fontAlgn="ctr"/>
                      <a:r>
                        <a:rPr lang="fr-FR" sz="600" u="none" strike="noStrike">
                          <a:effectLst/>
                        </a:rPr>
                        <a:t>Test du signal reçu à l'OTB : OTDR/Power meter</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l"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Raccordement des drops</a:t>
                      </a:r>
                      <a:endParaRPr lang="fr-FR" sz="600" b="0" i="0" u="none" strike="noStrike">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2978181111"/>
                  </a:ext>
                </a:extLst>
              </a:tr>
              <a:tr h="56914">
                <a:tc>
                  <a:txBody>
                    <a:bodyPr/>
                    <a:lstStyle/>
                    <a:p>
                      <a:pPr algn="ctr" fontAlgn="ctr"/>
                      <a:r>
                        <a:rPr lang="fr-FR" sz="600" u="none" strike="noStrike">
                          <a:effectLst/>
                        </a:rPr>
                        <a:t>Acteur</a:t>
                      </a:r>
                      <a:endParaRPr lang="fr-FR" sz="600" b="0" i="0" u="none" strike="noStrike">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Designer réseau</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Designer réseau</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VAD</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VAD</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Enquêteur OSP MDU</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Enquêteur OSP MDU</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Equipe OSP</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Equipe OSP</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NETIS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Superviseur OSP</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Dispatch</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Technicien</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NETIS</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NETIS</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Equipe OSP</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NETIS</a:t>
                      </a:r>
                      <a:endParaRPr lang="fr-FR" sz="600" b="0" i="0" u="none" strike="noStrike">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1485930260"/>
                  </a:ext>
                </a:extLst>
              </a:tr>
              <a:tr h="56914">
                <a:tc>
                  <a:txBody>
                    <a:bodyPr/>
                    <a:lstStyle/>
                    <a:p>
                      <a:pPr algn="ctr" fontAlgn="ctr"/>
                      <a:r>
                        <a:rPr lang="fr-FR" sz="600" u="none" strike="noStrike">
                          <a:effectLst/>
                        </a:rPr>
                        <a:t>Localisation des acteurs</a:t>
                      </a:r>
                      <a:endParaRPr lang="fr-FR" sz="600" b="0" i="0" u="none" strike="noStrike">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Filiale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Filiale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Filiale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Filiale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Filiale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Filiale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Filiale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Filiale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Partenaire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Filiale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Partenaire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Partenaire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Partenaire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Partenaire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Filiale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Filiale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Filiale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Partenaire</a:t>
                      </a:r>
                      <a:endParaRPr lang="fr-FR" sz="600" b="0" i="0" u="none" strike="noStrike">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498152255"/>
                  </a:ext>
                </a:extLst>
              </a:tr>
              <a:tr h="227654">
                <a:tc>
                  <a:txBody>
                    <a:bodyPr/>
                    <a:lstStyle/>
                    <a:p>
                      <a:pPr algn="ctr" fontAlgn="ctr"/>
                      <a:r>
                        <a:rPr lang="fr-FR" sz="600" u="none" strike="noStrike">
                          <a:effectLst/>
                        </a:rPr>
                        <a:t>Document de référence? </a:t>
                      </a:r>
                      <a:endParaRPr lang="fr-FR" sz="600" b="0" i="0" u="none" strike="noStrike">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MQ</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Etudes des autorisations</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Formation + template (identifiants, contact, chemin de câbles, listing des travaux) +fiber allocation</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Influence area infrastructure/connectivity</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survey, Geopackage, FA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Fichier de suivi construction MDU</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Document d'exécution (résultats des tests)</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2601252571"/>
                  </a:ext>
                </a:extLst>
              </a:tr>
              <a:tr h="113827">
                <a:tc>
                  <a:txBody>
                    <a:bodyPr/>
                    <a:lstStyle/>
                    <a:p>
                      <a:pPr algn="ctr" fontAlgn="ctr"/>
                      <a:r>
                        <a:rPr lang="fr-FR" sz="600" u="none" strike="noStrike">
                          <a:effectLst/>
                        </a:rPr>
                        <a:t>SI mis en oeuvre</a:t>
                      </a:r>
                      <a:endParaRPr lang="fr-FR" sz="600" b="0" i="0" u="none" strike="noStrike">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QGIS</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Fichier de suivi des autorisations</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Netcracker</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Netcracker</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Praxedo - vue superviseur</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l"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Netcracker</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1799793013"/>
                  </a:ext>
                </a:extLst>
              </a:tr>
              <a:tr h="569136">
                <a:tc>
                  <a:txBody>
                    <a:bodyPr/>
                    <a:lstStyle/>
                    <a:p>
                      <a:pPr algn="ctr" fontAlgn="ctr"/>
                      <a:r>
                        <a:rPr lang="fr-FR" sz="600" u="none" strike="noStrike" dirty="0">
                          <a:effectLst/>
                        </a:rPr>
                        <a:t>Quelle action SI/</a:t>
                      </a:r>
                      <a:r>
                        <a:rPr lang="fr-FR" sz="600" u="none" strike="noStrike" dirty="0" err="1">
                          <a:effectLst/>
                        </a:rPr>
                        <a:t>foctionnalités</a:t>
                      </a:r>
                      <a:r>
                        <a:rPr lang="fr-FR" sz="600" u="none" strike="noStrike" dirty="0">
                          <a:effectLst/>
                        </a:rPr>
                        <a:t> ? </a:t>
                      </a:r>
                      <a:endParaRPr lang="fr-FR" sz="600" b="0" i="0" u="none" strike="noStrike" dirty="0">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Changement statut dans "physical status"</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l" fontAlgn="ctr"/>
                      <a:r>
                        <a:rPr lang="fr-FR" sz="600" u="none" strike="noStrike">
                          <a:effectLst/>
                        </a:rPr>
                        <a:t>*Compléter le compte rendu Pxo : tous les champs obligatoires doivent être renseignés</a:t>
                      </a:r>
                      <a:br>
                        <a:rPr lang="fr-FR" sz="600" u="none" strike="noStrike">
                          <a:effectLst/>
                        </a:rPr>
                      </a:br>
                      <a:r>
                        <a:rPr lang="fr-FR" sz="600" u="none" strike="noStrike">
                          <a:effectLst/>
                        </a:rPr>
                        <a:t>*Ajouter les photos, mesures des signaux OTBBs</a:t>
                      </a:r>
                      <a:br>
                        <a:rPr lang="fr-FR" sz="600" u="none" strike="noStrike">
                          <a:effectLst/>
                        </a:rPr>
                      </a:b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Changement statut dans "physical status"</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177320910"/>
                  </a:ext>
                </a:extLst>
              </a:tr>
              <a:tr h="227654">
                <a:tc>
                  <a:txBody>
                    <a:bodyPr/>
                    <a:lstStyle/>
                    <a:p>
                      <a:pPr algn="ctr" fontAlgn="ctr"/>
                      <a:r>
                        <a:rPr lang="fr-FR" sz="600" u="none" strike="noStrike" dirty="0">
                          <a:effectLst/>
                        </a:rPr>
                        <a:t>Critère de qualité/Analyse de la performance</a:t>
                      </a:r>
                      <a:endParaRPr lang="fr-FR" sz="600" b="0" i="0" u="none" strike="noStrike" dirty="0">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*Taux de signatures conformes "decideurs"</a:t>
                      </a:r>
                      <a:br>
                        <a:rPr lang="fr-FR" sz="600" u="none" strike="noStrike">
                          <a:effectLst/>
                        </a:rPr>
                      </a:br>
                      <a:r>
                        <a:rPr lang="fr-FR" sz="600" u="none" strike="noStrike">
                          <a:effectLst/>
                        </a:rPr>
                        <a:t>Début mesure du délai</a:t>
                      </a:r>
                      <a:br>
                        <a:rPr lang="fr-FR" sz="600" u="none" strike="noStrike">
                          <a:effectLst/>
                        </a:rPr>
                      </a:br>
                      <a:r>
                        <a:rPr lang="fr-FR" sz="600" u="none" strike="noStrike">
                          <a:effectLst/>
                        </a:rPr>
                        <a:t>*Taux d'accords de pose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Volume de survey réalisés</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2 semaines après le survey (délai de validation survey + FA + cotation)</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Volume d'OTBB mis en production</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Taux de remplissage/pénétration des OTBB</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Taux de remplissage/pénétration des OTBB</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3717581425"/>
                  </a:ext>
                </a:extLst>
              </a:tr>
              <a:tr h="113827">
                <a:tc>
                  <a:txBody>
                    <a:bodyPr/>
                    <a:lstStyle/>
                    <a:p>
                      <a:pPr algn="ctr" fontAlgn="ctr"/>
                      <a:r>
                        <a:rPr lang="fr-FR" sz="600" u="none" strike="noStrike">
                          <a:effectLst/>
                        </a:rPr>
                        <a:t>Qui réalise contrôle?</a:t>
                      </a:r>
                      <a:endParaRPr lang="fr-FR" sz="600" b="0" i="0" u="none" strike="noStrike">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Superviseur OSP GVA</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Superviseur OSP GVA</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Superviseur OSP GVA</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Responsable OSP - GVA</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4161356953"/>
                  </a:ext>
                </a:extLst>
              </a:tr>
              <a:tr h="113827">
                <a:tc>
                  <a:txBody>
                    <a:bodyPr/>
                    <a:lstStyle/>
                    <a:p>
                      <a:pPr algn="ctr" fontAlgn="ctr"/>
                      <a:r>
                        <a:rPr lang="fr-FR" sz="600" u="none" strike="noStrike">
                          <a:effectLst/>
                        </a:rPr>
                        <a:t>Quelles actions de contrôle?</a:t>
                      </a:r>
                      <a:endParaRPr lang="fr-FR" sz="600" b="0" i="0" u="none" strike="noStrike">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Supervision</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Supervision</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Supervision</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Supervision</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Contrôle de l'installation</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1763083943"/>
                  </a:ext>
                </a:extLst>
              </a:tr>
              <a:tr h="113827">
                <a:tc>
                  <a:txBody>
                    <a:bodyPr/>
                    <a:lstStyle/>
                    <a:p>
                      <a:pPr algn="ctr" fontAlgn="ctr"/>
                      <a:r>
                        <a:rPr lang="fr-FR" sz="600" u="none" strike="noStrike">
                          <a:effectLst/>
                        </a:rPr>
                        <a:t>Condition de passage</a:t>
                      </a:r>
                      <a:endParaRPr lang="fr-FR" sz="600" b="0" i="0" u="none" strike="noStrike">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Nombre adressables&gt;8</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Acceptation</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Validation du responsable OSP</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Pas de blocage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24635511"/>
                  </a:ext>
                </a:extLst>
              </a:tr>
              <a:tr h="170741">
                <a:tc>
                  <a:txBody>
                    <a:bodyPr/>
                    <a:lstStyle/>
                    <a:p>
                      <a:pPr algn="ctr" fontAlgn="ctr"/>
                      <a:r>
                        <a:rPr lang="fr-FR" sz="600" u="none" strike="noStrike">
                          <a:effectLst/>
                        </a:rPr>
                        <a:t>Condition de blocage</a:t>
                      </a:r>
                      <a:endParaRPr lang="fr-FR" sz="600" b="0" i="0" u="none" strike="noStrike">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Nombre adressables&lt;8</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KO</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Non validation du responsable OSP</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Blocage - informations insuffisantes</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Pas de signal reçu</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807932369"/>
                  </a:ext>
                </a:extLst>
              </a:tr>
              <a:tr h="284568">
                <a:tc>
                  <a:txBody>
                    <a:bodyPr/>
                    <a:lstStyle/>
                    <a:p>
                      <a:pPr algn="ctr" fontAlgn="ctr"/>
                      <a:r>
                        <a:rPr lang="fr-FR" sz="600" u="none" strike="noStrike" dirty="0">
                          <a:effectLst/>
                        </a:rPr>
                        <a:t>Actions suite blocage </a:t>
                      </a:r>
                      <a:endParaRPr lang="fr-FR" sz="600" b="0" i="0" u="none" strike="noStrike" dirty="0">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Intégration MDU ZI OTB</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Lettre secrétariat général ou négociations (raccordement gratuit,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Modifications du responsable OSP</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Envoi d'indormations complémentaires de GVA</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Remontée GVA pour troubleshooting - Contrôle liasion bout en bout</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425282865"/>
                  </a:ext>
                </a:extLst>
              </a:tr>
              <a:tr h="227654">
                <a:tc>
                  <a:txBody>
                    <a:bodyPr/>
                    <a:lstStyle/>
                    <a:p>
                      <a:pPr algn="ctr" fontAlgn="ctr"/>
                      <a:r>
                        <a:rPr lang="fr-FR" sz="600" u="none" strike="noStrike" dirty="0">
                          <a:effectLst/>
                        </a:rPr>
                        <a:t>Sortie</a:t>
                      </a:r>
                      <a:endParaRPr lang="fr-FR" sz="600" b="0" i="0" u="none" strike="noStrike" dirty="0">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Liste des MDU/OTBB de la zone au format QGIS</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Bâtiment MDU à prospecter</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Liste de prospects chauds</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MDU autorisé par le syndic</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Enquête terrain validée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Enquête terrain validée par le propriétaire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Quality report vérifié &amp; Synoptique OTBs intégrée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OTBB en statut "planned</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Début des travaux</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Intervention d'adduction créée et planifiée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Work order d'installation</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Fin des travaux</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Document d'exécution (résultats des tests)</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Installation validée par NETIS</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OTBB  en statut "in service"</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Listes de clients B2C</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Listes de clients B2B</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Clients actifs</a:t>
                      </a:r>
                      <a:endParaRPr lang="fr-FR" sz="600" b="0" i="0" u="none" strike="noStrike">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795645073"/>
                  </a:ext>
                </a:extLst>
              </a:tr>
              <a:tr h="56914">
                <a:tc>
                  <a:txBody>
                    <a:bodyPr/>
                    <a:lstStyle/>
                    <a:p>
                      <a:pPr algn="ctr" fontAlgn="ctr"/>
                      <a:r>
                        <a:rPr lang="fr-FR" sz="600" u="none" strike="noStrike">
                          <a:effectLst/>
                        </a:rPr>
                        <a:t>Bénéficiaire de l'output</a:t>
                      </a:r>
                      <a:endParaRPr lang="fr-FR" sz="600" b="0" i="0" u="none" strike="noStrike">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3911308591"/>
                  </a:ext>
                </a:extLst>
              </a:tr>
              <a:tr h="571098">
                <a:tc>
                  <a:txBody>
                    <a:bodyPr/>
                    <a:lstStyle/>
                    <a:p>
                      <a:pPr algn="ctr" fontAlgn="ctr"/>
                      <a:r>
                        <a:rPr lang="fr-FR" sz="600" u="none" strike="noStrike" dirty="0">
                          <a:effectLst/>
                        </a:rPr>
                        <a:t>Commentaires</a:t>
                      </a:r>
                      <a:endParaRPr lang="fr-FR" sz="600" b="0" i="0" u="none" strike="noStrike" dirty="0">
                        <a:solidFill>
                          <a:srgbClr val="000000"/>
                        </a:solidFill>
                        <a:effectLst/>
                        <a:latin typeface="Arial Nova" panose="020B0504020202020204" pitchFamily="34" charset="0"/>
                      </a:endParaRPr>
                    </a:p>
                  </a:txBody>
                  <a:tcPr marL="1963" marR="1963" marT="1963" marB="0" anchor="ctr">
                    <a:solidFill>
                      <a:schemeClr val="accent5">
                        <a:lumMod val="20000"/>
                        <a:lumOff val="80000"/>
                      </a:schemeClr>
                    </a:solidFill>
                  </a:tcPr>
                </a:tc>
                <a:tc>
                  <a:txBody>
                    <a:bodyPr/>
                    <a:lstStyle/>
                    <a:p>
                      <a:pPr algn="ctr" fontAlgn="ctr"/>
                      <a:r>
                        <a:rPr lang="fr-FR" sz="600" u="none" strike="noStrike">
                          <a:effectLst/>
                        </a:rPr>
                        <a:t>Fait parti du processus de dimensionnement des ZI</a:t>
                      </a:r>
                      <a:endParaRPr lang="fr-FR" sz="600" b="0" i="0" u="none" strike="noStrike">
                        <a:solidFill>
                          <a:srgbClr val="FF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Possibilité d'intégrer pour monitorer le commerce ? Service NOW ?</a:t>
                      </a:r>
                      <a:endParaRPr lang="fr-FR" sz="600" b="0" i="0" u="none" strike="noStrike">
                        <a:solidFill>
                          <a:srgbClr val="FF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FF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Possibilité d'intégrer à Pxo (ticket transmis pour monitoring)</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activité en parellèle de la préparation des documents de connectivté qui vont être importés dans Netcracker</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activité en parallèle de la validation de l'enquête par le responsable OSP</a:t>
                      </a:r>
                      <a:br>
                        <a:rPr lang="fr-FR" sz="600" u="none" strike="noStrike">
                          <a:effectLst/>
                        </a:rPr>
                      </a:br>
                      <a:br>
                        <a:rPr lang="fr-FR" sz="600" u="none" strike="noStrike">
                          <a:effectLst/>
                        </a:rPr>
                      </a:br>
                      <a:r>
                        <a:rPr lang="fr-FR" sz="600" u="none" strike="noStrike">
                          <a:effectLst/>
                        </a:rPr>
                        <a:t>Cette action sert à ouvrir l'OTBB à la vente.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Activité en parallèle de l'étude terrain</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a:effectLst/>
                        </a:rPr>
                        <a:t> </a:t>
                      </a:r>
                      <a:endParaRPr lang="fr-FR" sz="600" b="0" i="0" u="none" strike="noStrike">
                        <a:solidFill>
                          <a:srgbClr val="000000"/>
                        </a:solidFill>
                        <a:effectLst/>
                        <a:latin typeface="Calibri" panose="020F0502020204030204" pitchFamily="34" charset="0"/>
                      </a:endParaRPr>
                    </a:p>
                  </a:txBody>
                  <a:tcPr marL="1963" marR="1963" marT="1963" marB="0" anchor="ctr"/>
                </a:tc>
                <a:tc>
                  <a:txBody>
                    <a:bodyPr/>
                    <a:lstStyle/>
                    <a:p>
                      <a:pPr algn="ctr" fontAlgn="ctr"/>
                      <a:r>
                        <a:rPr lang="fr-FR" sz="600" u="none" strike="noStrike" dirty="0">
                          <a:effectLst/>
                        </a:rPr>
                        <a:t> </a:t>
                      </a:r>
                      <a:endParaRPr lang="fr-FR" sz="600" b="0" i="0" u="none" strike="noStrike" dirty="0">
                        <a:solidFill>
                          <a:srgbClr val="000000"/>
                        </a:solidFill>
                        <a:effectLst/>
                        <a:latin typeface="Calibri" panose="020F0502020204030204" pitchFamily="34" charset="0"/>
                      </a:endParaRPr>
                    </a:p>
                  </a:txBody>
                  <a:tcPr marL="1963" marR="1963" marT="1963" marB="0" anchor="ctr"/>
                </a:tc>
                <a:extLst>
                  <a:ext uri="{0D108BD9-81ED-4DB2-BD59-A6C34878D82A}">
                    <a16:rowId xmlns:a16="http://schemas.microsoft.com/office/drawing/2014/main" val="722159211"/>
                  </a:ext>
                </a:extLst>
              </a:tr>
            </a:tbl>
          </a:graphicData>
        </a:graphic>
      </p:graphicFrame>
    </p:spTree>
    <p:extLst>
      <p:ext uri="{BB962C8B-B14F-4D97-AF65-F5344CB8AC3E}">
        <p14:creationId xmlns:p14="http://schemas.microsoft.com/office/powerpoint/2010/main" val="3675616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lstStyle/>
          <a:p>
            <a:r>
              <a:rPr lang="fr-FR" dirty="0"/>
              <a:t>construction MDU industrialisé </a:t>
            </a:r>
            <a:br>
              <a:rPr lang="fr-FR" dirty="0"/>
            </a:br>
            <a:r>
              <a:rPr lang="fr-FR" sz="3200" i="1" dirty="0"/>
              <a:t>Nb adressables &gt; 10</a:t>
            </a:r>
          </a:p>
        </p:txBody>
      </p:sp>
    </p:spTree>
    <p:extLst>
      <p:ext uri="{BB962C8B-B14F-4D97-AF65-F5344CB8AC3E}">
        <p14:creationId xmlns:p14="http://schemas.microsoft.com/office/powerpoint/2010/main" val="3824436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au 7"/>
          <p:cNvGraphicFramePr>
            <a:graphicFrameLocks noGrp="1"/>
          </p:cNvGraphicFramePr>
          <p:nvPr>
            <p:extLst>
              <p:ext uri="{D42A27DB-BD31-4B8C-83A1-F6EECF244321}">
                <p14:modId xmlns:p14="http://schemas.microsoft.com/office/powerpoint/2010/main" val="497082000"/>
              </p:ext>
            </p:extLst>
          </p:nvPr>
        </p:nvGraphicFramePr>
        <p:xfrm>
          <a:off x="842569" y="1167342"/>
          <a:ext cx="4974621" cy="5385496"/>
        </p:xfrm>
        <a:graphic>
          <a:graphicData uri="http://schemas.openxmlformats.org/drawingml/2006/table">
            <a:tbl>
              <a:tblPr firstRow="1" bandRow="1">
                <a:tableStyleId>{2D5ABB26-0587-4C30-8999-92F81FD0307C}</a:tableStyleId>
              </a:tblPr>
              <a:tblGrid>
                <a:gridCol w="1088563">
                  <a:extLst>
                    <a:ext uri="{9D8B030D-6E8A-4147-A177-3AD203B41FA5}">
                      <a16:colId xmlns:a16="http://schemas.microsoft.com/office/drawing/2014/main" val="1016517965"/>
                    </a:ext>
                  </a:extLst>
                </a:gridCol>
                <a:gridCol w="1584093">
                  <a:extLst>
                    <a:ext uri="{9D8B030D-6E8A-4147-A177-3AD203B41FA5}">
                      <a16:colId xmlns:a16="http://schemas.microsoft.com/office/drawing/2014/main" val="2732424858"/>
                    </a:ext>
                  </a:extLst>
                </a:gridCol>
                <a:gridCol w="890497">
                  <a:extLst>
                    <a:ext uri="{9D8B030D-6E8A-4147-A177-3AD203B41FA5}">
                      <a16:colId xmlns:a16="http://schemas.microsoft.com/office/drawing/2014/main" val="3446518124"/>
                    </a:ext>
                  </a:extLst>
                </a:gridCol>
                <a:gridCol w="1411468">
                  <a:extLst>
                    <a:ext uri="{9D8B030D-6E8A-4147-A177-3AD203B41FA5}">
                      <a16:colId xmlns:a16="http://schemas.microsoft.com/office/drawing/2014/main" val="796687613"/>
                    </a:ext>
                  </a:extLst>
                </a:gridCol>
              </a:tblGrid>
              <a:tr h="696615">
                <a:tc>
                  <a:txBody>
                    <a:bodyPr/>
                    <a:lstStyle/>
                    <a:p>
                      <a:pPr algn="ctr"/>
                      <a:r>
                        <a:rPr lang="fr-FR" sz="1200" b="1" dirty="0">
                          <a:solidFill>
                            <a:schemeClr val="bg1"/>
                          </a:solidFill>
                        </a:rPr>
                        <a:t>Famille de la chaîne de valeur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B7FAC"/>
                    </a:solidFill>
                  </a:tcPr>
                </a:tc>
                <a:tc gridSpan="3">
                  <a:txBody>
                    <a:bodyPr/>
                    <a:lstStyle/>
                    <a:p>
                      <a:r>
                        <a:rPr lang="fr-FR" sz="1300" dirty="0" err="1"/>
                        <a:t>Core</a:t>
                      </a:r>
                      <a:r>
                        <a:rPr lang="fr-FR" sz="1300" dirty="0"/>
                        <a:t> Business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847903403"/>
                  </a:ext>
                </a:extLst>
              </a:tr>
              <a:tr h="696615">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200" b="1" dirty="0">
                          <a:solidFill>
                            <a:schemeClr val="bg1"/>
                          </a:solidFill>
                        </a:rPr>
                        <a:t>Maillon chaîne de valeur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B7FAC"/>
                    </a:solidFill>
                  </a:tcPr>
                </a:tc>
                <a:tc gridSpan="3">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1300" dirty="0" err="1"/>
                        <a:t>Run</a:t>
                      </a:r>
                      <a:endParaRPr lang="fr-FR"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dirty="0"/>
                    </a:p>
                  </a:txBody>
                  <a:tcPr/>
                </a:tc>
                <a:tc hMerge="1">
                  <a:txBody>
                    <a:bodyPr/>
                    <a:lstStyle/>
                    <a:p>
                      <a:endParaRPr lang="fr-FR"/>
                    </a:p>
                  </a:txBody>
                  <a:tcPr/>
                </a:tc>
                <a:extLst>
                  <a:ext uri="{0D108BD9-81ED-4DB2-BD59-A6C34878D82A}">
                    <a16:rowId xmlns:a16="http://schemas.microsoft.com/office/drawing/2014/main" val="3245999517"/>
                  </a:ext>
                </a:extLst>
              </a:tr>
              <a:tr h="497582">
                <a:tc>
                  <a:txBody>
                    <a:bodyPr/>
                    <a:lstStyle/>
                    <a:p>
                      <a:pPr algn="ctr"/>
                      <a:r>
                        <a:rPr lang="fr-FR" sz="1200" b="1" dirty="0">
                          <a:solidFill>
                            <a:schemeClr val="bg1"/>
                          </a:solidFill>
                        </a:rPr>
                        <a:t>Macro</a:t>
                      </a:r>
                      <a:r>
                        <a:rPr lang="fr-FR" sz="1200" b="1" baseline="0" dirty="0">
                          <a:solidFill>
                            <a:schemeClr val="bg1"/>
                          </a:solidFill>
                        </a:rPr>
                        <a:t> processus</a:t>
                      </a:r>
                      <a:endParaRPr lang="fr-FR" sz="12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B7FAC"/>
                    </a:solidFill>
                  </a:tcPr>
                </a:tc>
                <a:tc gridSpan="3">
                  <a:txBody>
                    <a:bodyPr/>
                    <a:lstStyle/>
                    <a:p>
                      <a:r>
                        <a:rPr lang="fr-FR" sz="1300" dirty="0"/>
                        <a:t>OSP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021360870"/>
                  </a:ext>
                </a:extLst>
              </a:tr>
              <a:tr h="315135">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200" b="1" dirty="0">
                          <a:solidFill>
                            <a:schemeClr val="bg1"/>
                          </a:solidFill>
                        </a:rPr>
                        <a:t>Processus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B7FAC"/>
                    </a:solidFill>
                  </a:tcPr>
                </a:tc>
                <a:tc gridSpan="3">
                  <a:txBody>
                    <a:bodyPr/>
                    <a:lstStyle/>
                    <a:p>
                      <a:r>
                        <a:rPr lang="fr-FR" sz="1300" b="1" dirty="0"/>
                        <a:t>Construction MDU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96914622"/>
                  </a:ext>
                </a:extLst>
              </a:tr>
              <a:tr h="817833">
                <a:tc>
                  <a:txBody>
                    <a:bodyPr/>
                    <a:lstStyle/>
                    <a:p>
                      <a:pPr algn="ctr"/>
                      <a:r>
                        <a:rPr lang="fr-FR" sz="1200" b="1">
                          <a:solidFill>
                            <a:schemeClr val="bg1"/>
                          </a:solidFill>
                        </a:rPr>
                        <a:t>Début</a:t>
                      </a:r>
                      <a:endParaRPr lang="fr-FR" sz="12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DC8E8"/>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1300" dirty="0"/>
                        <a:t>Nouvelle zone d'influence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200" b="1" i="0" dirty="0">
                          <a:solidFill>
                            <a:schemeClr val="bg1"/>
                          </a:solidFill>
                        </a:rPr>
                        <a:t>Fin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DC8E8"/>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1200" dirty="0"/>
                        <a:t>Création du </a:t>
                      </a:r>
                      <a:r>
                        <a:rPr lang="fr-FR" sz="1200" dirty="0" err="1"/>
                        <a:t>worker</a:t>
                      </a:r>
                      <a:r>
                        <a:rPr lang="fr-FR" sz="1200" dirty="0"/>
                        <a:t> </a:t>
                      </a:r>
                      <a:r>
                        <a:rPr lang="fr-FR" sz="1200" dirty="0" err="1"/>
                        <a:t>order</a:t>
                      </a:r>
                      <a:r>
                        <a:rPr lang="fr-FR" sz="1200" dirty="0"/>
                        <a:t> d'installation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28231715"/>
                  </a:ext>
                </a:extLst>
              </a:tr>
              <a:tr h="968486">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200" b="1" dirty="0">
                          <a:solidFill>
                            <a:schemeClr val="bg1"/>
                          </a:solidFill>
                        </a:rPr>
                        <a:t>Fournisseur inputs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DC8E8"/>
                    </a:solidFill>
                  </a:tcPr>
                </a:tc>
                <a:tc gridSpan="3">
                  <a:txBody>
                    <a:bodyPr/>
                    <a:lstStyle/>
                    <a:p>
                      <a:pPr marL="171450" indent="-171450">
                        <a:buFont typeface="Arial" panose="020B0604020202020204" pitchFamily="34" charset="0"/>
                        <a:buChar char="•"/>
                      </a:pPr>
                      <a:r>
                        <a:rPr lang="fr-FR" sz="1300" dirty="0"/>
                        <a:t>MQ</a:t>
                      </a:r>
                    </a:p>
                    <a:p>
                      <a:pPr marL="171450" indent="-171450">
                        <a:buFont typeface="Arial" panose="020B0604020202020204" pitchFamily="34" charset="0"/>
                        <a:buChar char="•"/>
                      </a:pPr>
                      <a:r>
                        <a:rPr lang="fr-FR" sz="1300" dirty="0"/>
                        <a:t>Design (influence 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350025611"/>
                  </a:ext>
                </a:extLst>
              </a:tr>
              <a:tr h="1393230">
                <a:tc>
                  <a:txBody>
                    <a:bodyPr/>
                    <a:lstStyle/>
                    <a:p>
                      <a:pPr algn="ctr"/>
                      <a:r>
                        <a:rPr lang="fr-FR" sz="1200" b="1" dirty="0">
                          <a:solidFill>
                            <a:schemeClr val="bg1"/>
                          </a:solidFill>
                        </a:rPr>
                        <a:t>Fonctions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DC8E8"/>
                    </a:solidFill>
                  </a:tcPr>
                </a:tc>
                <a:tc gridSpan="3">
                  <a:txBody>
                    <a:bodyPr/>
                    <a:lstStyle/>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300" dirty="0"/>
                        <a:t>Designer OSP</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300" dirty="0"/>
                        <a:t>Rapporteur d’affaires </a:t>
                      </a:r>
                      <a:r>
                        <a:rPr lang="fr-FR" sz="1300" baseline="0" dirty="0"/>
                        <a:t>– COMMERCE</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300" baseline="0" dirty="0"/>
                        <a:t>Enquêteur OSP MDU</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300" baseline="0" dirty="0"/>
                        <a:t>Responsable OSP/ISP</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300" baseline="0" dirty="0"/>
                        <a:t>Ingénieur de </a:t>
                      </a:r>
                      <a:r>
                        <a:rPr lang="fr-FR" sz="1300" baseline="0" dirty="0" err="1"/>
                        <a:t>prod</a:t>
                      </a:r>
                      <a:endParaRPr lang="fr-FR" sz="1300" baseline="0" dirty="0"/>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300" baseline="0" dirty="0"/>
                        <a:t>NETIS </a:t>
                      </a:r>
                      <a:r>
                        <a:rPr lang="fr-FR" sz="1300" baseline="0" dirty="0">
                          <a:solidFill>
                            <a:srgbClr val="FF0000"/>
                          </a:solidFill>
                        </a:rPr>
                        <a:t>(à préciser qui )</a:t>
                      </a:r>
                      <a:endParaRPr lang="fr-FR" sz="13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fr-FR" sz="1400" b="1" dirty="0"/>
                    </a:p>
                  </a:txBody>
                  <a:tcPr anchor="ctr"/>
                </a:tc>
                <a:tc hMerge="1">
                  <a:txBody>
                    <a:bodyPr/>
                    <a:lstStyle/>
                    <a:p>
                      <a:endParaRPr lang="fr-FR" sz="1400" dirty="0"/>
                    </a:p>
                  </a:txBody>
                  <a:tcPr anchor="ctr"/>
                </a:tc>
                <a:extLst>
                  <a:ext uri="{0D108BD9-81ED-4DB2-BD59-A6C34878D82A}">
                    <a16:rowId xmlns:a16="http://schemas.microsoft.com/office/drawing/2014/main" val="3495062787"/>
                  </a:ext>
                </a:extLst>
              </a:tr>
            </a:tbl>
          </a:graphicData>
        </a:graphic>
      </p:graphicFrame>
      <p:sp>
        <p:nvSpPr>
          <p:cNvPr id="9" name="Titre 2"/>
          <p:cNvSpPr txBox="1">
            <a:spLocks/>
          </p:cNvSpPr>
          <p:nvPr/>
        </p:nvSpPr>
        <p:spPr bwMode="gray">
          <a:xfrm>
            <a:off x="418806" y="0"/>
            <a:ext cx="11519451" cy="903600"/>
          </a:xfrm>
          <a:prstGeom prst="rect">
            <a:avLst/>
          </a:prstGeom>
        </p:spPr>
        <p:txBody>
          <a:bodyPr vert="horz" lIns="0" tIns="0" rIns="0" bIns="0" rtlCol="0" anchor="b">
            <a:noAutofit/>
          </a:bodyPr>
          <a:lstStyle>
            <a:lvl1pPr algn="l" defTabSz="1219170" rtl="0" eaLnBrk="1" latinLnBrk="0" hangingPunct="1">
              <a:spcBef>
                <a:spcPct val="0"/>
              </a:spcBef>
              <a:buNone/>
              <a:defRPr sz="3200" kern="1200" cap="none" baseline="0">
                <a:solidFill>
                  <a:schemeClr val="accent5"/>
                </a:solidFill>
                <a:latin typeface="+mj-lt"/>
                <a:ea typeface="+mj-ea"/>
                <a:cs typeface="+mj-cs"/>
              </a:defRPr>
            </a:lvl1pPr>
          </a:lstStyle>
          <a:p>
            <a:r>
              <a:rPr lang="fr-FR" dirty="0"/>
              <a:t>Carte identité processus – Construction MDU industrialisé</a:t>
            </a:r>
          </a:p>
        </p:txBody>
      </p:sp>
      <p:graphicFrame>
        <p:nvGraphicFramePr>
          <p:cNvPr id="10" name="Tableau 9"/>
          <p:cNvGraphicFramePr>
            <a:graphicFrameLocks noGrp="1"/>
          </p:cNvGraphicFramePr>
          <p:nvPr>
            <p:extLst>
              <p:ext uri="{D42A27DB-BD31-4B8C-83A1-F6EECF244321}">
                <p14:modId xmlns:p14="http://schemas.microsoft.com/office/powerpoint/2010/main" val="2241724921"/>
              </p:ext>
            </p:extLst>
          </p:nvPr>
        </p:nvGraphicFramePr>
        <p:xfrm>
          <a:off x="6178532" y="1167342"/>
          <a:ext cx="5270518" cy="5385496"/>
        </p:xfrm>
        <a:graphic>
          <a:graphicData uri="http://schemas.openxmlformats.org/drawingml/2006/table">
            <a:tbl>
              <a:tblPr firstRow="1" bandRow="1">
                <a:tableStyleId>{2D5ABB26-0587-4C30-8999-92F81FD0307C}</a:tableStyleId>
              </a:tblPr>
              <a:tblGrid>
                <a:gridCol w="1194439">
                  <a:extLst>
                    <a:ext uri="{9D8B030D-6E8A-4147-A177-3AD203B41FA5}">
                      <a16:colId xmlns:a16="http://schemas.microsoft.com/office/drawing/2014/main" val="1170727219"/>
                    </a:ext>
                  </a:extLst>
                </a:gridCol>
                <a:gridCol w="4076079">
                  <a:extLst>
                    <a:ext uri="{9D8B030D-6E8A-4147-A177-3AD203B41FA5}">
                      <a16:colId xmlns:a16="http://schemas.microsoft.com/office/drawing/2014/main" val="1953787792"/>
                    </a:ext>
                  </a:extLst>
                </a:gridCol>
              </a:tblGrid>
              <a:tr h="589846">
                <a:tc>
                  <a:txBody>
                    <a:bodyPr/>
                    <a:lstStyle/>
                    <a:p>
                      <a:pPr algn="ctr"/>
                      <a:r>
                        <a:rPr lang="fr-FR" sz="1300" b="1" dirty="0">
                          <a:solidFill>
                            <a:schemeClr val="bg1"/>
                          </a:solidFill>
                        </a:rPr>
                        <a:t>Location des acteurs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DC8E8"/>
                    </a:solidFill>
                  </a:tcPr>
                </a:tc>
                <a:tc>
                  <a:txBody>
                    <a:bodyPr/>
                    <a:lstStyle/>
                    <a:p>
                      <a:pPr marL="285750" indent="-285750">
                        <a:buFont typeface="Arial" panose="020B0604020202020204" pitchFamily="34" charset="0"/>
                        <a:buChar char="•"/>
                      </a:pPr>
                      <a:r>
                        <a:rPr lang="fr-FR" sz="1300" dirty="0"/>
                        <a:t>Filiale</a:t>
                      </a:r>
                    </a:p>
                    <a:p>
                      <a:pPr marL="285750" indent="-285750">
                        <a:buFont typeface="Arial" panose="020B0604020202020204" pitchFamily="34" charset="0"/>
                        <a:buChar char="•"/>
                      </a:pPr>
                      <a:r>
                        <a:rPr lang="fr-FR" sz="1300" dirty="0"/>
                        <a:t>Partenaire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7097725"/>
                  </a:ext>
                </a:extLst>
              </a:tr>
              <a:tr h="589846">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300" b="1" dirty="0">
                          <a:solidFill>
                            <a:schemeClr val="bg1"/>
                          </a:solidFill>
                        </a:rPr>
                        <a:t>SI de mise en œuvre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DC8E8"/>
                    </a:solidFill>
                  </a:tcPr>
                </a:tc>
                <a:tc>
                  <a:txBody>
                    <a:bodyPr/>
                    <a:lstStyle/>
                    <a:p>
                      <a:pPr marL="285750" indent="-285750">
                        <a:buFont typeface="Arial" panose="020B0604020202020204" pitchFamily="34" charset="0"/>
                        <a:buChar char="•"/>
                      </a:pPr>
                      <a:r>
                        <a:rPr lang="fr-FR" sz="1300" baseline="0" dirty="0"/>
                        <a:t>QGIS</a:t>
                      </a:r>
                    </a:p>
                    <a:p>
                      <a:pPr marL="285750" indent="-285750">
                        <a:buFont typeface="Arial" panose="020B0604020202020204" pitchFamily="34" charset="0"/>
                        <a:buChar char="•"/>
                      </a:pPr>
                      <a:r>
                        <a:rPr lang="fr-FR" sz="1300" baseline="0" dirty="0" err="1"/>
                        <a:t>NetCracker</a:t>
                      </a:r>
                      <a:endParaRPr lang="fr-FR" sz="13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2474209"/>
                  </a:ext>
                </a:extLst>
              </a:tr>
              <a:tr h="1985200">
                <a:tc>
                  <a:txBody>
                    <a:bodyPr/>
                    <a:lstStyle/>
                    <a:p>
                      <a:pPr algn="ctr"/>
                      <a:r>
                        <a:rPr lang="fr-FR" sz="1300" b="1" dirty="0">
                          <a:solidFill>
                            <a:schemeClr val="bg1"/>
                          </a:solidFill>
                        </a:rPr>
                        <a:t>Mesure de la 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DC8E8"/>
                    </a:solidFill>
                  </a:tcPr>
                </a:tc>
                <a:tc>
                  <a:txBody>
                    <a:bodyPr/>
                    <a:lstStyle/>
                    <a:p>
                      <a:pPr marL="285750" indent="-285750">
                        <a:buFont typeface="Arial" panose="020B0604020202020204" pitchFamily="34" charset="0"/>
                        <a:buChar char="•"/>
                      </a:pPr>
                      <a:r>
                        <a:rPr lang="fr-FR" sz="1300" dirty="0"/>
                        <a:t>Taux de signatures conformes « décideurs » </a:t>
                      </a:r>
                    </a:p>
                    <a:p>
                      <a:pPr marL="285750" indent="-285750">
                        <a:buFont typeface="Arial" panose="020B0604020202020204" pitchFamily="34" charset="0"/>
                        <a:buChar char="•"/>
                      </a:pPr>
                      <a:r>
                        <a:rPr lang="fr-FR" sz="1300" dirty="0"/>
                        <a:t>Etude terrain</a:t>
                      </a:r>
                      <a:r>
                        <a:rPr lang="fr-FR" sz="1300" baseline="0" dirty="0"/>
                        <a:t> 48h après réception de l’autorisation</a:t>
                      </a:r>
                    </a:p>
                    <a:p>
                      <a:pPr marL="285750" indent="-285750">
                        <a:buFont typeface="Arial" panose="020B0604020202020204" pitchFamily="34" charset="0"/>
                        <a:buChar char="•"/>
                      </a:pPr>
                      <a:r>
                        <a:rPr lang="fr-FR" sz="1300" baseline="0" dirty="0"/>
                        <a:t>Exécution des travaux 2 semaines après le </a:t>
                      </a:r>
                      <a:r>
                        <a:rPr lang="fr-FR" sz="1300" baseline="0" dirty="0" err="1"/>
                        <a:t>survey</a:t>
                      </a:r>
                      <a:r>
                        <a:rPr lang="fr-FR" sz="1300" baseline="0" dirty="0"/>
                        <a:t> (délai de validation </a:t>
                      </a:r>
                      <a:r>
                        <a:rPr lang="fr-FR" sz="1300" baseline="0" dirty="0" err="1"/>
                        <a:t>survey</a:t>
                      </a:r>
                      <a:r>
                        <a:rPr lang="fr-FR" sz="1300" baseline="0" dirty="0"/>
                        <a:t> + FA + cotation)</a:t>
                      </a:r>
                    </a:p>
                    <a:p>
                      <a:pPr marL="285750" indent="-285750">
                        <a:buFont typeface="Arial" panose="020B0604020202020204" pitchFamily="34" charset="0"/>
                        <a:buChar char="•"/>
                      </a:pPr>
                      <a:r>
                        <a:rPr lang="fr-FR" sz="1300" dirty="0"/>
                        <a:t>Taux d'accords de pose</a:t>
                      </a:r>
                    </a:p>
                    <a:p>
                      <a:pPr marL="285750" indent="-285750">
                        <a:buFont typeface="Arial" panose="020B0604020202020204" pitchFamily="34" charset="0"/>
                        <a:buChar char="•"/>
                      </a:pPr>
                      <a:r>
                        <a:rPr lang="fr-FR" sz="1300" dirty="0"/>
                        <a:t>Volume de </a:t>
                      </a:r>
                      <a:r>
                        <a:rPr lang="fr-FR" sz="1300" dirty="0" err="1"/>
                        <a:t>survey</a:t>
                      </a:r>
                      <a:r>
                        <a:rPr lang="fr-FR" sz="1300" dirty="0"/>
                        <a:t> réalisés</a:t>
                      </a:r>
                    </a:p>
                    <a:p>
                      <a:pPr marL="285750" indent="-285750">
                        <a:buFont typeface="Arial" panose="020B0604020202020204" pitchFamily="34" charset="0"/>
                        <a:buChar char="•"/>
                      </a:pPr>
                      <a:r>
                        <a:rPr lang="fr-FR" sz="1300" dirty="0"/>
                        <a:t>Volume d'OTBB installés</a:t>
                      </a:r>
                    </a:p>
                    <a:p>
                      <a:pPr marL="285750" indent="-285750">
                        <a:buFont typeface="Arial" panose="020B0604020202020204" pitchFamily="34" charset="0"/>
                        <a:buChar char="•"/>
                      </a:pPr>
                      <a:r>
                        <a:rPr lang="fr-FR" sz="1300" dirty="0"/>
                        <a:t>Volume d'OTBB mis en production</a:t>
                      </a:r>
                    </a:p>
                    <a:p>
                      <a:pPr marL="285750" indent="-285750">
                        <a:buFont typeface="Arial" panose="020B0604020202020204" pitchFamily="34" charset="0"/>
                        <a:buChar char="•"/>
                      </a:pPr>
                      <a:r>
                        <a:rPr lang="fr-FR" sz="1300" dirty="0"/>
                        <a:t>Taux de remplissage/pénétration des OTBB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4683358"/>
                  </a:ext>
                </a:extLst>
              </a:tr>
              <a:tr h="902120">
                <a:tc>
                  <a:txBody>
                    <a:bodyPr/>
                    <a:lstStyle/>
                    <a:p>
                      <a:pPr algn="ctr"/>
                      <a:r>
                        <a:rPr lang="fr-FR" sz="1300" b="1" dirty="0">
                          <a:solidFill>
                            <a:schemeClr val="bg1"/>
                          </a:solidFill>
                        </a:rPr>
                        <a:t>Points de contrôle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DC8E8"/>
                    </a:solidFill>
                  </a:tcPr>
                </a:tc>
                <a:tc>
                  <a:txBody>
                    <a:bodyPr/>
                    <a:lstStyle/>
                    <a:p>
                      <a:pPr marL="285750" indent="-285750">
                        <a:buFont typeface="Arial" panose="020B0604020202020204" pitchFamily="34" charset="0"/>
                        <a:buChar char="•"/>
                      </a:pPr>
                      <a:r>
                        <a:rPr lang="fr-FR" sz="1300" dirty="0"/>
                        <a:t>Exécution</a:t>
                      </a:r>
                      <a:r>
                        <a:rPr lang="fr-FR" sz="1300" baseline="0" dirty="0"/>
                        <a:t> des travaux</a:t>
                      </a:r>
                    </a:p>
                    <a:p>
                      <a:pPr marL="285750" indent="-285750">
                        <a:buFont typeface="Arial" panose="020B0604020202020204" pitchFamily="34" charset="0"/>
                        <a:buChar char="•"/>
                      </a:pPr>
                      <a:r>
                        <a:rPr lang="fr-FR" sz="1300" baseline="0" dirty="0"/>
                        <a:t>Test de continuité</a:t>
                      </a:r>
                    </a:p>
                    <a:p>
                      <a:pPr marL="285750" indent="-285750">
                        <a:buFont typeface="Arial" panose="020B0604020202020204" pitchFamily="34" charset="0"/>
                        <a:buChar char="•"/>
                      </a:pPr>
                      <a:r>
                        <a:rPr lang="fr-FR" sz="1300" baseline="0" dirty="0"/>
                        <a:t>Mise en production du MDU</a:t>
                      </a:r>
                      <a:endParaRPr lang="fr-FR"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6359023"/>
                  </a:ext>
                </a:extLst>
              </a:tr>
              <a:tr h="1318484">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300" b="1" dirty="0">
                          <a:solidFill>
                            <a:schemeClr val="bg1"/>
                          </a:solidFill>
                        </a:rPr>
                        <a:t>Sous processus liés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C9CD6"/>
                    </a:solidFill>
                  </a:tcPr>
                </a:tc>
                <a:tc>
                  <a:txBody>
                    <a:bodyPr/>
                    <a:lstStyle/>
                    <a:p>
                      <a:r>
                        <a:rPr lang="fr-FR" sz="1300" dirty="0"/>
                        <a:t>Prospection</a:t>
                      </a:r>
                      <a:r>
                        <a:rPr lang="fr-FR" sz="1300" baseline="0" dirty="0"/>
                        <a:t> B2C</a:t>
                      </a:r>
                    </a:p>
                    <a:p>
                      <a:r>
                        <a:rPr lang="fr-FR" sz="1300" baseline="0" dirty="0"/>
                        <a:t>Souscription B2C</a:t>
                      </a:r>
                    </a:p>
                    <a:p>
                      <a:r>
                        <a:rPr lang="fr-FR" sz="1300" baseline="0" dirty="0"/>
                        <a:t>Dimensionnement des ZI</a:t>
                      </a:r>
                      <a:endParaRPr lang="fr-FR"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126771"/>
                  </a:ext>
                </a:extLst>
              </a:tr>
            </a:tbl>
          </a:graphicData>
        </a:graphic>
      </p:graphicFrame>
    </p:spTree>
    <p:extLst>
      <p:ext uri="{BB962C8B-B14F-4D97-AF65-F5344CB8AC3E}">
        <p14:creationId xmlns:p14="http://schemas.microsoft.com/office/powerpoint/2010/main" val="642093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2"/>
          <p:cNvSpPr txBox="1">
            <a:spLocks/>
          </p:cNvSpPr>
          <p:nvPr/>
        </p:nvSpPr>
        <p:spPr bwMode="gray">
          <a:xfrm>
            <a:off x="418806" y="0"/>
            <a:ext cx="11519451" cy="903600"/>
          </a:xfrm>
          <a:prstGeom prst="rect">
            <a:avLst/>
          </a:prstGeom>
        </p:spPr>
        <p:txBody>
          <a:bodyPr vert="horz" lIns="0" tIns="0" rIns="0" bIns="0" rtlCol="0" anchor="b">
            <a:noAutofit/>
          </a:bodyPr>
          <a:lstStyle>
            <a:lvl1pPr algn="l" defTabSz="1219170" rtl="0" eaLnBrk="1" latinLnBrk="0" hangingPunct="1">
              <a:spcBef>
                <a:spcPct val="0"/>
              </a:spcBef>
              <a:buNone/>
              <a:defRPr sz="3200" kern="1200" cap="none" baseline="0">
                <a:solidFill>
                  <a:schemeClr val="accent5"/>
                </a:solidFill>
                <a:latin typeface="+mj-lt"/>
                <a:ea typeface="+mj-ea"/>
                <a:cs typeface="+mj-cs"/>
              </a:defRPr>
            </a:lvl1pPr>
          </a:lstStyle>
          <a:p>
            <a:r>
              <a:rPr lang="fr-FR" dirty="0"/>
              <a:t>Modélisation – Construction MDU industrialisé</a:t>
            </a:r>
          </a:p>
        </p:txBody>
      </p:sp>
      <p:pic>
        <p:nvPicPr>
          <p:cNvPr id="3" name="Image 2" descr="Une image contenant texte&#10;&#10;Description générée automatiquement">
            <a:extLst>
              <a:ext uri="{FF2B5EF4-FFF2-40B4-BE49-F238E27FC236}">
                <a16:creationId xmlns:a16="http://schemas.microsoft.com/office/drawing/2014/main" id="{46F04ECC-5EFE-4584-8C08-70EAD8A9D9CD}"/>
              </a:ext>
            </a:extLst>
          </p:cNvPr>
          <p:cNvPicPr>
            <a:picLocks noChangeAspect="1"/>
          </p:cNvPicPr>
          <p:nvPr/>
        </p:nvPicPr>
        <p:blipFill rotWithShape="1">
          <a:blip r:embed="rId2">
            <a:extLst>
              <a:ext uri="{28A0092B-C50C-407E-A947-70E740481C1C}">
                <a14:useLocalDpi xmlns:a14="http://schemas.microsoft.com/office/drawing/2010/main" val="0"/>
              </a:ext>
            </a:extLst>
          </a:blip>
          <a:srcRect r="561" b="3674"/>
          <a:stretch/>
        </p:blipFill>
        <p:spPr>
          <a:xfrm>
            <a:off x="1388352" y="973393"/>
            <a:ext cx="9415295" cy="5817822"/>
          </a:xfrm>
          <a:prstGeom prst="rect">
            <a:avLst/>
          </a:prstGeom>
        </p:spPr>
      </p:pic>
    </p:spTree>
    <p:extLst>
      <p:ext uri="{BB962C8B-B14F-4D97-AF65-F5344CB8AC3E}">
        <p14:creationId xmlns:p14="http://schemas.microsoft.com/office/powerpoint/2010/main" val="1184317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2"/>
          <p:cNvSpPr txBox="1">
            <a:spLocks/>
          </p:cNvSpPr>
          <p:nvPr/>
        </p:nvSpPr>
        <p:spPr bwMode="gray">
          <a:xfrm>
            <a:off x="418806" y="0"/>
            <a:ext cx="11519451" cy="903600"/>
          </a:xfrm>
          <a:prstGeom prst="rect">
            <a:avLst/>
          </a:prstGeom>
        </p:spPr>
        <p:txBody>
          <a:bodyPr vert="horz" lIns="0" tIns="0" rIns="0" bIns="0" rtlCol="0" anchor="b">
            <a:noAutofit/>
          </a:bodyPr>
          <a:lstStyle>
            <a:lvl1pPr algn="l" defTabSz="1219170" rtl="0" eaLnBrk="1" latinLnBrk="0" hangingPunct="1">
              <a:spcBef>
                <a:spcPct val="0"/>
              </a:spcBef>
              <a:buNone/>
              <a:defRPr sz="3200" kern="1200" cap="none" baseline="0">
                <a:solidFill>
                  <a:schemeClr val="accent5"/>
                </a:solidFill>
                <a:latin typeface="+mj-lt"/>
                <a:ea typeface="+mj-ea"/>
                <a:cs typeface="+mj-cs"/>
              </a:defRPr>
            </a:lvl1pPr>
          </a:lstStyle>
          <a:p>
            <a:r>
              <a:rPr lang="fr-FR" dirty="0"/>
              <a:t>Support de modélisation – Construction MDU industrialisé</a:t>
            </a:r>
          </a:p>
        </p:txBody>
      </p:sp>
      <p:graphicFrame>
        <p:nvGraphicFramePr>
          <p:cNvPr id="2" name="Tableau 1">
            <a:extLst>
              <a:ext uri="{FF2B5EF4-FFF2-40B4-BE49-F238E27FC236}">
                <a16:creationId xmlns:a16="http://schemas.microsoft.com/office/drawing/2014/main" id="{FF041B4C-253A-43FE-B625-997AC7A0EC21}"/>
              </a:ext>
            </a:extLst>
          </p:cNvPr>
          <p:cNvGraphicFramePr>
            <a:graphicFrameLocks noGrp="1"/>
          </p:cNvGraphicFramePr>
          <p:nvPr>
            <p:extLst>
              <p:ext uri="{D42A27DB-BD31-4B8C-83A1-F6EECF244321}">
                <p14:modId xmlns:p14="http://schemas.microsoft.com/office/powerpoint/2010/main" val="2333325868"/>
              </p:ext>
            </p:extLst>
          </p:nvPr>
        </p:nvGraphicFramePr>
        <p:xfrm>
          <a:off x="418806" y="1144490"/>
          <a:ext cx="11519448" cy="13566474"/>
        </p:xfrm>
        <a:graphic>
          <a:graphicData uri="http://schemas.openxmlformats.org/drawingml/2006/table">
            <a:tbl>
              <a:tblPr>
                <a:tableStyleId>{5C22544A-7EE6-4342-B048-85BDC9FD1C3A}</a:tableStyleId>
              </a:tblPr>
              <a:tblGrid>
                <a:gridCol w="762835">
                  <a:extLst>
                    <a:ext uri="{9D8B030D-6E8A-4147-A177-3AD203B41FA5}">
                      <a16:colId xmlns:a16="http://schemas.microsoft.com/office/drawing/2014/main" val="2108102820"/>
                    </a:ext>
                  </a:extLst>
                </a:gridCol>
                <a:gridCol w="865401">
                  <a:extLst>
                    <a:ext uri="{9D8B030D-6E8A-4147-A177-3AD203B41FA5}">
                      <a16:colId xmlns:a16="http://schemas.microsoft.com/office/drawing/2014/main" val="3052745514"/>
                    </a:ext>
                  </a:extLst>
                </a:gridCol>
                <a:gridCol w="865401">
                  <a:extLst>
                    <a:ext uri="{9D8B030D-6E8A-4147-A177-3AD203B41FA5}">
                      <a16:colId xmlns:a16="http://schemas.microsoft.com/office/drawing/2014/main" val="2185582772"/>
                    </a:ext>
                  </a:extLst>
                </a:gridCol>
                <a:gridCol w="865401">
                  <a:extLst>
                    <a:ext uri="{9D8B030D-6E8A-4147-A177-3AD203B41FA5}">
                      <a16:colId xmlns:a16="http://schemas.microsoft.com/office/drawing/2014/main" val="2310317747"/>
                    </a:ext>
                  </a:extLst>
                </a:gridCol>
                <a:gridCol w="865401">
                  <a:extLst>
                    <a:ext uri="{9D8B030D-6E8A-4147-A177-3AD203B41FA5}">
                      <a16:colId xmlns:a16="http://schemas.microsoft.com/office/drawing/2014/main" val="1290798669"/>
                    </a:ext>
                  </a:extLst>
                </a:gridCol>
                <a:gridCol w="865401">
                  <a:extLst>
                    <a:ext uri="{9D8B030D-6E8A-4147-A177-3AD203B41FA5}">
                      <a16:colId xmlns:a16="http://schemas.microsoft.com/office/drawing/2014/main" val="3198773789"/>
                    </a:ext>
                  </a:extLst>
                </a:gridCol>
                <a:gridCol w="865401">
                  <a:extLst>
                    <a:ext uri="{9D8B030D-6E8A-4147-A177-3AD203B41FA5}">
                      <a16:colId xmlns:a16="http://schemas.microsoft.com/office/drawing/2014/main" val="1782245335"/>
                    </a:ext>
                  </a:extLst>
                </a:gridCol>
                <a:gridCol w="673089">
                  <a:extLst>
                    <a:ext uri="{9D8B030D-6E8A-4147-A177-3AD203B41FA5}">
                      <a16:colId xmlns:a16="http://schemas.microsoft.com/office/drawing/2014/main" val="2689928170"/>
                    </a:ext>
                  </a:extLst>
                </a:gridCol>
                <a:gridCol w="673089">
                  <a:extLst>
                    <a:ext uri="{9D8B030D-6E8A-4147-A177-3AD203B41FA5}">
                      <a16:colId xmlns:a16="http://schemas.microsoft.com/office/drawing/2014/main" val="1627287864"/>
                    </a:ext>
                  </a:extLst>
                </a:gridCol>
                <a:gridCol w="673089">
                  <a:extLst>
                    <a:ext uri="{9D8B030D-6E8A-4147-A177-3AD203B41FA5}">
                      <a16:colId xmlns:a16="http://schemas.microsoft.com/office/drawing/2014/main" val="3719031322"/>
                    </a:ext>
                  </a:extLst>
                </a:gridCol>
                <a:gridCol w="583344">
                  <a:extLst>
                    <a:ext uri="{9D8B030D-6E8A-4147-A177-3AD203B41FA5}">
                      <a16:colId xmlns:a16="http://schemas.microsoft.com/office/drawing/2014/main" val="484398868"/>
                    </a:ext>
                  </a:extLst>
                </a:gridCol>
                <a:gridCol w="583344">
                  <a:extLst>
                    <a:ext uri="{9D8B030D-6E8A-4147-A177-3AD203B41FA5}">
                      <a16:colId xmlns:a16="http://schemas.microsoft.com/office/drawing/2014/main" val="3415894225"/>
                    </a:ext>
                  </a:extLst>
                </a:gridCol>
                <a:gridCol w="583344">
                  <a:extLst>
                    <a:ext uri="{9D8B030D-6E8A-4147-A177-3AD203B41FA5}">
                      <a16:colId xmlns:a16="http://schemas.microsoft.com/office/drawing/2014/main" val="1142381047"/>
                    </a:ext>
                  </a:extLst>
                </a:gridCol>
                <a:gridCol w="615397">
                  <a:extLst>
                    <a:ext uri="{9D8B030D-6E8A-4147-A177-3AD203B41FA5}">
                      <a16:colId xmlns:a16="http://schemas.microsoft.com/office/drawing/2014/main" val="940002403"/>
                    </a:ext>
                  </a:extLst>
                </a:gridCol>
                <a:gridCol w="615397">
                  <a:extLst>
                    <a:ext uri="{9D8B030D-6E8A-4147-A177-3AD203B41FA5}">
                      <a16:colId xmlns:a16="http://schemas.microsoft.com/office/drawing/2014/main" val="2469875897"/>
                    </a:ext>
                  </a:extLst>
                </a:gridCol>
                <a:gridCol w="564114">
                  <a:extLst>
                    <a:ext uri="{9D8B030D-6E8A-4147-A177-3AD203B41FA5}">
                      <a16:colId xmlns:a16="http://schemas.microsoft.com/office/drawing/2014/main" val="1462159960"/>
                    </a:ext>
                  </a:extLst>
                </a:gridCol>
              </a:tblGrid>
              <a:tr h="214991">
                <a:tc>
                  <a:txBody>
                    <a:bodyPr/>
                    <a:lstStyle/>
                    <a:p>
                      <a:pPr algn="l" fontAlgn="ctr"/>
                      <a:r>
                        <a:rPr lang="fr-FR" sz="800" u="none" strike="noStrike">
                          <a:effectLst/>
                        </a:rPr>
                        <a:t>Début du processus : fait générateur</a:t>
                      </a:r>
                      <a:endParaRPr lang="fr-FR" sz="800" b="0" i="0" u="none" strike="noStrike">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ctr" fontAlgn="ctr"/>
                      <a:r>
                        <a:rPr lang="fr-FR" sz="800" u="none" strike="noStrike">
                          <a:effectLst/>
                        </a:rPr>
                        <a:t>Nouvelle zone d'influence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Liste des MDU/OTBB de la zone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Liste intégrée à la prospection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MDU autorisé par le syndic</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Enquête terrain validée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Enquête terrain validée par le propriétaire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Ressources allouées</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Intervention d'adduction à planifer</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Intervention d'adduction créée et planifiée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Work order d'installation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Fin des travaux</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Document d'exécution (résultats des tests)</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Document d'exécution (résultats des tests)</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Quality report vérifié &amp; Synoptique OTBs intégrée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OTBB MEP</a:t>
                      </a:r>
                      <a:endParaRPr lang="fr-FR" sz="800" b="0" i="0" u="none" strike="noStrike">
                        <a:solidFill>
                          <a:srgbClr val="000000"/>
                        </a:solidFill>
                        <a:effectLst/>
                        <a:latin typeface="Calibri" panose="020F0502020204030204" pitchFamily="34" charset="0"/>
                      </a:endParaRPr>
                    </a:p>
                  </a:txBody>
                  <a:tcPr marL="1853" marR="1853" marT="1853" marB="0" anchor="ctr"/>
                </a:tc>
                <a:extLst>
                  <a:ext uri="{0D108BD9-81ED-4DB2-BD59-A6C34878D82A}">
                    <a16:rowId xmlns:a16="http://schemas.microsoft.com/office/drawing/2014/main" val="259799809"/>
                  </a:ext>
                </a:extLst>
              </a:tr>
              <a:tr h="53748">
                <a:tc>
                  <a:txBody>
                    <a:bodyPr/>
                    <a:lstStyle/>
                    <a:p>
                      <a:pPr algn="l" fontAlgn="ctr"/>
                      <a:r>
                        <a:rPr lang="fr-FR" sz="800" u="none" strike="noStrike">
                          <a:effectLst/>
                        </a:rPr>
                        <a:t>Fournisseur de l'input</a:t>
                      </a:r>
                      <a:endParaRPr lang="fr-FR" sz="800" b="0" i="0" u="none" strike="noStrike">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ctr" fontAlgn="ctr"/>
                      <a:r>
                        <a:rPr lang="fr-FR" sz="800" u="none" strike="noStrike">
                          <a:effectLst/>
                        </a:rPr>
                        <a:t>Designer</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Designer</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extLst>
                  <a:ext uri="{0D108BD9-81ED-4DB2-BD59-A6C34878D82A}">
                    <a16:rowId xmlns:a16="http://schemas.microsoft.com/office/drawing/2014/main" val="2550962542"/>
                  </a:ext>
                </a:extLst>
              </a:tr>
              <a:tr h="214991">
                <a:tc>
                  <a:txBody>
                    <a:bodyPr/>
                    <a:lstStyle/>
                    <a:p>
                      <a:pPr algn="l" fontAlgn="ctr"/>
                      <a:r>
                        <a:rPr lang="fr-FR" sz="800" u="none" strike="noStrike">
                          <a:effectLst/>
                        </a:rPr>
                        <a:t>Activité</a:t>
                      </a:r>
                      <a:endParaRPr lang="fr-FR" sz="800" b="0" i="0" u="none" strike="noStrike">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ctr" fontAlgn="ctr"/>
                      <a:r>
                        <a:rPr lang="fr-FR" sz="800" u="none" strike="noStrike">
                          <a:effectLst/>
                        </a:rPr>
                        <a:t>Etude et répartition des ZI et défintion des MUD/OTBB</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Transmettre la liste au commerce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Négociation/autorisation syndic immeuble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Etude terrain OSP</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Validation de l'étude par le propriétaire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Pré allocation des ressources</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Partage avec NETIS pour exécution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Création d'une intervention adduction MDU dans Pxo</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dirty="0">
                          <a:effectLst/>
                        </a:rPr>
                        <a:t>Planification MDU</a:t>
                      </a:r>
                      <a:endParaRPr lang="fr-FR" sz="800" b="0" i="0" u="none" strike="noStrike" dirty="0">
                        <a:solidFill>
                          <a:srgbClr val="000000"/>
                        </a:solidFill>
                        <a:effectLst/>
                        <a:latin typeface="Calibri" panose="020F0502020204030204" pitchFamily="34" charset="0"/>
                      </a:endParaRPr>
                    </a:p>
                  </a:txBody>
                  <a:tcPr marL="1853" marR="1853" marT="1853" marB="0" anchor="ctr">
                    <a:solidFill>
                      <a:schemeClr val="accent3">
                        <a:lumMod val="40000"/>
                        <a:lumOff val="60000"/>
                      </a:schemeClr>
                    </a:solidFill>
                  </a:tcPr>
                </a:tc>
                <a:tc>
                  <a:txBody>
                    <a:bodyPr/>
                    <a:lstStyle/>
                    <a:p>
                      <a:pPr algn="ctr" fontAlgn="ctr"/>
                      <a:r>
                        <a:rPr lang="fr-FR" sz="800" u="none" strike="noStrike">
                          <a:effectLst/>
                        </a:rPr>
                        <a:t>Exécution des travaux</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Test de continuité</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Validation de l'intervention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dirty="0">
                          <a:effectLst/>
                        </a:rPr>
                        <a:t>Import </a:t>
                      </a:r>
                      <a:r>
                        <a:rPr lang="fr-FR" sz="800" u="none" strike="noStrike" dirty="0" err="1">
                          <a:effectLst/>
                        </a:rPr>
                        <a:t>OTBs</a:t>
                      </a:r>
                      <a:r>
                        <a:rPr lang="fr-FR" sz="800" u="none" strike="noStrike" dirty="0">
                          <a:effectLst/>
                        </a:rPr>
                        <a:t> dans </a:t>
                      </a:r>
                      <a:r>
                        <a:rPr lang="fr-FR" sz="800" u="none" strike="noStrike" dirty="0" err="1">
                          <a:effectLst/>
                        </a:rPr>
                        <a:t>Netcracker</a:t>
                      </a:r>
                      <a:endParaRPr lang="fr-FR" sz="800" b="0" i="0" u="none" strike="noStrike" dirty="0">
                        <a:solidFill>
                          <a:srgbClr val="000000"/>
                        </a:solidFill>
                        <a:effectLst/>
                        <a:latin typeface="Calibri" panose="020F0502020204030204" pitchFamily="34" charset="0"/>
                      </a:endParaRPr>
                    </a:p>
                  </a:txBody>
                  <a:tcPr marL="1853" marR="1853" marT="1853" marB="0" anchor="ctr">
                    <a:solidFill>
                      <a:schemeClr val="accent3">
                        <a:lumMod val="40000"/>
                        <a:lumOff val="60000"/>
                      </a:schemeClr>
                    </a:solidFill>
                  </a:tcPr>
                </a:tc>
                <a:tc>
                  <a:txBody>
                    <a:bodyPr/>
                    <a:lstStyle/>
                    <a:p>
                      <a:pPr algn="ctr" fontAlgn="ctr"/>
                      <a:r>
                        <a:rPr lang="fr-FR" sz="800" u="none" strike="noStrike" dirty="0">
                          <a:effectLst/>
                        </a:rPr>
                        <a:t>Souscription B2C</a:t>
                      </a:r>
                      <a:endParaRPr lang="fr-FR" sz="800" b="0" i="0" u="none" strike="noStrike" dirty="0">
                        <a:solidFill>
                          <a:srgbClr val="000000"/>
                        </a:solidFill>
                        <a:effectLst/>
                        <a:latin typeface="Calibri" panose="020F0502020204030204" pitchFamily="34" charset="0"/>
                      </a:endParaRPr>
                    </a:p>
                  </a:txBody>
                  <a:tcPr marL="1853" marR="1853" marT="1853" marB="0" anchor="ctr">
                    <a:solidFill>
                      <a:schemeClr val="accent3">
                        <a:lumMod val="40000"/>
                        <a:lumOff val="60000"/>
                      </a:schemeClr>
                    </a:solidFill>
                  </a:tcPr>
                </a:tc>
                <a:tc>
                  <a:txBody>
                    <a:bodyPr/>
                    <a:lstStyle/>
                    <a:p>
                      <a:pPr algn="ctr" fontAlgn="ctr"/>
                      <a:r>
                        <a:rPr lang="fr-FR" sz="800" u="none" strike="noStrike" dirty="0">
                          <a:effectLst/>
                        </a:rPr>
                        <a:t>Souscription B2B</a:t>
                      </a:r>
                      <a:endParaRPr lang="fr-FR" sz="800" b="0" i="0" u="none" strike="noStrike" dirty="0">
                        <a:solidFill>
                          <a:srgbClr val="000000"/>
                        </a:solidFill>
                        <a:effectLst/>
                        <a:latin typeface="Calibri" panose="020F0502020204030204" pitchFamily="34" charset="0"/>
                      </a:endParaRPr>
                    </a:p>
                  </a:txBody>
                  <a:tcPr marL="1853" marR="1853" marT="1853" marB="0" anchor="ctr">
                    <a:solidFill>
                      <a:schemeClr val="accent3">
                        <a:lumMod val="40000"/>
                        <a:lumOff val="60000"/>
                      </a:schemeClr>
                    </a:solidFill>
                  </a:tcPr>
                </a:tc>
                <a:extLst>
                  <a:ext uri="{0D108BD9-81ED-4DB2-BD59-A6C34878D82A}">
                    <a16:rowId xmlns:a16="http://schemas.microsoft.com/office/drawing/2014/main" val="3192842676"/>
                  </a:ext>
                </a:extLst>
              </a:tr>
              <a:tr h="1021206">
                <a:tc>
                  <a:txBody>
                    <a:bodyPr/>
                    <a:lstStyle/>
                    <a:p>
                      <a:pPr algn="l" fontAlgn="ctr"/>
                      <a:r>
                        <a:rPr lang="fr-FR" sz="800" u="none" strike="noStrike">
                          <a:effectLst/>
                        </a:rPr>
                        <a:t>Sous activités</a:t>
                      </a:r>
                      <a:endParaRPr lang="fr-FR" sz="800" b="0" i="0" u="none" strike="noStrike">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l" fontAlgn="ctr"/>
                      <a:r>
                        <a:rPr lang="fr-FR" sz="800" u="none" strike="noStrike">
                          <a:effectLst/>
                        </a:rPr>
                        <a:t>Lister au format QGIS +Localisation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l"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l" fontAlgn="ctr"/>
                      <a:r>
                        <a:rPr lang="fr-FR" sz="800" u="none" strike="noStrike">
                          <a:effectLst/>
                        </a:rPr>
                        <a:t>Obtenir signatures : etude et autorisation de travaux </a:t>
                      </a:r>
                      <a:br>
                        <a:rPr lang="fr-FR" sz="800" u="none" strike="noStrike">
                          <a:effectLst/>
                        </a:rPr>
                      </a:br>
                      <a:r>
                        <a:rPr lang="fr-FR" sz="800" u="none" strike="noStrike">
                          <a:effectLst/>
                        </a:rPr>
                        <a:t>Mise à jour du fichier</a:t>
                      </a:r>
                      <a:br>
                        <a:rPr lang="fr-FR" sz="800" u="none" strike="noStrike">
                          <a:effectLst/>
                        </a:rPr>
                      </a:b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l" fontAlgn="ctr"/>
                      <a:r>
                        <a:rPr lang="fr-FR" sz="800" u="none" strike="noStrike">
                          <a:effectLst/>
                        </a:rPr>
                        <a:t>*Vérifier que la zone est déployée</a:t>
                      </a:r>
                      <a:br>
                        <a:rPr lang="fr-FR" sz="800" u="none" strike="noStrike">
                          <a:effectLst/>
                        </a:rPr>
                      </a:br>
                      <a:r>
                        <a:rPr lang="fr-FR" sz="800" u="none" strike="noStrike">
                          <a:effectLst/>
                        </a:rPr>
                        <a:t>*Passage des câbles pour l'aduction : aérien/autre opérateur</a:t>
                      </a:r>
                      <a:br>
                        <a:rPr lang="fr-FR" sz="800" u="none" strike="noStrike">
                          <a:effectLst/>
                        </a:rPr>
                      </a:br>
                      <a:r>
                        <a:rPr lang="fr-FR" sz="800" u="none" strike="noStrike">
                          <a:effectLst/>
                        </a:rPr>
                        <a:t>*Enplacement OTBB</a:t>
                      </a:r>
                      <a:br>
                        <a:rPr lang="fr-FR" sz="800" u="none" strike="noStrike">
                          <a:effectLst/>
                        </a:rPr>
                      </a:br>
                      <a:r>
                        <a:rPr lang="fr-FR" sz="800" u="none" strike="noStrike">
                          <a:effectLst/>
                        </a:rPr>
                        <a:t>*Inventaire matériel nécessaire</a:t>
                      </a:r>
                      <a:br>
                        <a:rPr lang="fr-FR" sz="800" u="none" strike="noStrike">
                          <a:effectLst/>
                        </a:rPr>
                      </a:br>
                      <a:r>
                        <a:rPr lang="fr-FR" sz="800" u="none" strike="noStrike">
                          <a:effectLst/>
                        </a:rPr>
                        <a:t>*Liste des tâches à effectuer</a:t>
                      </a:r>
                      <a:br>
                        <a:rPr lang="fr-FR" sz="800" u="none" strike="noStrike">
                          <a:effectLst/>
                        </a:rPr>
                      </a:br>
                      <a:r>
                        <a:rPr lang="fr-FR" sz="800" u="none" strike="noStrike">
                          <a:effectLst/>
                        </a:rPr>
                        <a:t>*Mise à jour fiber allocation</a:t>
                      </a:r>
                      <a:br>
                        <a:rPr lang="fr-FR" sz="800" u="none" strike="noStrike">
                          <a:effectLst/>
                        </a:rPr>
                      </a:br>
                      <a:r>
                        <a:rPr lang="fr-FR" sz="800" u="none" strike="noStrike">
                          <a:effectLst/>
                        </a:rPr>
                        <a:t>*Contrat</a:t>
                      </a:r>
                      <a:br>
                        <a:rPr lang="fr-FR" sz="800" u="none" strike="noStrike">
                          <a:effectLst/>
                        </a:rPr>
                      </a:b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l" fontAlgn="ctr"/>
                      <a:r>
                        <a:rPr lang="fr-FR" sz="800" u="none" strike="noStrike">
                          <a:effectLst/>
                        </a:rPr>
                        <a:t>Faire valider l'étude par le propriétaire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l" fontAlgn="ctr"/>
                      <a:r>
                        <a:rPr lang="fr-FR" sz="800" u="none" strike="noStrike">
                          <a:effectLst/>
                        </a:rPr>
                        <a:t>*Arbitrer sur le type de spl 1 1x4 ou 1x8</a:t>
                      </a:r>
                      <a:br>
                        <a:rPr lang="fr-FR" sz="800" u="none" strike="noStrike">
                          <a:effectLst/>
                        </a:rPr>
                      </a:br>
                      <a:r>
                        <a:rPr lang="fr-FR" sz="800" u="none" strike="noStrike">
                          <a:effectLst/>
                        </a:rPr>
                        <a:t>*Arbitrer sur les éléments de connectivité : combinaison port/carte de OLT, pigtail spl1</a:t>
                      </a:r>
                      <a:br>
                        <a:rPr lang="fr-FR" sz="800" u="none" strike="noStrike">
                          <a:effectLst/>
                        </a:rPr>
                      </a:br>
                      <a:r>
                        <a:rPr lang="fr-FR" sz="800" u="none" strike="noStrike">
                          <a:effectLst/>
                        </a:rPr>
                        <a:t>*Réaliser le splicing</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l" fontAlgn="ctr"/>
                      <a:r>
                        <a:rPr lang="fr-FR" sz="800" u="none" strike="noStrike">
                          <a:effectLst/>
                        </a:rPr>
                        <a:t>Survey préparatoire : préparer les consommables et s'assurer qu'il n'y ait pas de blocage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l" fontAlgn="ctr"/>
                      <a:r>
                        <a:rPr lang="fr-FR" sz="800" u="none" strike="noStrike">
                          <a:effectLst/>
                        </a:rPr>
                        <a:t>*Création d'une  nouvelle intervention</a:t>
                      </a:r>
                      <a:br>
                        <a:rPr lang="fr-FR" sz="800" u="none" strike="noStrike">
                          <a:effectLst/>
                        </a:rPr>
                      </a:br>
                      <a:r>
                        <a:rPr lang="fr-FR" sz="800" u="none" strike="noStrike">
                          <a:effectLst/>
                        </a:rPr>
                        <a:t>*Qualification de l'intervention type adduction MDU</a:t>
                      </a:r>
                      <a:br>
                        <a:rPr lang="fr-FR" sz="800" u="none" strike="noStrike">
                          <a:effectLst/>
                        </a:rPr>
                      </a:br>
                      <a:r>
                        <a:rPr lang="fr-FR" sz="800" u="none" strike="noStrike">
                          <a:effectLst/>
                        </a:rPr>
                        <a:t>*Import des documents ( survey, Geopackage, FA )</a:t>
                      </a:r>
                      <a:br>
                        <a:rPr lang="fr-FR" sz="800" u="none" strike="noStrike">
                          <a:effectLst/>
                        </a:rPr>
                      </a:br>
                      <a:r>
                        <a:rPr lang="fr-FR" sz="800" u="none" strike="noStrike">
                          <a:effectLst/>
                        </a:rPr>
                        <a:t>*Renseigner nom point de piquage (dans le survey)</a:t>
                      </a:r>
                      <a:br>
                        <a:rPr lang="fr-FR" sz="800" u="none" strike="noStrike">
                          <a:effectLst/>
                        </a:rPr>
                      </a:br>
                      <a:r>
                        <a:rPr lang="fr-FR" sz="800" u="none" strike="noStrike">
                          <a:effectLst/>
                        </a:rPr>
                        <a:t>*Renseigner le nombre d'OTBBs à installer</a:t>
                      </a:r>
                      <a:br>
                        <a:rPr lang="fr-FR" sz="800" u="none" strike="noStrike">
                          <a:effectLst/>
                        </a:rPr>
                      </a:br>
                      <a:r>
                        <a:rPr lang="fr-FR" sz="800" u="none" strike="noStrike">
                          <a:effectLst/>
                        </a:rPr>
                        <a:t>*Renseigner pour chaque OTBB si connu  nom, ID building, étage dans le bâtiment</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l" fontAlgn="ctr"/>
                      <a:r>
                        <a:rPr lang="fr-FR" sz="800" u="none" strike="noStrike" dirty="0">
                          <a:effectLst/>
                        </a:rPr>
                        <a:t>Processus différent --&gt; process dédié à </a:t>
                      </a:r>
                      <a:r>
                        <a:rPr lang="fr-FR" sz="800" u="none" strike="noStrike" dirty="0" err="1">
                          <a:effectLst/>
                        </a:rPr>
                        <a:t>modeliser</a:t>
                      </a:r>
                      <a:br>
                        <a:rPr lang="fr-FR" sz="800" u="none" strike="noStrike" dirty="0">
                          <a:effectLst/>
                        </a:rPr>
                      </a:br>
                      <a:r>
                        <a:rPr lang="fr-FR" sz="800" u="none" strike="noStrike" dirty="0">
                          <a:effectLst/>
                        </a:rPr>
                        <a:t>La mesure de la perf est différent</a:t>
                      </a:r>
                      <a:endParaRPr lang="fr-FR" sz="800" b="0" i="0" u="none" strike="noStrike" dirty="0">
                        <a:solidFill>
                          <a:srgbClr val="000000"/>
                        </a:solidFill>
                        <a:effectLst/>
                        <a:latin typeface="Calibri" panose="020F0502020204030204" pitchFamily="34" charset="0"/>
                      </a:endParaRPr>
                    </a:p>
                  </a:txBody>
                  <a:tcPr marL="1853" marR="1853" marT="1853" marB="0" anchor="ctr"/>
                </a:tc>
                <a:tc>
                  <a:txBody>
                    <a:bodyPr/>
                    <a:lstStyle/>
                    <a:p>
                      <a:pPr algn="l" fontAlgn="ctr"/>
                      <a:r>
                        <a:rPr lang="fr-FR" sz="800" u="none" strike="noStrike">
                          <a:effectLst/>
                        </a:rPr>
                        <a:t>*Intervention</a:t>
                      </a:r>
                      <a:br>
                        <a:rPr lang="fr-FR" sz="800" u="none" strike="noStrike">
                          <a:effectLst/>
                        </a:rPr>
                      </a:br>
                      <a:r>
                        <a:rPr lang="fr-FR" sz="800" u="none" strike="noStrike">
                          <a:effectLst/>
                        </a:rPr>
                        <a:t> Poteau &amp; bras de déport</a:t>
                      </a:r>
                      <a:br>
                        <a:rPr lang="fr-FR" sz="800" u="none" strike="noStrike">
                          <a:effectLst/>
                        </a:rPr>
                      </a:br>
                      <a:r>
                        <a:rPr lang="fr-FR" sz="800" u="none" strike="noStrike">
                          <a:effectLst/>
                        </a:rPr>
                        <a:t>*Intervention</a:t>
                      </a:r>
                      <a:br>
                        <a:rPr lang="fr-FR" sz="800" u="none" strike="noStrike">
                          <a:effectLst/>
                        </a:rPr>
                      </a:br>
                      <a:r>
                        <a:rPr lang="fr-FR" sz="800" u="none" strike="noStrike">
                          <a:effectLst/>
                        </a:rPr>
                        <a:t> Génie Civil</a:t>
                      </a:r>
                      <a:br>
                        <a:rPr lang="fr-FR" sz="800" u="none" strike="noStrike">
                          <a:effectLst/>
                        </a:rPr>
                      </a:br>
                      <a:r>
                        <a:rPr lang="fr-FR" sz="800" u="none" strike="noStrike">
                          <a:effectLst/>
                        </a:rPr>
                        <a:t> *Intervention</a:t>
                      </a:r>
                      <a:br>
                        <a:rPr lang="fr-FR" sz="800" u="none" strike="noStrike">
                          <a:effectLst/>
                        </a:rPr>
                      </a:br>
                      <a:r>
                        <a:rPr lang="fr-FR" sz="800" u="none" strike="noStrike">
                          <a:effectLst/>
                        </a:rPr>
                        <a:t> Tirage de câble</a:t>
                      </a:r>
                      <a:br>
                        <a:rPr lang="fr-FR" sz="800" u="none" strike="noStrike">
                          <a:effectLst/>
                        </a:rPr>
                      </a:br>
                      <a:r>
                        <a:rPr lang="fr-FR" sz="800" u="none" strike="noStrike">
                          <a:effectLst/>
                        </a:rPr>
                        <a:t>*Intervention</a:t>
                      </a:r>
                      <a:br>
                        <a:rPr lang="fr-FR" sz="800" u="none" strike="noStrike">
                          <a:effectLst/>
                        </a:rPr>
                      </a:br>
                      <a:r>
                        <a:rPr lang="fr-FR" sz="800" u="none" strike="noStrike">
                          <a:effectLst/>
                        </a:rPr>
                        <a:t> Splicing Piquage</a:t>
                      </a:r>
                      <a:br>
                        <a:rPr lang="fr-FR" sz="800" u="none" strike="noStrike">
                          <a:effectLst/>
                        </a:rPr>
                      </a:br>
                      <a:r>
                        <a:rPr lang="fr-FR" sz="800" u="none" strike="noStrike">
                          <a:effectLst/>
                        </a:rPr>
                        <a:t>*Installation OTBB 1, 2, ..., 10</a:t>
                      </a:r>
                      <a:br>
                        <a:rPr lang="fr-FR" sz="800" u="none" strike="noStrike">
                          <a:effectLst/>
                        </a:rPr>
                      </a:br>
                      <a:r>
                        <a:rPr lang="fr-FR" sz="800" u="none" strike="noStrike">
                          <a:effectLst/>
                        </a:rPr>
                        <a:t> *Saisie</a:t>
                      </a:r>
                      <a:br>
                        <a:rPr lang="fr-FR" sz="800" u="none" strike="noStrike">
                          <a:effectLst/>
                        </a:rPr>
                      </a:br>
                      <a:r>
                        <a:rPr lang="fr-FR" sz="800" u="none" strike="noStrike">
                          <a:effectLst/>
                        </a:rPr>
                        <a:t> des articles</a:t>
                      </a:r>
                      <a:br>
                        <a:rPr lang="fr-FR" sz="800" u="none" strike="noStrike">
                          <a:effectLst/>
                        </a:rPr>
                      </a:br>
                      <a:r>
                        <a:rPr lang="fr-FR" sz="800" u="none" strike="noStrike">
                          <a:effectLst/>
                        </a:rPr>
                        <a:t> *Résultat</a:t>
                      </a:r>
                      <a:br>
                        <a:rPr lang="fr-FR" sz="800" u="none" strike="noStrike">
                          <a:effectLst/>
                        </a:rPr>
                      </a:br>
                      <a:r>
                        <a:rPr lang="fr-FR" sz="800" u="none" strike="noStrike">
                          <a:effectLst/>
                        </a:rPr>
                        <a:t> Intervention MDU</a:t>
                      </a:r>
                      <a:br>
                        <a:rPr lang="fr-FR" sz="800" u="none" strike="noStrike">
                          <a:effectLst/>
                        </a:rPr>
                      </a:br>
                      <a:r>
                        <a:rPr lang="fr-FR" sz="800" u="none" strike="noStrike">
                          <a:effectLst/>
                        </a:rPr>
                        <a:t>*Section</a:t>
                      </a:r>
                      <a:br>
                        <a:rPr lang="fr-FR" sz="800" u="none" strike="noStrike">
                          <a:effectLst/>
                        </a:rPr>
                      </a:br>
                      <a:r>
                        <a:rPr lang="fr-FR" sz="800" u="none" strike="noStrike">
                          <a:effectLst/>
                        </a:rPr>
                        <a:t> Validation Référent</a:t>
                      </a:r>
                      <a:br>
                        <a:rPr lang="fr-FR" sz="800" u="none" strike="noStrike">
                          <a:effectLst/>
                        </a:rPr>
                      </a:b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l" fontAlgn="ctr"/>
                      <a:r>
                        <a:rPr lang="fr-FR" sz="800" u="none" strike="noStrike">
                          <a:effectLst/>
                        </a:rPr>
                        <a:t>Test du signal reçu à l'OTB : OTDR/Power meter</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l"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l"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l"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l"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extLst>
                  <a:ext uri="{0D108BD9-81ED-4DB2-BD59-A6C34878D82A}">
                    <a16:rowId xmlns:a16="http://schemas.microsoft.com/office/drawing/2014/main" val="440323975"/>
                  </a:ext>
                </a:extLst>
              </a:tr>
              <a:tr h="107495">
                <a:tc>
                  <a:txBody>
                    <a:bodyPr/>
                    <a:lstStyle/>
                    <a:p>
                      <a:pPr algn="l" fontAlgn="ctr"/>
                      <a:r>
                        <a:rPr lang="fr-FR" sz="800" u="none" strike="noStrike">
                          <a:effectLst/>
                        </a:rPr>
                        <a:t>Acteur</a:t>
                      </a:r>
                      <a:endParaRPr lang="fr-FR" sz="800" b="0" i="0" u="none" strike="noStrike">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ctr" fontAlgn="ctr"/>
                      <a:r>
                        <a:rPr lang="fr-FR" sz="800" u="none" strike="noStrike">
                          <a:effectLst/>
                        </a:rPr>
                        <a:t>Designer réseau</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Designer réseau</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Rapporteur d'affaires - COMMERCE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Enquêteur OSP MDU</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Enquêteur OSP MDU</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Designer réseau</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NETIS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Superviseur OSP</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Dispatch</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Technicien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NETIS</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NETIS</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Equipe OSP</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extLst>
                  <a:ext uri="{0D108BD9-81ED-4DB2-BD59-A6C34878D82A}">
                    <a16:rowId xmlns:a16="http://schemas.microsoft.com/office/drawing/2014/main" val="405358407"/>
                  </a:ext>
                </a:extLst>
              </a:tr>
              <a:tr h="53748">
                <a:tc>
                  <a:txBody>
                    <a:bodyPr/>
                    <a:lstStyle/>
                    <a:p>
                      <a:pPr algn="l" fontAlgn="ctr"/>
                      <a:r>
                        <a:rPr lang="fr-FR" sz="800" u="none" strike="noStrike">
                          <a:effectLst/>
                        </a:rPr>
                        <a:t>Localisation des acteurs</a:t>
                      </a:r>
                      <a:endParaRPr lang="fr-FR" sz="800" b="0" i="0" u="none" strike="noStrike">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ctr" fontAlgn="ctr"/>
                      <a:r>
                        <a:rPr lang="fr-FR" sz="800" u="none" strike="noStrike">
                          <a:effectLst/>
                        </a:rPr>
                        <a:t>Filiale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Filiale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Filiale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Filiale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Filiale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Filiale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Partenaire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Filiale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Partenaire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Partenaire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Partenaire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Partenaire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Filiale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extLst>
                  <a:ext uri="{0D108BD9-81ED-4DB2-BD59-A6C34878D82A}">
                    <a16:rowId xmlns:a16="http://schemas.microsoft.com/office/drawing/2014/main" val="1700437144"/>
                  </a:ext>
                </a:extLst>
              </a:tr>
              <a:tr h="214991">
                <a:tc>
                  <a:txBody>
                    <a:bodyPr/>
                    <a:lstStyle/>
                    <a:p>
                      <a:pPr algn="l" fontAlgn="ctr"/>
                      <a:r>
                        <a:rPr lang="fr-FR" sz="800" u="none" strike="noStrike">
                          <a:effectLst/>
                        </a:rPr>
                        <a:t>Document de référence? </a:t>
                      </a:r>
                      <a:endParaRPr lang="fr-FR" sz="800" b="0" i="0" u="none" strike="noStrike">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ctr" fontAlgn="ctr"/>
                      <a:r>
                        <a:rPr lang="fr-FR" sz="800" u="none" strike="noStrike">
                          <a:effectLst/>
                        </a:rPr>
                        <a:t>MQ</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Etudes des autorisations</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Formation + template (identifiants, contact, chemin de câbles, listing des travaux) +fiber allocation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Etude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Fiber allocation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Fichier de suivi construction MDU</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Document d'exécution (résultats des tests)</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extLst>
                  <a:ext uri="{0D108BD9-81ED-4DB2-BD59-A6C34878D82A}">
                    <a16:rowId xmlns:a16="http://schemas.microsoft.com/office/drawing/2014/main" val="1302719554"/>
                  </a:ext>
                </a:extLst>
              </a:tr>
              <a:tr h="107495">
                <a:tc>
                  <a:txBody>
                    <a:bodyPr/>
                    <a:lstStyle/>
                    <a:p>
                      <a:pPr algn="l" fontAlgn="ctr"/>
                      <a:r>
                        <a:rPr lang="fr-FR" sz="800" u="none" strike="noStrike">
                          <a:effectLst/>
                        </a:rPr>
                        <a:t>SI mis en oeuvre</a:t>
                      </a:r>
                      <a:endParaRPr lang="fr-FR" sz="800" b="0" i="0" u="none" strike="noStrike">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ctr" fontAlgn="ctr"/>
                      <a:r>
                        <a:rPr lang="fr-FR" sz="800" u="none" strike="noStrike">
                          <a:effectLst/>
                        </a:rPr>
                        <a:t>QGIS</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Fichier de suivi des autorisations</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Praxedo - vue superviseur</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l"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extLst>
                  <a:ext uri="{0D108BD9-81ED-4DB2-BD59-A6C34878D82A}">
                    <a16:rowId xmlns:a16="http://schemas.microsoft.com/office/drawing/2014/main" val="2132273801"/>
                  </a:ext>
                </a:extLst>
              </a:tr>
              <a:tr h="537477">
                <a:tc>
                  <a:txBody>
                    <a:bodyPr/>
                    <a:lstStyle/>
                    <a:p>
                      <a:pPr algn="l" fontAlgn="ctr"/>
                      <a:r>
                        <a:rPr lang="fr-FR" sz="800" u="none" strike="noStrike">
                          <a:effectLst/>
                        </a:rPr>
                        <a:t>Quelle action SI/foctionnalités ? </a:t>
                      </a:r>
                      <a:endParaRPr lang="fr-FR" sz="800" b="0" i="0" u="none" strike="noStrike">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l" fontAlgn="ctr"/>
                      <a:r>
                        <a:rPr lang="fr-FR" sz="800" u="none" strike="noStrike">
                          <a:effectLst/>
                        </a:rPr>
                        <a:t>*Compléter le compte rendu Pxo : tous les champs obligatoires doivent être renseignés</a:t>
                      </a:r>
                      <a:br>
                        <a:rPr lang="fr-FR" sz="800" u="none" strike="noStrike">
                          <a:effectLst/>
                        </a:rPr>
                      </a:br>
                      <a:r>
                        <a:rPr lang="fr-FR" sz="800" u="none" strike="noStrike">
                          <a:effectLst/>
                        </a:rPr>
                        <a:t>*Ajouter les photos, mesures des signaux OTBBs</a:t>
                      </a:r>
                      <a:br>
                        <a:rPr lang="fr-FR" sz="800" u="none" strike="noStrike">
                          <a:effectLst/>
                        </a:rPr>
                      </a:b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extLst>
                  <a:ext uri="{0D108BD9-81ED-4DB2-BD59-A6C34878D82A}">
                    <a16:rowId xmlns:a16="http://schemas.microsoft.com/office/drawing/2014/main" val="1371191686"/>
                  </a:ext>
                </a:extLst>
              </a:tr>
              <a:tr h="214991">
                <a:tc>
                  <a:txBody>
                    <a:bodyPr/>
                    <a:lstStyle/>
                    <a:p>
                      <a:pPr algn="l" fontAlgn="ctr"/>
                      <a:r>
                        <a:rPr lang="fr-FR" sz="800" u="none" strike="noStrike">
                          <a:effectLst/>
                        </a:rPr>
                        <a:t>Critère de qualité/Analyse de la performance</a:t>
                      </a:r>
                      <a:endParaRPr lang="fr-FR" sz="800" b="0" i="0" u="none" strike="noStrike">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Taux de signatures conformes "decideurs"</a:t>
                      </a:r>
                      <a:br>
                        <a:rPr lang="fr-FR" sz="800" u="none" strike="noStrike">
                          <a:effectLst/>
                        </a:rPr>
                      </a:br>
                      <a:r>
                        <a:rPr lang="fr-FR" sz="800" u="none" strike="noStrike">
                          <a:effectLst/>
                        </a:rPr>
                        <a:t>Début mesure du délai</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48h après réception de l’autorisation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Optimisation de l'OLT</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2 semaines après le survey (délai de validation survey + FA + cotation)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extLst>
                  <a:ext uri="{0D108BD9-81ED-4DB2-BD59-A6C34878D82A}">
                    <a16:rowId xmlns:a16="http://schemas.microsoft.com/office/drawing/2014/main" val="4075007905"/>
                  </a:ext>
                </a:extLst>
              </a:tr>
              <a:tr h="107495">
                <a:tc>
                  <a:txBody>
                    <a:bodyPr/>
                    <a:lstStyle/>
                    <a:p>
                      <a:pPr algn="l" fontAlgn="ctr"/>
                      <a:r>
                        <a:rPr lang="fr-FR" sz="800" u="none" strike="noStrike">
                          <a:effectLst/>
                        </a:rPr>
                        <a:t>Qui réalise contrôle?</a:t>
                      </a:r>
                      <a:endParaRPr lang="fr-FR" sz="800" b="0" i="0" u="none" strike="noStrike">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Superviseur OSP GVA</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Superviseur OSP GVA</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Superviseur OSP GVA</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Responsable OSP - GVA</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extLst>
                  <a:ext uri="{0D108BD9-81ED-4DB2-BD59-A6C34878D82A}">
                    <a16:rowId xmlns:a16="http://schemas.microsoft.com/office/drawing/2014/main" val="3659728920"/>
                  </a:ext>
                </a:extLst>
              </a:tr>
              <a:tr h="107495">
                <a:tc>
                  <a:txBody>
                    <a:bodyPr/>
                    <a:lstStyle/>
                    <a:p>
                      <a:pPr algn="l" fontAlgn="ctr"/>
                      <a:r>
                        <a:rPr lang="fr-FR" sz="800" u="none" strike="noStrike">
                          <a:effectLst/>
                        </a:rPr>
                        <a:t>Quelles actions de contrôle?</a:t>
                      </a:r>
                      <a:endParaRPr lang="fr-FR" sz="800" b="0" i="0" u="none" strike="noStrike">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Supervision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Supervision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Supervision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Contrôle de l'installation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Supervision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extLst>
                  <a:ext uri="{0D108BD9-81ED-4DB2-BD59-A6C34878D82A}">
                    <a16:rowId xmlns:a16="http://schemas.microsoft.com/office/drawing/2014/main" val="1146185376"/>
                  </a:ext>
                </a:extLst>
              </a:tr>
              <a:tr h="107495">
                <a:tc>
                  <a:txBody>
                    <a:bodyPr/>
                    <a:lstStyle/>
                    <a:p>
                      <a:pPr algn="l" fontAlgn="ctr"/>
                      <a:r>
                        <a:rPr lang="fr-FR" sz="800" u="none" strike="noStrike">
                          <a:effectLst/>
                        </a:rPr>
                        <a:t>Condition de passage</a:t>
                      </a:r>
                      <a:endParaRPr lang="fr-FR" sz="800" b="0" i="0" u="none" strike="noStrike">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ctr" fontAlgn="ctr"/>
                      <a:r>
                        <a:rPr lang="fr-FR" sz="800" u="none" strike="noStrike">
                          <a:effectLst/>
                        </a:rPr>
                        <a:t>Nombre adressables&lt;8</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Acceptation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Validation du responsable OSP</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Pas de blocage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extLst>
                  <a:ext uri="{0D108BD9-81ED-4DB2-BD59-A6C34878D82A}">
                    <a16:rowId xmlns:a16="http://schemas.microsoft.com/office/drawing/2014/main" val="4142936840"/>
                  </a:ext>
                </a:extLst>
              </a:tr>
              <a:tr h="161243">
                <a:tc>
                  <a:txBody>
                    <a:bodyPr/>
                    <a:lstStyle/>
                    <a:p>
                      <a:pPr algn="l" fontAlgn="ctr"/>
                      <a:r>
                        <a:rPr lang="fr-FR" sz="800" u="none" strike="noStrike">
                          <a:effectLst/>
                        </a:rPr>
                        <a:t>Condition de blocage</a:t>
                      </a:r>
                      <a:endParaRPr lang="fr-FR" sz="800" b="0" i="0" u="none" strike="noStrike">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ctr" fontAlgn="ctr"/>
                      <a:r>
                        <a:rPr lang="fr-FR" sz="800" u="none" strike="noStrike">
                          <a:effectLst/>
                        </a:rPr>
                        <a:t>Nombre adressables&lt;8</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KO</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Non validation du responsable OSP</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Blocage - informations insuffisantes</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Pas de signal reçu</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extLst>
                  <a:ext uri="{0D108BD9-81ED-4DB2-BD59-A6C34878D82A}">
                    <a16:rowId xmlns:a16="http://schemas.microsoft.com/office/drawing/2014/main" val="2972735476"/>
                  </a:ext>
                </a:extLst>
              </a:tr>
              <a:tr h="268738">
                <a:tc>
                  <a:txBody>
                    <a:bodyPr/>
                    <a:lstStyle/>
                    <a:p>
                      <a:pPr algn="l" fontAlgn="ctr"/>
                      <a:r>
                        <a:rPr lang="fr-FR" sz="800" u="none" strike="noStrike">
                          <a:effectLst/>
                        </a:rPr>
                        <a:t>Actions suite blocage </a:t>
                      </a:r>
                      <a:endParaRPr lang="fr-FR" sz="800" b="0" i="0" u="none" strike="noStrike">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ctr" fontAlgn="ctr"/>
                      <a:r>
                        <a:rPr lang="fr-FR" sz="800" u="none" strike="noStrike">
                          <a:effectLst/>
                        </a:rPr>
                        <a:t>Intégration MDU ZI OTB</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Lettre secrétariat général ou négociations (raccordement gratuit,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Modifications du responsable OSP</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Envoi d'indormations complémentaires de GVA</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Remontée GVA pour troubleshooting - Contrôle liasion bout en bout</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extLst>
                  <a:ext uri="{0D108BD9-81ED-4DB2-BD59-A6C34878D82A}">
                    <a16:rowId xmlns:a16="http://schemas.microsoft.com/office/drawing/2014/main" val="2881835600"/>
                  </a:ext>
                </a:extLst>
              </a:tr>
              <a:tr h="214991">
                <a:tc>
                  <a:txBody>
                    <a:bodyPr/>
                    <a:lstStyle/>
                    <a:p>
                      <a:pPr algn="l" fontAlgn="ctr"/>
                      <a:r>
                        <a:rPr lang="fr-FR" sz="800" u="none" strike="noStrike">
                          <a:effectLst/>
                        </a:rPr>
                        <a:t>Sortie</a:t>
                      </a:r>
                      <a:endParaRPr lang="fr-FR" sz="800" b="0" i="0" u="none" strike="noStrike">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ctr" fontAlgn="ctr"/>
                      <a:r>
                        <a:rPr lang="fr-FR" sz="800" u="none" strike="noStrike">
                          <a:effectLst/>
                        </a:rPr>
                        <a:t>Liste des MDU/OTBB de la zone au format QGIS</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Liste intégrée à la prospection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MDU autorisé par le syndic</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Enquête terrain validée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Enquête terrain validée par le propriétaire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Ressources allouées</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Intervention d'adduction à planifer</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Intervention d'adduction créée et planifiée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Work order d'installation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Fin des travaux</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Document d'exécution (résultats des tests)</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Installation validée par NETIS</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Quality report vérifié &amp; Synoptique OTBs intégrée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Clients actifs</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Installation MDU</a:t>
                      </a:r>
                      <a:endParaRPr lang="fr-FR" sz="800" b="0" i="0" u="none" strike="noStrike">
                        <a:solidFill>
                          <a:srgbClr val="000000"/>
                        </a:solidFill>
                        <a:effectLst/>
                        <a:latin typeface="Calibri" panose="020F0502020204030204" pitchFamily="34" charset="0"/>
                      </a:endParaRPr>
                    </a:p>
                  </a:txBody>
                  <a:tcPr marL="1853" marR="1853" marT="1853" marB="0" anchor="ctr"/>
                </a:tc>
                <a:extLst>
                  <a:ext uri="{0D108BD9-81ED-4DB2-BD59-A6C34878D82A}">
                    <a16:rowId xmlns:a16="http://schemas.microsoft.com/office/drawing/2014/main" val="2493808861"/>
                  </a:ext>
                </a:extLst>
              </a:tr>
              <a:tr h="53748">
                <a:tc>
                  <a:txBody>
                    <a:bodyPr/>
                    <a:lstStyle/>
                    <a:p>
                      <a:pPr algn="l" fontAlgn="ctr"/>
                      <a:r>
                        <a:rPr lang="fr-FR" sz="800" u="none" strike="noStrike">
                          <a:effectLst/>
                        </a:rPr>
                        <a:t>Bénéficiaire de l'output</a:t>
                      </a:r>
                      <a:endParaRPr lang="fr-FR" sz="800" b="0" i="0" u="none" strike="noStrike">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extLst>
                  <a:ext uri="{0D108BD9-81ED-4DB2-BD59-A6C34878D82A}">
                    <a16:rowId xmlns:a16="http://schemas.microsoft.com/office/drawing/2014/main" val="2552071162"/>
                  </a:ext>
                </a:extLst>
              </a:tr>
              <a:tr h="589000">
                <a:tc>
                  <a:txBody>
                    <a:bodyPr/>
                    <a:lstStyle/>
                    <a:p>
                      <a:pPr algn="l" fontAlgn="ctr"/>
                      <a:r>
                        <a:rPr lang="fr-FR" sz="800" u="none" strike="noStrike" dirty="0">
                          <a:effectLst/>
                        </a:rPr>
                        <a:t>Commentaires</a:t>
                      </a:r>
                      <a:endParaRPr lang="fr-FR" sz="800" b="0" i="0" u="none" strike="noStrike" dirty="0">
                        <a:solidFill>
                          <a:srgbClr val="000000"/>
                        </a:solidFill>
                        <a:effectLst/>
                        <a:latin typeface="Arial Nova" panose="020B0504020202020204" pitchFamily="34" charset="0"/>
                      </a:endParaRPr>
                    </a:p>
                  </a:txBody>
                  <a:tcPr marL="1853" marR="1853" marT="1853" marB="0" anchor="ctr">
                    <a:solidFill>
                      <a:schemeClr val="accent5">
                        <a:lumMod val="20000"/>
                        <a:lumOff val="80000"/>
                      </a:schemeClr>
                    </a:solidFill>
                  </a:tcPr>
                </a:tc>
                <a:tc>
                  <a:txBody>
                    <a:bodyPr/>
                    <a:lstStyle/>
                    <a:p>
                      <a:pPr algn="ctr" fontAlgn="ctr"/>
                      <a:r>
                        <a:rPr lang="fr-FR" sz="800" u="none" strike="noStrike">
                          <a:effectLst/>
                        </a:rPr>
                        <a:t>Fait parti du processus de dimensionnement des ZI</a:t>
                      </a:r>
                      <a:endParaRPr lang="fr-FR" sz="800" b="0" i="0" u="none" strike="noStrike">
                        <a:solidFill>
                          <a:srgbClr val="FF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FF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Possibilité d'intégrer à Pxo (ticket transmis pour monitoring)</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l" fontAlgn="ctr"/>
                      <a:r>
                        <a:rPr lang="fr-FR" sz="800" u="none" strike="noStrike">
                          <a:effectLst/>
                        </a:rPr>
                        <a:t>Lors du Survey :</a:t>
                      </a:r>
                      <a:br>
                        <a:rPr lang="fr-FR" sz="800" u="none" strike="noStrike">
                          <a:effectLst/>
                        </a:rPr>
                      </a:br>
                      <a:r>
                        <a:rPr lang="fr-FR" sz="800" u="none" strike="noStrike">
                          <a:effectLst/>
                        </a:rPr>
                        <a:t>* Attribution du port olt et le splitter de 1er niveau de l’OTBB dans la phase de préparation du Work Order MDU (après survey physique et accord de construction de la part du propriétaire)</a:t>
                      </a:r>
                      <a:br>
                        <a:rPr lang="fr-FR" sz="800" u="none" strike="noStrike">
                          <a:effectLst/>
                        </a:rPr>
                      </a:br>
                      <a:r>
                        <a:rPr lang="fr-FR" sz="800" u="none" strike="noStrike">
                          <a:effectLst/>
                        </a:rPr>
                        <a:t>*Inclusion du synoptique olt-otb end-to-end dans le survey qui est transmis à Teknotel pour construction</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Le résultats du survey est inséré dans le ticket ensuite</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a:effectLst/>
                        </a:rPr>
                        <a:t> </a:t>
                      </a:r>
                      <a:endParaRPr lang="fr-FR" sz="800" b="0" i="0" u="none" strike="noStrike">
                        <a:solidFill>
                          <a:srgbClr val="000000"/>
                        </a:solidFill>
                        <a:effectLst/>
                        <a:latin typeface="Calibri" panose="020F0502020204030204" pitchFamily="34" charset="0"/>
                      </a:endParaRPr>
                    </a:p>
                  </a:txBody>
                  <a:tcPr marL="1853" marR="1853" marT="1853" marB="0" anchor="ctr"/>
                </a:tc>
                <a:tc>
                  <a:txBody>
                    <a:bodyPr/>
                    <a:lstStyle/>
                    <a:p>
                      <a:pPr algn="ctr" fontAlgn="ctr"/>
                      <a:r>
                        <a:rPr lang="fr-FR" sz="800" u="none" strike="noStrike" dirty="0">
                          <a:effectLst/>
                        </a:rPr>
                        <a:t> </a:t>
                      </a:r>
                      <a:endParaRPr lang="fr-FR" sz="800" b="0" i="0" u="none" strike="noStrike" dirty="0">
                        <a:solidFill>
                          <a:srgbClr val="000000"/>
                        </a:solidFill>
                        <a:effectLst/>
                        <a:latin typeface="Calibri" panose="020F0502020204030204" pitchFamily="34" charset="0"/>
                      </a:endParaRPr>
                    </a:p>
                  </a:txBody>
                  <a:tcPr marL="1853" marR="1853" marT="1853" marB="0" anchor="ctr"/>
                </a:tc>
                <a:extLst>
                  <a:ext uri="{0D108BD9-81ED-4DB2-BD59-A6C34878D82A}">
                    <a16:rowId xmlns:a16="http://schemas.microsoft.com/office/drawing/2014/main" val="633835217"/>
                  </a:ext>
                </a:extLst>
              </a:tr>
            </a:tbl>
          </a:graphicData>
        </a:graphic>
      </p:graphicFrame>
    </p:spTree>
    <p:extLst>
      <p:ext uri="{BB962C8B-B14F-4D97-AF65-F5344CB8AC3E}">
        <p14:creationId xmlns:p14="http://schemas.microsoft.com/office/powerpoint/2010/main" val="2942555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lstStyle/>
          <a:p>
            <a:r>
              <a:rPr lang="fr-FR" dirty="0"/>
              <a:t>Intégration MDU ZI OTB</a:t>
            </a:r>
            <a:br>
              <a:rPr lang="fr-FR" dirty="0"/>
            </a:br>
            <a:r>
              <a:rPr lang="fr-FR" sz="3200" i="1" dirty="0"/>
              <a:t>Nb adressables &lt; X</a:t>
            </a:r>
            <a:endParaRPr lang="fr-FR" sz="3200" dirty="0"/>
          </a:p>
        </p:txBody>
      </p:sp>
    </p:spTree>
    <p:extLst>
      <p:ext uri="{BB962C8B-B14F-4D97-AF65-F5344CB8AC3E}">
        <p14:creationId xmlns:p14="http://schemas.microsoft.com/office/powerpoint/2010/main" val="3007665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au 7"/>
          <p:cNvGraphicFramePr>
            <a:graphicFrameLocks noGrp="1"/>
          </p:cNvGraphicFramePr>
          <p:nvPr>
            <p:extLst>
              <p:ext uri="{D42A27DB-BD31-4B8C-83A1-F6EECF244321}">
                <p14:modId xmlns:p14="http://schemas.microsoft.com/office/powerpoint/2010/main" val="64030484"/>
              </p:ext>
            </p:extLst>
          </p:nvPr>
        </p:nvGraphicFramePr>
        <p:xfrm>
          <a:off x="842569" y="1244531"/>
          <a:ext cx="4974621" cy="5324960"/>
        </p:xfrm>
        <a:graphic>
          <a:graphicData uri="http://schemas.openxmlformats.org/drawingml/2006/table">
            <a:tbl>
              <a:tblPr firstRow="1" bandRow="1">
                <a:tableStyleId>{2D5ABB26-0587-4C30-8999-92F81FD0307C}</a:tableStyleId>
              </a:tblPr>
              <a:tblGrid>
                <a:gridCol w="1088563">
                  <a:extLst>
                    <a:ext uri="{9D8B030D-6E8A-4147-A177-3AD203B41FA5}">
                      <a16:colId xmlns:a16="http://schemas.microsoft.com/office/drawing/2014/main" val="1016517965"/>
                    </a:ext>
                  </a:extLst>
                </a:gridCol>
                <a:gridCol w="1584093">
                  <a:extLst>
                    <a:ext uri="{9D8B030D-6E8A-4147-A177-3AD203B41FA5}">
                      <a16:colId xmlns:a16="http://schemas.microsoft.com/office/drawing/2014/main" val="2732424858"/>
                    </a:ext>
                  </a:extLst>
                </a:gridCol>
                <a:gridCol w="890497">
                  <a:extLst>
                    <a:ext uri="{9D8B030D-6E8A-4147-A177-3AD203B41FA5}">
                      <a16:colId xmlns:a16="http://schemas.microsoft.com/office/drawing/2014/main" val="3446518124"/>
                    </a:ext>
                  </a:extLst>
                </a:gridCol>
                <a:gridCol w="1411468">
                  <a:extLst>
                    <a:ext uri="{9D8B030D-6E8A-4147-A177-3AD203B41FA5}">
                      <a16:colId xmlns:a16="http://schemas.microsoft.com/office/drawing/2014/main" val="796687613"/>
                    </a:ext>
                  </a:extLst>
                </a:gridCol>
              </a:tblGrid>
              <a:tr h="508766">
                <a:tc>
                  <a:txBody>
                    <a:bodyPr/>
                    <a:lstStyle/>
                    <a:p>
                      <a:pPr algn="ctr"/>
                      <a:r>
                        <a:rPr lang="fr-FR" sz="1200" b="1" dirty="0">
                          <a:solidFill>
                            <a:schemeClr val="bg1"/>
                          </a:solidFill>
                        </a:rPr>
                        <a:t>Famille de la chaîne de valeur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B7FAC"/>
                    </a:solidFill>
                  </a:tcPr>
                </a:tc>
                <a:tc gridSpan="3">
                  <a:txBody>
                    <a:bodyPr/>
                    <a:lstStyle/>
                    <a:p>
                      <a:r>
                        <a:rPr lang="fr-FR" sz="1300" dirty="0" err="1"/>
                        <a:t>Core</a:t>
                      </a:r>
                      <a:r>
                        <a:rPr lang="fr-FR" sz="1300" dirty="0"/>
                        <a:t> Business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847903403"/>
                  </a:ext>
                </a:extLst>
              </a:tr>
              <a:tr h="508766">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200" b="1" dirty="0">
                          <a:solidFill>
                            <a:schemeClr val="bg1"/>
                          </a:solidFill>
                        </a:rPr>
                        <a:t>Maillon chaîne de valeur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B7FAC"/>
                    </a:solidFill>
                  </a:tcPr>
                </a:tc>
                <a:tc gridSpan="3">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1300" dirty="0" err="1"/>
                        <a:t>Run</a:t>
                      </a:r>
                      <a:endParaRPr lang="fr-FR"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dirty="0"/>
                    </a:p>
                  </a:txBody>
                  <a:tcPr/>
                </a:tc>
                <a:tc hMerge="1">
                  <a:txBody>
                    <a:bodyPr/>
                    <a:lstStyle/>
                    <a:p>
                      <a:endParaRPr lang="fr-FR"/>
                    </a:p>
                  </a:txBody>
                  <a:tcPr/>
                </a:tc>
                <a:extLst>
                  <a:ext uri="{0D108BD9-81ED-4DB2-BD59-A6C34878D82A}">
                    <a16:rowId xmlns:a16="http://schemas.microsoft.com/office/drawing/2014/main" val="3245999517"/>
                  </a:ext>
                </a:extLst>
              </a:tr>
              <a:tr h="363404">
                <a:tc>
                  <a:txBody>
                    <a:bodyPr/>
                    <a:lstStyle/>
                    <a:p>
                      <a:pPr algn="ctr"/>
                      <a:r>
                        <a:rPr lang="fr-FR" sz="1200" b="1" dirty="0">
                          <a:solidFill>
                            <a:schemeClr val="bg1"/>
                          </a:solidFill>
                        </a:rPr>
                        <a:t>Macro</a:t>
                      </a:r>
                      <a:r>
                        <a:rPr lang="fr-FR" sz="1200" b="1" baseline="0" dirty="0">
                          <a:solidFill>
                            <a:schemeClr val="bg1"/>
                          </a:solidFill>
                        </a:rPr>
                        <a:t> processus</a:t>
                      </a:r>
                      <a:endParaRPr lang="fr-FR" sz="12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B7FAC"/>
                    </a:solidFill>
                  </a:tcPr>
                </a:tc>
                <a:tc gridSpan="3">
                  <a:txBody>
                    <a:bodyPr/>
                    <a:lstStyle/>
                    <a:p>
                      <a:r>
                        <a:rPr lang="fr-FR" sz="1300" dirty="0"/>
                        <a:t>OSP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021360870"/>
                  </a:ext>
                </a:extLst>
              </a:tr>
              <a:tr h="301531">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200" b="1" dirty="0">
                          <a:solidFill>
                            <a:schemeClr val="bg1"/>
                          </a:solidFill>
                        </a:rPr>
                        <a:t>Processus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B7FAC"/>
                    </a:solidFill>
                  </a:tcPr>
                </a:tc>
                <a:tc gridSpan="3">
                  <a:txBody>
                    <a:bodyPr/>
                    <a:lstStyle/>
                    <a:p>
                      <a:r>
                        <a:rPr lang="fr-FR" sz="1300" b="1" dirty="0"/>
                        <a:t>Construction MDU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96914622"/>
                  </a:ext>
                </a:extLst>
              </a:tr>
              <a:tr h="363404">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200" b="1" dirty="0">
                          <a:solidFill>
                            <a:schemeClr val="bg1"/>
                          </a:solidFill>
                        </a:rPr>
                        <a:t>Sous Processus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B7FAC"/>
                    </a:solidFill>
                  </a:tcPr>
                </a:tc>
                <a:tc gridSpan="3">
                  <a:txBody>
                    <a:bodyPr/>
                    <a:lstStyle/>
                    <a:p>
                      <a:r>
                        <a:rPr lang="fr-FR" sz="1300" b="1" dirty="0"/>
                        <a:t>Intégration MDU ZI OTB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146241959"/>
                  </a:ext>
                </a:extLst>
              </a:tr>
              <a:tr h="799753">
                <a:tc>
                  <a:txBody>
                    <a:bodyPr/>
                    <a:lstStyle/>
                    <a:p>
                      <a:pPr algn="ctr"/>
                      <a:r>
                        <a:rPr lang="fr-FR" sz="1200" b="1">
                          <a:solidFill>
                            <a:schemeClr val="bg1"/>
                          </a:solidFill>
                        </a:rPr>
                        <a:t>Début</a:t>
                      </a:r>
                      <a:endParaRPr lang="fr-FR" sz="1200"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DC8E8"/>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1200" dirty="0"/>
                        <a:t>Bâtiment MDU intégré à la zone d'influence OTB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300" b="1" i="0" dirty="0">
                          <a:solidFill>
                            <a:schemeClr val="bg1"/>
                          </a:solidFill>
                        </a:rPr>
                        <a:t>Fin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DC8E8"/>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1200" dirty="0"/>
                        <a:t>Clients actifs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28231715"/>
                  </a:ext>
                </a:extLst>
              </a:tr>
              <a:tr h="947076">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200" b="1" dirty="0">
                          <a:solidFill>
                            <a:schemeClr val="bg1"/>
                          </a:solidFill>
                        </a:rPr>
                        <a:t>Fournisseur inputs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DC8E8"/>
                    </a:solidFill>
                  </a:tcPr>
                </a:tc>
                <a:tc gridSpan="3">
                  <a:txBody>
                    <a:bodyPr/>
                    <a:lstStyle/>
                    <a:p>
                      <a:pPr marL="171450" indent="-171450">
                        <a:buFont typeface="Arial" panose="020B0604020202020204" pitchFamily="34" charset="0"/>
                        <a:buChar char="•"/>
                      </a:pPr>
                      <a:r>
                        <a:rPr lang="fr-FR" sz="1300" dirty="0"/>
                        <a:t>MQ</a:t>
                      </a:r>
                    </a:p>
                    <a:p>
                      <a:pPr marL="171450" indent="-171450">
                        <a:buFont typeface="Arial" panose="020B0604020202020204" pitchFamily="34" charset="0"/>
                        <a:buChar char="•"/>
                      </a:pPr>
                      <a:r>
                        <a:rPr lang="fr-FR" sz="1300" dirty="0"/>
                        <a:t>Design (influence 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2350025611"/>
                  </a:ext>
                </a:extLst>
              </a:tr>
              <a:tr h="799490">
                <a:tc>
                  <a:txBody>
                    <a:bodyPr/>
                    <a:lstStyle/>
                    <a:p>
                      <a:pPr algn="ctr"/>
                      <a:r>
                        <a:rPr lang="fr-FR" sz="1200" b="1" dirty="0">
                          <a:solidFill>
                            <a:schemeClr val="bg1"/>
                          </a:solidFill>
                        </a:rPr>
                        <a:t>Fonctions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DC8E8"/>
                    </a:solidFill>
                  </a:tcPr>
                </a:tc>
                <a:tc gridSpan="3">
                  <a:txBody>
                    <a:bodyPr/>
                    <a:lstStyle/>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300" dirty="0"/>
                        <a:t>Designer OSP</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300" dirty="0"/>
                        <a:t>Rapporteur d’affaires </a:t>
                      </a:r>
                      <a:r>
                        <a:rPr lang="fr-FR" sz="1300" baseline="0" dirty="0"/>
                        <a:t>– COMMERCE</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300" baseline="0" dirty="0"/>
                        <a:t>Responsable OSP</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300" baseline="0" dirty="0"/>
                        <a:t>Ingénieur de </a:t>
                      </a:r>
                      <a:r>
                        <a:rPr lang="fr-FR" sz="1300" baseline="0" dirty="0" err="1"/>
                        <a:t>prod</a:t>
                      </a:r>
                      <a:endParaRPr lang="fr-FR" sz="1300" baseline="0" dirty="0"/>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300" baseline="0" dirty="0"/>
                        <a:t>NETIS (</a:t>
                      </a:r>
                      <a:r>
                        <a:rPr lang="fr-FR" sz="1300" baseline="0" dirty="0">
                          <a:solidFill>
                            <a:srgbClr val="FF0000"/>
                          </a:solidFill>
                        </a:rPr>
                        <a:t>à préciser</a:t>
                      </a:r>
                      <a:r>
                        <a:rPr lang="fr-FR" sz="1300" baseline="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fr-FR" sz="1400" b="1" dirty="0"/>
                    </a:p>
                  </a:txBody>
                  <a:tcPr anchor="ctr"/>
                </a:tc>
                <a:tc hMerge="1">
                  <a:txBody>
                    <a:bodyPr/>
                    <a:lstStyle/>
                    <a:p>
                      <a:endParaRPr lang="fr-FR" sz="1400" dirty="0"/>
                    </a:p>
                  </a:txBody>
                  <a:tcPr anchor="ctr"/>
                </a:tc>
                <a:extLst>
                  <a:ext uri="{0D108BD9-81ED-4DB2-BD59-A6C34878D82A}">
                    <a16:rowId xmlns:a16="http://schemas.microsoft.com/office/drawing/2014/main" val="3495062787"/>
                  </a:ext>
                </a:extLst>
              </a:tr>
            </a:tbl>
          </a:graphicData>
        </a:graphic>
      </p:graphicFrame>
      <p:sp>
        <p:nvSpPr>
          <p:cNvPr id="9" name="Titre 2"/>
          <p:cNvSpPr txBox="1">
            <a:spLocks/>
          </p:cNvSpPr>
          <p:nvPr/>
        </p:nvSpPr>
        <p:spPr bwMode="gray">
          <a:xfrm>
            <a:off x="418806" y="0"/>
            <a:ext cx="11519451" cy="903600"/>
          </a:xfrm>
          <a:prstGeom prst="rect">
            <a:avLst/>
          </a:prstGeom>
        </p:spPr>
        <p:txBody>
          <a:bodyPr vert="horz" lIns="0" tIns="0" rIns="0" bIns="0" rtlCol="0" anchor="b">
            <a:noAutofit/>
          </a:bodyPr>
          <a:lstStyle>
            <a:lvl1pPr algn="l" defTabSz="1219170" rtl="0" eaLnBrk="1" latinLnBrk="0" hangingPunct="1">
              <a:spcBef>
                <a:spcPct val="0"/>
              </a:spcBef>
              <a:buNone/>
              <a:defRPr sz="3200" kern="1200" cap="none" baseline="0">
                <a:solidFill>
                  <a:schemeClr val="accent5"/>
                </a:solidFill>
                <a:latin typeface="+mj-lt"/>
                <a:ea typeface="+mj-ea"/>
                <a:cs typeface="+mj-cs"/>
              </a:defRPr>
            </a:lvl1pPr>
          </a:lstStyle>
          <a:p>
            <a:r>
              <a:rPr lang="fr-FR" dirty="0"/>
              <a:t>Carte identité processus – Intégration MDU ZI OTB</a:t>
            </a:r>
          </a:p>
        </p:txBody>
      </p:sp>
      <p:graphicFrame>
        <p:nvGraphicFramePr>
          <p:cNvPr id="10" name="Tableau 9"/>
          <p:cNvGraphicFramePr>
            <a:graphicFrameLocks noGrp="1"/>
          </p:cNvGraphicFramePr>
          <p:nvPr>
            <p:extLst>
              <p:ext uri="{D42A27DB-BD31-4B8C-83A1-F6EECF244321}">
                <p14:modId xmlns:p14="http://schemas.microsoft.com/office/powerpoint/2010/main" val="243099874"/>
              </p:ext>
            </p:extLst>
          </p:nvPr>
        </p:nvGraphicFramePr>
        <p:xfrm>
          <a:off x="6178532" y="1167341"/>
          <a:ext cx="5270518" cy="5402149"/>
        </p:xfrm>
        <a:graphic>
          <a:graphicData uri="http://schemas.openxmlformats.org/drawingml/2006/table">
            <a:tbl>
              <a:tblPr firstRow="1" bandRow="1">
                <a:tableStyleId>{2D5ABB26-0587-4C30-8999-92F81FD0307C}</a:tableStyleId>
              </a:tblPr>
              <a:tblGrid>
                <a:gridCol w="1194439">
                  <a:extLst>
                    <a:ext uri="{9D8B030D-6E8A-4147-A177-3AD203B41FA5}">
                      <a16:colId xmlns:a16="http://schemas.microsoft.com/office/drawing/2014/main" val="1170727219"/>
                    </a:ext>
                  </a:extLst>
                </a:gridCol>
                <a:gridCol w="4076079">
                  <a:extLst>
                    <a:ext uri="{9D8B030D-6E8A-4147-A177-3AD203B41FA5}">
                      <a16:colId xmlns:a16="http://schemas.microsoft.com/office/drawing/2014/main" val="1953787792"/>
                    </a:ext>
                  </a:extLst>
                </a:gridCol>
              </a:tblGrid>
              <a:tr h="609853">
                <a:tc>
                  <a:txBody>
                    <a:bodyPr/>
                    <a:lstStyle/>
                    <a:p>
                      <a:pPr algn="ctr"/>
                      <a:r>
                        <a:rPr lang="fr-FR" sz="1300" b="1" dirty="0">
                          <a:solidFill>
                            <a:schemeClr val="bg1"/>
                          </a:solidFill>
                        </a:rPr>
                        <a:t>Location des acteurs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DC8E8"/>
                    </a:solidFill>
                  </a:tcPr>
                </a:tc>
                <a:tc>
                  <a:txBody>
                    <a:bodyPr/>
                    <a:lstStyle/>
                    <a:p>
                      <a:pPr marL="285750" indent="-285750">
                        <a:buFont typeface="Arial" panose="020B0604020202020204" pitchFamily="34" charset="0"/>
                        <a:buChar char="•"/>
                      </a:pPr>
                      <a:r>
                        <a:rPr lang="fr-FR" sz="1300" dirty="0"/>
                        <a:t>Filiale</a:t>
                      </a:r>
                    </a:p>
                    <a:p>
                      <a:pPr marL="285750" indent="-285750">
                        <a:buFont typeface="Arial" panose="020B0604020202020204" pitchFamily="34" charset="0"/>
                        <a:buChar char="•"/>
                      </a:pPr>
                      <a:r>
                        <a:rPr lang="fr-FR" sz="1300" dirty="0"/>
                        <a:t>Partenaire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7097725"/>
                  </a:ext>
                </a:extLst>
              </a:tr>
              <a:tr h="609853">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300" b="1" dirty="0">
                          <a:solidFill>
                            <a:schemeClr val="bg1"/>
                          </a:solidFill>
                        </a:rPr>
                        <a:t>SI de mise en œuvre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DC8E8"/>
                    </a:solidFill>
                  </a:tcPr>
                </a:tc>
                <a:tc>
                  <a:txBody>
                    <a:bodyPr/>
                    <a:lstStyle/>
                    <a:p>
                      <a:pPr marL="285750" indent="-285750">
                        <a:buFont typeface="Arial" panose="020B0604020202020204" pitchFamily="34" charset="0"/>
                        <a:buChar char="•"/>
                      </a:pPr>
                      <a:r>
                        <a:rPr lang="fr-FR" sz="1300" baseline="0" dirty="0"/>
                        <a:t>QGIS</a:t>
                      </a:r>
                    </a:p>
                    <a:p>
                      <a:pPr marL="285750" indent="-285750">
                        <a:buFont typeface="Arial" panose="020B0604020202020204" pitchFamily="34" charset="0"/>
                        <a:buChar char="•"/>
                      </a:pPr>
                      <a:r>
                        <a:rPr lang="fr-FR" sz="1300" baseline="0" dirty="0" err="1"/>
                        <a:t>NetCracker</a:t>
                      </a:r>
                      <a:endParaRPr lang="fr-FR" sz="1300"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2474209"/>
                  </a:ext>
                </a:extLst>
              </a:tr>
              <a:tr h="1886520">
                <a:tc>
                  <a:txBody>
                    <a:bodyPr/>
                    <a:lstStyle/>
                    <a:p>
                      <a:pPr algn="ctr"/>
                      <a:r>
                        <a:rPr lang="fr-FR" sz="1300" b="1" dirty="0">
                          <a:solidFill>
                            <a:schemeClr val="bg1"/>
                          </a:solidFill>
                        </a:rPr>
                        <a:t>Mesure de la 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DC8E8"/>
                    </a:solidFill>
                  </a:tcPr>
                </a:tc>
                <a:tc>
                  <a:txBody>
                    <a:bodyPr/>
                    <a:lstStyle/>
                    <a:p>
                      <a:pPr marL="285750" indent="-285750">
                        <a:buFont typeface="Arial" panose="020B0604020202020204" pitchFamily="34" charset="0"/>
                        <a:buChar char="•"/>
                      </a:pPr>
                      <a:r>
                        <a:rPr lang="fr-FR" sz="1300" dirty="0"/>
                        <a:t>Délai</a:t>
                      </a:r>
                      <a:r>
                        <a:rPr lang="fr-FR" sz="1300" baseline="0" dirty="0"/>
                        <a:t> entre OTB full 60% &amp; MEP effective de l’OTBB de désaturation (mesure la capacité de réaction des équipes)</a:t>
                      </a:r>
                      <a:endParaRPr lang="fr-FR" sz="1300" dirty="0"/>
                    </a:p>
                    <a:p>
                      <a:pPr marL="285750" indent="-285750">
                        <a:buFont typeface="Arial" panose="020B0604020202020204" pitchFamily="34" charset="0"/>
                        <a:buChar char="•"/>
                      </a:pPr>
                      <a:r>
                        <a:rPr lang="fr-FR" sz="1300" dirty="0"/>
                        <a:t>Taux de signatures conformes « décideurs » </a:t>
                      </a:r>
                    </a:p>
                    <a:p>
                      <a:pPr marL="285750" indent="-285750">
                        <a:buFont typeface="Arial" panose="020B0604020202020204" pitchFamily="34" charset="0"/>
                        <a:buChar char="•"/>
                      </a:pPr>
                      <a:r>
                        <a:rPr lang="fr-FR" sz="1300" dirty="0"/>
                        <a:t>Etude terrain</a:t>
                      </a:r>
                      <a:r>
                        <a:rPr lang="fr-FR" sz="1300" baseline="0" dirty="0"/>
                        <a:t> 48h après réception de l’autorisation</a:t>
                      </a:r>
                    </a:p>
                    <a:p>
                      <a:pPr marL="285750" indent="-285750">
                        <a:buFont typeface="Arial" panose="020B0604020202020204" pitchFamily="34" charset="0"/>
                        <a:buChar char="•"/>
                      </a:pPr>
                      <a:r>
                        <a:rPr lang="fr-FR" sz="1300" baseline="0" dirty="0"/>
                        <a:t>Exécution des travaux 2 semaines après le </a:t>
                      </a:r>
                      <a:r>
                        <a:rPr lang="fr-FR" sz="1300" baseline="0" dirty="0" err="1"/>
                        <a:t>survey</a:t>
                      </a:r>
                      <a:r>
                        <a:rPr lang="fr-FR" sz="1300" baseline="0" dirty="0"/>
                        <a:t> (délai de validation </a:t>
                      </a:r>
                      <a:r>
                        <a:rPr lang="fr-FR" sz="1300" baseline="0" dirty="0" err="1"/>
                        <a:t>survey</a:t>
                      </a:r>
                      <a:r>
                        <a:rPr lang="fr-FR" sz="1300" baseline="0" dirty="0"/>
                        <a:t> + FA + cotation)</a:t>
                      </a:r>
                      <a:endParaRPr lang="fr-FR"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4683358"/>
                  </a:ext>
                </a:extLst>
              </a:tr>
              <a:tr h="932718">
                <a:tc>
                  <a:txBody>
                    <a:bodyPr/>
                    <a:lstStyle/>
                    <a:p>
                      <a:pPr algn="ctr"/>
                      <a:r>
                        <a:rPr lang="fr-FR" sz="1300" b="1" dirty="0">
                          <a:solidFill>
                            <a:schemeClr val="bg1"/>
                          </a:solidFill>
                        </a:rPr>
                        <a:t>Points de contrôle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DC8E8"/>
                    </a:solidFill>
                  </a:tcPr>
                </a:tc>
                <a:tc>
                  <a:txBody>
                    <a:bodyPr/>
                    <a:lstStyle/>
                    <a:p>
                      <a:pPr marL="285750" indent="-285750">
                        <a:buFont typeface="Arial" panose="020B0604020202020204" pitchFamily="34" charset="0"/>
                        <a:buChar char="•"/>
                      </a:pPr>
                      <a:r>
                        <a:rPr lang="fr-FR" sz="1300" dirty="0"/>
                        <a:t>Exécution</a:t>
                      </a:r>
                      <a:r>
                        <a:rPr lang="fr-FR" sz="1300" baseline="0" dirty="0"/>
                        <a:t> des travaux</a:t>
                      </a:r>
                    </a:p>
                    <a:p>
                      <a:pPr marL="285750" indent="-285750">
                        <a:buFont typeface="Arial" panose="020B0604020202020204" pitchFamily="34" charset="0"/>
                        <a:buChar char="•"/>
                      </a:pPr>
                      <a:r>
                        <a:rPr lang="fr-FR" sz="1300" baseline="0" dirty="0"/>
                        <a:t>Test de continuité</a:t>
                      </a:r>
                    </a:p>
                    <a:p>
                      <a:pPr marL="285750" indent="-285750">
                        <a:buFont typeface="Arial" panose="020B0604020202020204" pitchFamily="34" charset="0"/>
                        <a:buChar char="•"/>
                      </a:pPr>
                      <a:r>
                        <a:rPr lang="fr-FR" sz="1300" baseline="0" dirty="0"/>
                        <a:t>Mise en production du MDU</a:t>
                      </a:r>
                      <a:endParaRPr lang="fr-FR"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6359023"/>
                  </a:ext>
                </a:extLst>
              </a:tr>
              <a:tr h="1363205">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fr-FR" sz="1300" b="1" dirty="0">
                          <a:solidFill>
                            <a:schemeClr val="bg1"/>
                          </a:solidFill>
                        </a:rPr>
                        <a:t>Sous processus liés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C9CD6"/>
                    </a:solidFill>
                  </a:tcPr>
                </a:tc>
                <a:tc>
                  <a:txBody>
                    <a:bodyPr/>
                    <a:lstStyle/>
                    <a:p>
                      <a:r>
                        <a:rPr lang="fr-FR" sz="1300" dirty="0"/>
                        <a:t>Souscription</a:t>
                      </a:r>
                      <a:r>
                        <a:rPr lang="fr-FR" sz="1300" baseline="0" dirty="0"/>
                        <a:t> B2C</a:t>
                      </a:r>
                    </a:p>
                    <a:p>
                      <a:r>
                        <a:rPr lang="fr-FR" sz="1300" baseline="0" dirty="0"/>
                        <a:t>Migration Client ISP SI</a:t>
                      </a:r>
                      <a:endParaRPr lang="fr-FR" sz="13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126771"/>
                  </a:ext>
                </a:extLst>
              </a:tr>
            </a:tbl>
          </a:graphicData>
        </a:graphic>
      </p:graphicFrame>
    </p:spTree>
    <p:extLst>
      <p:ext uri="{BB962C8B-B14F-4D97-AF65-F5344CB8AC3E}">
        <p14:creationId xmlns:p14="http://schemas.microsoft.com/office/powerpoint/2010/main" val="2486581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943689"/>
            <a:ext cx="12144452" cy="5914311"/>
          </a:xfrm>
          <a:prstGeom prst="rect">
            <a:avLst/>
          </a:prstGeom>
        </p:spPr>
      </p:pic>
      <p:sp>
        <p:nvSpPr>
          <p:cNvPr id="3" name="Titre 2"/>
          <p:cNvSpPr txBox="1">
            <a:spLocks/>
          </p:cNvSpPr>
          <p:nvPr/>
        </p:nvSpPr>
        <p:spPr bwMode="gray">
          <a:xfrm>
            <a:off x="418806" y="0"/>
            <a:ext cx="11519451" cy="903600"/>
          </a:xfrm>
          <a:prstGeom prst="rect">
            <a:avLst/>
          </a:prstGeom>
        </p:spPr>
        <p:txBody>
          <a:bodyPr vert="horz" lIns="0" tIns="0" rIns="0" bIns="0" rtlCol="0" anchor="b">
            <a:noAutofit/>
          </a:bodyPr>
          <a:lstStyle>
            <a:lvl1pPr algn="l" defTabSz="1219170" rtl="0" eaLnBrk="1" latinLnBrk="0" hangingPunct="1">
              <a:spcBef>
                <a:spcPct val="0"/>
              </a:spcBef>
              <a:buNone/>
              <a:defRPr sz="3200" kern="1200" cap="none" baseline="0">
                <a:solidFill>
                  <a:schemeClr val="accent5"/>
                </a:solidFill>
                <a:latin typeface="+mj-lt"/>
                <a:ea typeface="+mj-ea"/>
                <a:cs typeface="+mj-cs"/>
              </a:defRPr>
            </a:lvl1pPr>
          </a:lstStyle>
          <a:p>
            <a:r>
              <a:rPr lang="fr-FR" dirty="0"/>
              <a:t>Modélisation– Intégration MDU ZI OTB</a:t>
            </a:r>
          </a:p>
        </p:txBody>
      </p:sp>
    </p:spTree>
    <p:extLst>
      <p:ext uri="{BB962C8B-B14F-4D97-AF65-F5344CB8AC3E}">
        <p14:creationId xmlns:p14="http://schemas.microsoft.com/office/powerpoint/2010/main" val="4042857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a:t>Support de modélisation – Intégration MDU ZI OTB</a:t>
            </a:r>
          </a:p>
        </p:txBody>
      </p:sp>
      <p:sp>
        <p:nvSpPr>
          <p:cNvPr id="5" name="Espace réservé du texte 4"/>
          <p:cNvSpPr>
            <a:spLocks noGrp="1"/>
          </p:cNvSpPr>
          <p:nvPr>
            <p:ph type="body" sz="quarter" idx="13"/>
          </p:nvPr>
        </p:nvSpPr>
        <p:spPr/>
        <p:txBody>
          <a:bodyPr/>
          <a:lstStyle/>
          <a:p>
            <a:endParaRPr lang="fr-FR"/>
          </a:p>
        </p:txBody>
      </p:sp>
      <p:graphicFrame>
        <p:nvGraphicFramePr>
          <p:cNvPr id="2" name="Tableau 1"/>
          <p:cNvGraphicFramePr>
            <a:graphicFrameLocks noGrp="1"/>
          </p:cNvGraphicFramePr>
          <p:nvPr>
            <p:extLst>
              <p:ext uri="{D42A27DB-BD31-4B8C-83A1-F6EECF244321}">
                <p14:modId xmlns:p14="http://schemas.microsoft.com/office/powerpoint/2010/main" val="3367837805"/>
              </p:ext>
            </p:extLst>
          </p:nvPr>
        </p:nvGraphicFramePr>
        <p:xfrm>
          <a:off x="280501" y="944100"/>
          <a:ext cx="11574951" cy="5855632"/>
        </p:xfrm>
        <a:graphic>
          <a:graphicData uri="http://schemas.openxmlformats.org/drawingml/2006/table">
            <a:tbl>
              <a:tblPr>
                <a:tableStyleId>{5C22544A-7EE6-4342-B048-85BDC9FD1C3A}</a:tableStyleId>
              </a:tblPr>
              <a:tblGrid>
                <a:gridCol w="1263398">
                  <a:extLst>
                    <a:ext uri="{9D8B030D-6E8A-4147-A177-3AD203B41FA5}">
                      <a16:colId xmlns:a16="http://schemas.microsoft.com/office/drawing/2014/main" val="1899017663"/>
                    </a:ext>
                  </a:extLst>
                </a:gridCol>
                <a:gridCol w="1254108">
                  <a:extLst>
                    <a:ext uri="{9D8B030D-6E8A-4147-A177-3AD203B41FA5}">
                      <a16:colId xmlns:a16="http://schemas.microsoft.com/office/drawing/2014/main" val="2707958027"/>
                    </a:ext>
                  </a:extLst>
                </a:gridCol>
                <a:gridCol w="1254108">
                  <a:extLst>
                    <a:ext uri="{9D8B030D-6E8A-4147-A177-3AD203B41FA5}">
                      <a16:colId xmlns:a16="http://schemas.microsoft.com/office/drawing/2014/main" val="1975293638"/>
                    </a:ext>
                  </a:extLst>
                </a:gridCol>
                <a:gridCol w="1254108">
                  <a:extLst>
                    <a:ext uri="{9D8B030D-6E8A-4147-A177-3AD203B41FA5}">
                      <a16:colId xmlns:a16="http://schemas.microsoft.com/office/drawing/2014/main" val="854787616"/>
                    </a:ext>
                  </a:extLst>
                </a:gridCol>
                <a:gridCol w="1254108">
                  <a:extLst>
                    <a:ext uri="{9D8B030D-6E8A-4147-A177-3AD203B41FA5}">
                      <a16:colId xmlns:a16="http://schemas.microsoft.com/office/drawing/2014/main" val="2174878048"/>
                    </a:ext>
                  </a:extLst>
                </a:gridCol>
                <a:gridCol w="975418">
                  <a:extLst>
                    <a:ext uri="{9D8B030D-6E8A-4147-A177-3AD203B41FA5}">
                      <a16:colId xmlns:a16="http://schemas.microsoft.com/office/drawing/2014/main" val="286097707"/>
                    </a:ext>
                  </a:extLst>
                </a:gridCol>
                <a:gridCol w="845361">
                  <a:extLst>
                    <a:ext uri="{9D8B030D-6E8A-4147-A177-3AD203B41FA5}">
                      <a16:colId xmlns:a16="http://schemas.microsoft.com/office/drawing/2014/main" val="2700184546"/>
                    </a:ext>
                  </a:extLst>
                </a:gridCol>
                <a:gridCol w="845361">
                  <a:extLst>
                    <a:ext uri="{9D8B030D-6E8A-4147-A177-3AD203B41FA5}">
                      <a16:colId xmlns:a16="http://schemas.microsoft.com/office/drawing/2014/main" val="4017480067"/>
                    </a:ext>
                  </a:extLst>
                </a:gridCol>
                <a:gridCol w="845361">
                  <a:extLst>
                    <a:ext uri="{9D8B030D-6E8A-4147-A177-3AD203B41FA5}">
                      <a16:colId xmlns:a16="http://schemas.microsoft.com/office/drawing/2014/main" val="3624262422"/>
                    </a:ext>
                  </a:extLst>
                </a:gridCol>
                <a:gridCol w="891810">
                  <a:extLst>
                    <a:ext uri="{9D8B030D-6E8A-4147-A177-3AD203B41FA5}">
                      <a16:colId xmlns:a16="http://schemas.microsoft.com/office/drawing/2014/main" val="1966080980"/>
                    </a:ext>
                  </a:extLst>
                </a:gridCol>
                <a:gridCol w="891810">
                  <a:extLst>
                    <a:ext uri="{9D8B030D-6E8A-4147-A177-3AD203B41FA5}">
                      <a16:colId xmlns:a16="http://schemas.microsoft.com/office/drawing/2014/main" val="404919957"/>
                    </a:ext>
                  </a:extLst>
                </a:gridCol>
              </a:tblGrid>
              <a:tr h="309945">
                <a:tc>
                  <a:txBody>
                    <a:bodyPr/>
                    <a:lstStyle/>
                    <a:p>
                      <a:pPr algn="ctr" fontAlgn="ctr"/>
                      <a:r>
                        <a:rPr lang="fr-FR" sz="700" u="none" strike="noStrike" dirty="0">
                          <a:effectLst/>
                        </a:rPr>
                        <a:t>Début du processus : fait générateur</a:t>
                      </a:r>
                      <a:endParaRPr lang="fr-FR" sz="700" b="0" i="0" u="none" strike="noStrike" dirty="0">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a:effectLst/>
                        </a:rPr>
                        <a:t>Bâtiment MDU intégré à la zone d'influence OTB</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Client raccordé</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Zone à désaturer</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MDU autorisé par le syndic</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Enquête terrain validée</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Début des travaux</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Début des travaux</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Fin des travaux</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Document d'exécution (résultats des tests)</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dirty="0" err="1">
                          <a:effectLst/>
                        </a:rPr>
                        <a:t>Quality</a:t>
                      </a:r>
                      <a:r>
                        <a:rPr lang="fr-FR" sz="700" u="none" strike="noStrike" dirty="0">
                          <a:effectLst/>
                        </a:rPr>
                        <a:t> report vérifié &amp; Synoptique </a:t>
                      </a:r>
                      <a:r>
                        <a:rPr lang="fr-FR" sz="700" u="none" strike="noStrike" dirty="0" err="1">
                          <a:effectLst/>
                        </a:rPr>
                        <a:t>OTBs</a:t>
                      </a:r>
                      <a:r>
                        <a:rPr lang="fr-FR" sz="700" u="none" strike="noStrike" dirty="0">
                          <a:effectLst/>
                        </a:rPr>
                        <a:t> intégrée</a:t>
                      </a:r>
                      <a:endParaRPr lang="fr-FR" sz="700" b="0" i="0" u="none" strike="noStrike" dirty="0">
                        <a:solidFill>
                          <a:srgbClr val="000000"/>
                        </a:solidFill>
                        <a:effectLst/>
                        <a:latin typeface="Calibri" panose="020F0502020204030204" pitchFamily="34" charset="0"/>
                      </a:endParaRPr>
                    </a:p>
                  </a:txBody>
                  <a:tcPr marL="2511" marR="2511" marT="2511" marB="0" anchor="ctr"/>
                </a:tc>
                <a:extLst>
                  <a:ext uri="{0D108BD9-81ED-4DB2-BD59-A6C34878D82A}">
                    <a16:rowId xmlns:a16="http://schemas.microsoft.com/office/drawing/2014/main" val="872103235"/>
                  </a:ext>
                </a:extLst>
              </a:tr>
              <a:tr h="104723">
                <a:tc>
                  <a:txBody>
                    <a:bodyPr/>
                    <a:lstStyle/>
                    <a:p>
                      <a:pPr algn="ctr" fontAlgn="ctr"/>
                      <a:r>
                        <a:rPr lang="fr-FR" sz="700" u="none" strike="noStrike" dirty="0">
                          <a:effectLst/>
                        </a:rPr>
                        <a:t>Fournisseur de l'input</a:t>
                      </a:r>
                      <a:endParaRPr lang="fr-FR" sz="700" b="0" i="0" u="none" strike="noStrike" dirty="0">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extLst>
                  <a:ext uri="{0D108BD9-81ED-4DB2-BD59-A6C34878D82A}">
                    <a16:rowId xmlns:a16="http://schemas.microsoft.com/office/drawing/2014/main" val="476946695"/>
                  </a:ext>
                </a:extLst>
              </a:tr>
              <a:tr h="309945">
                <a:tc>
                  <a:txBody>
                    <a:bodyPr/>
                    <a:lstStyle/>
                    <a:p>
                      <a:pPr algn="ctr" fontAlgn="ctr"/>
                      <a:r>
                        <a:rPr lang="fr-FR" sz="700" u="none" strike="noStrike" dirty="0">
                          <a:effectLst/>
                        </a:rPr>
                        <a:t>Activité</a:t>
                      </a:r>
                      <a:endParaRPr lang="fr-FR" sz="700" b="0" i="0" u="none" strike="noStrike" dirty="0">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dirty="0">
                          <a:effectLst/>
                        </a:rPr>
                        <a:t>Souscription B2C</a:t>
                      </a:r>
                      <a:endParaRPr lang="fr-FR" sz="700" b="0" i="0" u="none" strike="noStrike" dirty="0">
                        <a:solidFill>
                          <a:srgbClr val="000000"/>
                        </a:solidFill>
                        <a:effectLst/>
                        <a:latin typeface="Calibri" panose="020F0502020204030204" pitchFamily="34" charset="0"/>
                      </a:endParaRPr>
                    </a:p>
                  </a:txBody>
                  <a:tcPr marL="2511" marR="2511" marT="2511" marB="0" anchor="ctr">
                    <a:solidFill>
                      <a:schemeClr val="accent4">
                        <a:lumMod val="20000"/>
                        <a:lumOff val="80000"/>
                      </a:schemeClr>
                    </a:solidFill>
                  </a:tcPr>
                </a:tc>
                <a:tc>
                  <a:txBody>
                    <a:bodyPr/>
                    <a:lstStyle/>
                    <a:p>
                      <a:pPr algn="ctr" fontAlgn="ctr"/>
                      <a:r>
                        <a:rPr lang="fr-FR" sz="700" u="none" strike="noStrike" dirty="0">
                          <a:effectLst/>
                        </a:rPr>
                        <a:t>OTB 60% full</a:t>
                      </a:r>
                      <a:endParaRPr lang="fr-FR" sz="700" b="0" i="0" u="none" strike="noStrike" dirty="0">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Négociation/autorisation syndic immeuble</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Etude terrain OSP</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Partage avec NETIS pour exécution</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Exécution des travaux</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Préparation des documents de connectivité</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Test de continuité</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dirty="0">
                          <a:effectLst/>
                        </a:rPr>
                        <a:t>Import </a:t>
                      </a:r>
                      <a:r>
                        <a:rPr lang="fr-FR" sz="700" u="none" strike="noStrike" dirty="0" err="1">
                          <a:effectLst/>
                        </a:rPr>
                        <a:t>OTBs</a:t>
                      </a:r>
                      <a:r>
                        <a:rPr lang="fr-FR" sz="700" u="none" strike="noStrike" dirty="0">
                          <a:effectLst/>
                        </a:rPr>
                        <a:t> dans </a:t>
                      </a:r>
                      <a:r>
                        <a:rPr lang="fr-FR" sz="700" u="none" strike="noStrike" dirty="0" err="1">
                          <a:effectLst/>
                        </a:rPr>
                        <a:t>Netcracker</a:t>
                      </a:r>
                      <a:endParaRPr lang="fr-FR" sz="700" b="0" i="0" u="none" strike="noStrike" dirty="0">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dirty="0">
                          <a:effectLst/>
                        </a:rPr>
                        <a:t>Migration</a:t>
                      </a:r>
                      <a:endParaRPr lang="fr-FR" sz="700" b="0" i="0" u="none" strike="noStrike" dirty="0">
                        <a:solidFill>
                          <a:srgbClr val="000000"/>
                        </a:solidFill>
                        <a:effectLst/>
                        <a:latin typeface="Calibri" panose="020F0502020204030204" pitchFamily="34" charset="0"/>
                      </a:endParaRPr>
                    </a:p>
                  </a:txBody>
                  <a:tcPr marL="2511" marR="2511" marT="2511" marB="0" anchor="ctr">
                    <a:solidFill>
                      <a:schemeClr val="accent4">
                        <a:lumMod val="20000"/>
                        <a:lumOff val="80000"/>
                      </a:schemeClr>
                    </a:solidFill>
                  </a:tcPr>
                </a:tc>
                <a:extLst>
                  <a:ext uri="{0D108BD9-81ED-4DB2-BD59-A6C34878D82A}">
                    <a16:rowId xmlns:a16="http://schemas.microsoft.com/office/drawing/2014/main" val="5455250"/>
                  </a:ext>
                </a:extLst>
              </a:tr>
              <a:tr h="1233437">
                <a:tc>
                  <a:txBody>
                    <a:bodyPr/>
                    <a:lstStyle/>
                    <a:p>
                      <a:pPr algn="ctr" fontAlgn="ctr"/>
                      <a:r>
                        <a:rPr lang="fr-FR" sz="700" u="none" strike="noStrike" dirty="0">
                          <a:effectLst/>
                        </a:rPr>
                        <a:t>Sous activités</a:t>
                      </a:r>
                      <a:endParaRPr lang="fr-FR" sz="700" b="0" i="0" u="none" strike="noStrike" dirty="0">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a:effectLst/>
                        </a:rPr>
                        <a:t>Client résident dans le bâtiment MDU raccordé à l'OTB</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*60% de ports de l'OTB sont occupés</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Obtenir signatures : etude et autorisation de travaux </a:t>
                      </a:r>
                      <a:br>
                        <a:rPr lang="fr-FR" sz="700" u="none" strike="noStrike">
                          <a:effectLst/>
                        </a:rPr>
                      </a:br>
                      <a:r>
                        <a:rPr lang="fr-FR" sz="700" u="none" strike="noStrike">
                          <a:effectLst/>
                        </a:rPr>
                        <a:t>Mise à jour du fichier</a:t>
                      </a:r>
                      <a:br>
                        <a:rPr lang="fr-FR" sz="700" u="none" strike="noStrike">
                          <a:effectLst/>
                        </a:rPr>
                      </a:b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l" fontAlgn="ctr"/>
                      <a:r>
                        <a:rPr lang="fr-FR" sz="700" u="none" strike="noStrike">
                          <a:effectLst/>
                        </a:rPr>
                        <a:t>*Vérifier que la zone est déployée</a:t>
                      </a:r>
                      <a:br>
                        <a:rPr lang="fr-FR" sz="700" u="none" strike="noStrike">
                          <a:effectLst/>
                        </a:rPr>
                      </a:br>
                      <a:r>
                        <a:rPr lang="fr-FR" sz="700" u="none" strike="noStrike">
                          <a:effectLst/>
                        </a:rPr>
                        <a:t>*Passage des câbles pour l'aduction : aérien/autre opérateur</a:t>
                      </a:r>
                      <a:br>
                        <a:rPr lang="fr-FR" sz="700" u="none" strike="noStrike">
                          <a:effectLst/>
                        </a:rPr>
                      </a:br>
                      <a:r>
                        <a:rPr lang="fr-FR" sz="700" u="none" strike="noStrike">
                          <a:effectLst/>
                        </a:rPr>
                        <a:t>*Enplacement OTBB</a:t>
                      </a:r>
                      <a:br>
                        <a:rPr lang="fr-FR" sz="700" u="none" strike="noStrike">
                          <a:effectLst/>
                        </a:rPr>
                      </a:br>
                      <a:r>
                        <a:rPr lang="fr-FR" sz="700" u="none" strike="noStrike">
                          <a:effectLst/>
                        </a:rPr>
                        <a:t>*Inventaire matériel nécessaire</a:t>
                      </a:r>
                      <a:br>
                        <a:rPr lang="fr-FR" sz="700" u="none" strike="noStrike">
                          <a:effectLst/>
                        </a:rPr>
                      </a:br>
                      <a:r>
                        <a:rPr lang="fr-FR" sz="700" u="none" strike="noStrike">
                          <a:effectLst/>
                        </a:rPr>
                        <a:t>*Liste des tâches à effectuer</a:t>
                      </a:r>
                      <a:br>
                        <a:rPr lang="fr-FR" sz="700" u="none" strike="noStrike">
                          <a:effectLst/>
                        </a:rPr>
                      </a:br>
                      <a:r>
                        <a:rPr lang="fr-FR" sz="700" u="none" strike="noStrike">
                          <a:effectLst/>
                        </a:rPr>
                        <a:t>*Mise à jour fiber allocation</a:t>
                      </a:r>
                      <a:br>
                        <a:rPr lang="fr-FR" sz="700" u="none" strike="noStrike">
                          <a:effectLst/>
                        </a:rPr>
                      </a:br>
                      <a:r>
                        <a:rPr lang="fr-FR" sz="700" u="none" strike="noStrike">
                          <a:effectLst/>
                        </a:rPr>
                        <a:t>*Contrat</a:t>
                      </a:r>
                      <a:br>
                        <a:rPr lang="fr-FR" sz="700" u="none" strike="noStrike">
                          <a:effectLst/>
                        </a:rPr>
                      </a:b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Survey préparatoire : préparer les consommables et s'assurer qu'il n'y ait pas de blocage</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OTDR/Power meter</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endParaRPr lang="fr-FR" sz="700" b="0" i="0" u="none" strike="noStrike" dirty="0">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extLst>
                  <a:ext uri="{0D108BD9-81ED-4DB2-BD59-A6C34878D82A}">
                    <a16:rowId xmlns:a16="http://schemas.microsoft.com/office/drawing/2014/main" val="1346555092"/>
                  </a:ext>
                </a:extLst>
              </a:tr>
              <a:tr h="104723">
                <a:tc>
                  <a:txBody>
                    <a:bodyPr/>
                    <a:lstStyle/>
                    <a:p>
                      <a:pPr algn="ctr" fontAlgn="ctr"/>
                      <a:r>
                        <a:rPr lang="fr-FR" sz="700" u="none" strike="noStrike" dirty="0">
                          <a:effectLst/>
                        </a:rPr>
                        <a:t>Acteur</a:t>
                      </a:r>
                      <a:endParaRPr lang="fr-FR" sz="700" b="0" i="0" u="none" strike="noStrike" dirty="0">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Designer OSP</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Rapporteur d'affaires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Enquêteur OSP MDU</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NETIS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NETIS</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Designer OSP</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NETIS</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dirty="0">
                          <a:effectLst/>
                        </a:rPr>
                        <a:t>Equipe OSP</a:t>
                      </a:r>
                      <a:endParaRPr lang="fr-FR" sz="700" b="0" i="0" u="none" strike="noStrike" dirty="0">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dirty="0">
                          <a:effectLst/>
                        </a:rPr>
                        <a:t> </a:t>
                      </a:r>
                      <a:endParaRPr lang="fr-FR" sz="700" b="0" i="0" u="none" strike="noStrike" dirty="0">
                        <a:solidFill>
                          <a:srgbClr val="000000"/>
                        </a:solidFill>
                        <a:effectLst/>
                        <a:latin typeface="Calibri" panose="020F0502020204030204" pitchFamily="34" charset="0"/>
                      </a:endParaRPr>
                    </a:p>
                  </a:txBody>
                  <a:tcPr marL="2511" marR="2511" marT="2511" marB="0" anchor="ctr"/>
                </a:tc>
                <a:extLst>
                  <a:ext uri="{0D108BD9-81ED-4DB2-BD59-A6C34878D82A}">
                    <a16:rowId xmlns:a16="http://schemas.microsoft.com/office/drawing/2014/main" val="875699538"/>
                  </a:ext>
                </a:extLst>
              </a:tr>
              <a:tr h="104723">
                <a:tc>
                  <a:txBody>
                    <a:bodyPr/>
                    <a:lstStyle/>
                    <a:p>
                      <a:pPr algn="ctr" fontAlgn="ctr"/>
                      <a:r>
                        <a:rPr lang="fr-FR" sz="700" u="none" strike="noStrike">
                          <a:effectLst/>
                        </a:rPr>
                        <a:t>Localisation des acteurs</a:t>
                      </a:r>
                      <a:endParaRPr lang="fr-FR" sz="700" b="0" i="0" u="none" strike="noStrike">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extLst>
                  <a:ext uri="{0D108BD9-81ED-4DB2-BD59-A6C34878D82A}">
                    <a16:rowId xmlns:a16="http://schemas.microsoft.com/office/drawing/2014/main" val="2608095972"/>
                  </a:ext>
                </a:extLst>
              </a:tr>
              <a:tr h="412555">
                <a:tc>
                  <a:txBody>
                    <a:bodyPr/>
                    <a:lstStyle/>
                    <a:p>
                      <a:pPr algn="ctr" fontAlgn="ctr"/>
                      <a:r>
                        <a:rPr lang="fr-FR" sz="700" u="none" strike="noStrike" dirty="0">
                          <a:effectLst/>
                        </a:rPr>
                        <a:t>Document de référence? </a:t>
                      </a:r>
                      <a:endParaRPr lang="fr-FR" sz="700" b="0" i="0" u="none" strike="noStrike" dirty="0">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Etudes des autorisations</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Formation + template (identifiants, contact, chemin de câbles, listing des travaux) +fiber allocation</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Influence area infrastructure/connectivity</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extLst>
                  <a:ext uri="{0D108BD9-81ED-4DB2-BD59-A6C34878D82A}">
                    <a16:rowId xmlns:a16="http://schemas.microsoft.com/office/drawing/2014/main" val="1016684283"/>
                  </a:ext>
                </a:extLst>
              </a:tr>
              <a:tr h="309945">
                <a:tc>
                  <a:txBody>
                    <a:bodyPr/>
                    <a:lstStyle/>
                    <a:p>
                      <a:pPr algn="ctr" fontAlgn="ctr"/>
                      <a:r>
                        <a:rPr lang="fr-FR" sz="700" u="none" strike="noStrike" dirty="0">
                          <a:effectLst/>
                        </a:rPr>
                        <a:t>SI mis en </a:t>
                      </a:r>
                      <a:r>
                        <a:rPr lang="fr-FR" sz="700" u="none" strike="noStrike" dirty="0" err="1">
                          <a:effectLst/>
                        </a:rPr>
                        <a:t>oeuvre</a:t>
                      </a:r>
                      <a:endParaRPr lang="fr-FR" sz="700" b="0" i="0" u="none" strike="noStrike" dirty="0">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Fichier de suivi des autorisations</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QUID Pxo : formulaire d'installation MDU?</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extLst>
                  <a:ext uri="{0D108BD9-81ED-4DB2-BD59-A6C34878D82A}">
                    <a16:rowId xmlns:a16="http://schemas.microsoft.com/office/drawing/2014/main" val="1868580477"/>
                  </a:ext>
                </a:extLst>
              </a:tr>
              <a:tr h="207334">
                <a:tc>
                  <a:txBody>
                    <a:bodyPr/>
                    <a:lstStyle/>
                    <a:p>
                      <a:pPr algn="ctr" fontAlgn="ctr"/>
                      <a:r>
                        <a:rPr lang="fr-FR" sz="700" u="none" strike="noStrike" dirty="0">
                          <a:effectLst/>
                        </a:rPr>
                        <a:t>Quelle action SI/</a:t>
                      </a:r>
                      <a:r>
                        <a:rPr lang="fr-FR" sz="700" u="none" strike="noStrike" dirty="0" err="1">
                          <a:effectLst/>
                        </a:rPr>
                        <a:t>foctionnalités</a:t>
                      </a:r>
                      <a:r>
                        <a:rPr lang="fr-FR" sz="700" u="none" strike="noStrike" dirty="0">
                          <a:effectLst/>
                        </a:rPr>
                        <a:t> ? </a:t>
                      </a:r>
                      <a:endParaRPr lang="fr-FR" sz="700" b="0" i="0" u="none" strike="noStrike" dirty="0">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extLst>
                  <a:ext uri="{0D108BD9-81ED-4DB2-BD59-A6C34878D82A}">
                    <a16:rowId xmlns:a16="http://schemas.microsoft.com/office/drawing/2014/main" val="1050152701"/>
                  </a:ext>
                </a:extLst>
              </a:tr>
              <a:tr h="412555">
                <a:tc>
                  <a:txBody>
                    <a:bodyPr/>
                    <a:lstStyle/>
                    <a:p>
                      <a:pPr algn="ctr" fontAlgn="ctr"/>
                      <a:r>
                        <a:rPr lang="fr-FR" sz="700" u="none" strike="noStrike">
                          <a:effectLst/>
                        </a:rPr>
                        <a:t>Critère de qualité/Analyse de la performance</a:t>
                      </a:r>
                      <a:endParaRPr lang="fr-FR" sz="700" b="0" i="0" u="none" strike="noStrike">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dirty="0">
                          <a:effectLst/>
                        </a:rPr>
                        <a:t>Taux de signatures conformes "</a:t>
                      </a:r>
                      <a:r>
                        <a:rPr lang="fr-FR" sz="700" u="none" strike="noStrike" dirty="0" err="1">
                          <a:effectLst/>
                        </a:rPr>
                        <a:t>decideurs</a:t>
                      </a:r>
                      <a:r>
                        <a:rPr lang="fr-FR" sz="700" u="none" strike="noStrike" dirty="0">
                          <a:effectLst/>
                        </a:rPr>
                        <a:t>"</a:t>
                      </a:r>
                      <a:br>
                        <a:rPr lang="fr-FR" sz="700" u="none" strike="noStrike" dirty="0">
                          <a:effectLst/>
                        </a:rPr>
                      </a:br>
                      <a:r>
                        <a:rPr lang="fr-FR" sz="700" u="none" strike="noStrike" dirty="0">
                          <a:effectLst/>
                        </a:rPr>
                        <a:t>Début mesure du délai</a:t>
                      </a:r>
                      <a:endParaRPr lang="fr-FR" sz="700" b="0" i="0" u="none" strike="noStrike" dirty="0">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48h après réception de l’autorisation</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2 semaines après le survey (délai de validation survey + FA + cotation)</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extLst>
                  <a:ext uri="{0D108BD9-81ED-4DB2-BD59-A6C34878D82A}">
                    <a16:rowId xmlns:a16="http://schemas.microsoft.com/office/drawing/2014/main" val="3437375405"/>
                  </a:ext>
                </a:extLst>
              </a:tr>
              <a:tr h="207334">
                <a:tc>
                  <a:txBody>
                    <a:bodyPr/>
                    <a:lstStyle/>
                    <a:p>
                      <a:pPr algn="ctr" fontAlgn="ctr"/>
                      <a:r>
                        <a:rPr lang="fr-FR" sz="700" u="none" strike="noStrike" dirty="0">
                          <a:effectLst/>
                        </a:rPr>
                        <a:t>Qui réalise contrôle?</a:t>
                      </a:r>
                      <a:endParaRPr lang="fr-FR" sz="700" b="0" i="0" u="none" strike="noStrike" dirty="0">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Superviseur OSP GVA</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Superviseur OSP GVA</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Superviseur OSP GVA</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extLst>
                  <a:ext uri="{0D108BD9-81ED-4DB2-BD59-A6C34878D82A}">
                    <a16:rowId xmlns:a16="http://schemas.microsoft.com/office/drawing/2014/main" val="888217818"/>
                  </a:ext>
                </a:extLst>
              </a:tr>
              <a:tr h="104723">
                <a:tc>
                  <a:txBody>
                    <a:bodyPr/>
                    <a:lstStyle/>
                    <a:p>
                      <a:pPr algn="ctr" fontAlgn="ctr"/>
                      <a:r>
                        <a:rPr lang="fr-FR" sz="700" u="none" strike="noStrike">
                          <a:effectLst/>
                        </a:rPr>
                        <a:t>Quelles actions de contrôle?</a:t>
                      </a:r>
                      <a:endParaRPr lang="fr-FR" sz="700" b="0" i="0" u="none" strike="noStrike">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Supervision</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Supervision</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Supervision</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Supervision</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extLst>
                  <a:ext uri="{0D108BD9-81ED-4DB2-BD59-A6C34878D82A}">
                    <a16:rowId xmlns:a16="http://schemas.microsoft.com/office/drawing/2014/main" val="2748261764"/>
                  </a:ext>
                </a:extLst>
              </a:tr>
              <a:tr h="207334">
                <a:tc>
                  <a:txBody>
                    <a:bodyPr/>
                    <a:lstStyle/>
                    <a:p>
                      <a:pPr algn="ctr" fontAlgn="ctr"/>
                      <a:r>
                        <a:rPr lang="fr-FR" sz="700" u="none" strike="noStrike">
                          <a:effectLst/>
                        </a:rPr>
                        <a:t>Condition de passage</a:t>
                      </a:r>
                      <a:endParaRPr lang="fr-FR" sz="700" b="0" i="0" u="none" strike="noStrike">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Acceptation</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Validation du responsable OSP</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Pas de blocage</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extLst>
                  <a:ext uri="{0D108BD9-81ED-4DB2-BD59-A6C34878D82A}">
                    <a16:rowId xmlns:a16="http://schemas.microsoft.com/office/drawing/2014/main" val="2868397702"/>
                  </a:ext>
                </a:extLst>
              </a:tr>
              <a:tr h="207334">
                <a:tc>
                  <a:txBody>
                    <a:bodyPr/>
                    <a:lstStyle/>
                    <a:p>
                      <a:pPr algn="ctr" fontAlgn="ctr"/>
                      <a:r>
                        <a:rPr lang="fr-FR" sz="700" u="none" strike="noStrike">
                          <a:effectLst/>
                        </a:rPr>
                        <a:t>Condition de blocage</a:t>
                      </a:r>
                      <a:endParaRPr lang="fr-FR" sz="700" b="0" i="0" u="none" strike="noStrike">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dirty="0">
                          <a:effectLst/>
                        </a:rPr>
                        <a:t> </a:t>
                      </a:r>
                      <a:endParaRPr lang="fr-FR" sz="700" b="0" i="0" u="none" strike="noStrike" dirty="0">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KO</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Non validation du responsable OSP</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Blocage</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NOK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extLst>
                  <a:ext uri="{0D108BD9-81ED-4DB2-BD59-A6C34878D82A}">
                    <a16:rowId xmlns:a16="http://schemas.microsoft.com/office/drawing/2014/main" val="1866075664"/>
                  </a:ext>
                </a:extLst>
              </a:tr>
              <a:tr h="309945">
                <a:tc>
                  <a:txBody>
                    <a:bodyPr/>
                    <a:lstStyle/>
                    <a:p>
                      <a:pPr algn="ctr" fontAlgn="ctr"/>
                      <a:r>
                        <a:rPr lang="fr-FR" sz="700" u="none" strike="noStrike">
                          <a:effectLst/>
                        </a:rPr>
                        <a:t>Actions suite blocage </a:t>
                      </a:r>
                      <a:endParaRPr lang="fr-FR" sz="700" b="0" i="0" u="none" strike="noStrike">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dirty="0">
                          <a:effectLst/>
                        </a:rPr>
                        <a:t> </a:t>
                      </a:r>
                      <a:endParaRPr lang="fr-FR" sz="700" b="0" i="0" u="none" strike="noStrike" dirty="0">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Lettre secrétariat général ou négociations (raccordement gratuit,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Modifications du responsable OSP</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Envoi d'indormations complémentaires de GVA</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Contrôle liasion bout en bout</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extLst>
                  <a:ext uri="{0D108BD9-81ED-4DB2-BD59-A6C34878D82A}">
                    <a16:rowId xmlns:a16="http://schemas.microsoft.com/office/drawing/2014/main" val="1396011218"/>
                  </a:ext>
                </a:extLst>
              </a:tr>
              <a:tr h="412555">
                <a:tc>
                  <a:txBody>
                    <a:bodyPr/>
                    <a:lstStyle/>
                    <a:p>
                      <a:pPr algn="ctr" fontAlgn="ctr"/>
                      <a:r>
                        <a:rPr lang="fr-FR" sz="700" u="none" strike="noStrike">
                          <a:effectLst/>
                        </a:rPr>
                        <a:t>Sortie</a:t>
                      </a:r>
                      <a:endParaRPr lang="fr-FR" sz="700" b="0" i="0" u="none" strike="noStrike">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dirty="0">
                          <a:effectLst/>
                        </a:rPr>
                        <a:t>Client raccordé</a:t>
                      </a:r>
                      <a:endParaRPr lang="fr-FR" sz="700" b="0" i="0" u="none" strike="noStrike" dirty="0">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zone à désaturer</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MDU autorisé par le syndic</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Enquête terrain validée</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Début des travaux</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Fin des travaux/Envoi rapport de construction</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Fin des travaux</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Document d'exécution (résultats des tests)</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dirty="0" err="1">
                          <a:effectLst/>
                        </a:rPr>
                        <a:t>Quality</a:t>
                      </a:r>
                      <a:r>
                        <a:rPr lang="fr-FR" sz="700" u="none" strike="noStrike" dirty="0">
                          <a:effectLst/>
                        </a:rPr>
                        <a:t> report vérifié &amp; Synoptique </a:t>
                      </a:r>
                      <a:r>
                        <a:rPr lang="fr-FR" sz="700" u="none" strike="noStrike" dirty="0" err="1">
                          <a:effectLst/>
                        </a:rPr>
                        <a:t>OTBs</a:t>
                      </a:r>
                      <a:r>
                        <a:rPr lang="fr-FR" sz="700" u="none" strike="noStrike" dirty="0">
                          <a:effectLst/>
                        </a:rPr>
                        <a:t> intégrée</a:t>
                      </a:r>
                      <a:endParaRPr lang="fr-FR" sz="700" b="0" i="0" u="none" strike="noStrike" dirty="0">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Clients actifs</a:t>
                      </a:r>
                      <a:endParaRPr lang="fr-FR" sz="700" b="0" i="0" u="none" strike="noStrike">
                        <a:solidFill>
                          <a:srgbClr val="000000"/>
                        </a:solidFill>
                        <a:effectLst/>
                        <a:latin typeface="Calibri" panose="020F0502020204030204" pitchFamily="34" charset="0"/>
                      </a:endParaRPr>
                    </a:p>
                  </a:txBody>
                  <a:tcPr marL="2511" marR="2511" marT="2511" marB="0" anchor="ctr"/>
                </a:tc>
                <a:extLst>
                  <a:ext uri="{0D108BD9-81ED-4DB2-BD59-A6C34878D82A}">
                    <a16:rowId xmlns:a16="http://schemas.microsoft.com/office/drawing/2014/main" val="2740001953"/>
                  </a:ext>
                </a:extLst>
              </a:tr>
              <a:tr h="104723">
                <a:tc>
                  <a:txBody>
                    <a:bodyPr/>
                    <a:lstStyle/>
                    <a:p>
                      <a:pPr algn="ctr" fontAlgn="ctr"/>
                      <a:r>
                        <a:rPr lang="fr-FR" sz="700" u="none" strike="noStrike">
                          <a:effectLst/>
                        </a:rPr>
                        <a:t>Bénéficiaire de l'output</a:t>
                      </a:r>
                      <a:endParaRPr lang="fr-FR" sz="700" b="0" i="0" u="none" strike="noStrike">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dirty="0">
                          <a:effectLst/>
                        </a:rPr>
                        <a:t> </a:t>
                      </a:r>
                      <a:endParaRPr lang="fr-FR" sz="700" b="0" i="0" u="none" strike="noStrike" dirty="0">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extLst>
                  <a:ext uri="{0D108BD9-81ED-4DB2-BD59-A6C34878D82A}">
                    <a16:rowId xmlns:a16="http://schemas.microsoft.com/office/drawing/2014/main" val="239342092"/>
                  </a:ext>
                </a:extLst>
              </a:tr>
              <a:tr h="689752">
                <a:tc>
                  <a:txBody>
                    <a:bodyPr/>
                    <a:lstStyle/>
                    <a:p>
                      <a:pPr algn="ctr" fontAlgn="ctr"/>
                      <a:r>
                        <a:rPr lang="fr-FR" sz="700" u="none" strike="noStrike" dirty="0">
                          <a:effectLst/>
                        </a:rPr>
                        <a:t>Commentaires</a:t>
                      </a:r>
                      <a:endParaRPr lang="fr-FR" sz="700" b="0" i="0" u="none" strike="noStrike" dirty="0">
                        <a:solidFill>
                          <a:srgbClr val="000000"/>
                        </a:solidFill>
                        <a:effectLst/>
                        <a:latin typeface="Arial Nova"/>
                      </a:endParaRPr>
                    </a:p>
                  </a:txBody>
                  <a:tcPr marL="2511" marR="2511" marT="2511" marB="0" anchor="ctr">
                    <a:solidFill>
                      <a:schemeClr val="accent5">
                        <a:lumMod val="20000"/>
                        <a:lumOff val="80000"/>
                      </a:schemeClr>
                    </a:solidFill>
                  </a:tcPr>
                </a:tc>
                <a:tc>
                  <a:txBody>
                    <a:bodyPr/>
                    <a:lstStyle/>
                    <a:p>
                      <a:pPr algn="ctr" fontAlgn="ctr"/>
                      <a:r>
                        <a:rPr lang="fr-FR" sz="700" u="none" strike="noStrike" dirty="0">
                          <a:effectLst/>
                        </a:rPr>
                        <a:t> </a:t>
                      </a:r>
                      <a:endParaRPr lang="fr-FR" sz="700" b="0" i="0" u="none" strike="noStrike" dirty="0">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FF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Possibilité d'intégrer à Pxo (ticket transmis pour monitoring)</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 </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a:effectLst/>
                        </a:rPr>
                        <a:t>*Activité en parallèle de la précédente</a:t>
                      </a:r>
                      <a:br>
                        <a:rPr lang="fr-FR" sz="700" u="none" strike="noStrike">
                          <a:effectLst/>
                        </a:rPr>
                      </a:br>
                      <a:r>
                        <a:rPr lang="fr-FR" sz="700" u="none" strike="noStrike">
                          <a:effectLst/>
                        </a:rPr>
                        <a:t>*Point d'attention : Le MDU ne doit être dans une seule zone d'influence</a:t>
                      </a:r>
                      <a:endParaRPr lang="fr-FR" sz="700" b="0" i="0" u="none" strike="noStrike">
                        <a:solidFill>
                          <a:srgbClr val="000000"/>
                        </a:solidFill>
                        <a:effectLst/>
                        <a:latin typeface="Calibri" panose="020F0502020204030204" pitchFamily="34" charset="0"/>
                      </a:endParaRPr>
                    </a:p>
                  </a:txBody>
                  <a:tcPr marL="2511" marR="2511" marT="2511" marB="0" anchor="ctr"/>
                </a:tc>
                <a:tc>
                  <a:txBody>
                    <a:bodyPr/>
                    <a:lstStyle/>
                    <a:p>
                      <a:pPr algn="ctr" fontAlgn="ctr"/>
                      <a:r>
                        <a:rPr lang="fr-FR" sz="700" u="none" strike="noStrike" dirty="0">
                          <a:effectLst/>
                        </a:rPr>
                        <a:t> </a:t>
                      </a:r>
                      <a:endParaRPr lang="fr-FR" sz="700" b="0" i="0" u="none" strike="noStrike" dirty="0">
                        <a:solidFill>
                          <a:srgbClr val="000000"/>
                        </a:solidFill>
                        <a:effectLst/>
                        <a:latin typeface="Calibri" panose="020F0502020204030204" pitchFamily="34" charset="0"/>
                      </a:endParaRPr>
                    </a:p>
                  </a:txBody>
                  <a:tcPr marL="2511" marR="2511" marT="2511" marB="0" anchor="ctr"/>
                </a:tc>
                <a:extLst>
                  <a:ext uri="{0D108BD9-81ED-4DB2-BD59-A6C34878D82A}">
                    <a16:rowId xmlns:a16="http://schemas.microsoft.com/office/drawing/2014/main" val="4247964608"/>
                  </a:ext>
                </a:extLst>
              </a:tr>
            </a:tbl>
          </a:graphicData>
        </a:graphic>
      </p:graphicFrame>
    </p:spTree>
    <p:extLst>
      <p:ext uri="{BB962C8B-B14F-4D97-AF65-F5344CB8AC3E}">
        <p14:creationId xmlns:p14="http://schemas.microsoft.com/office/powerpoint/2010/main" val="445263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Down Arrow Callout 26"/>
          <p:cNvSpPr/>
          <p:nvPr/>
        </p:nvSpPr>
        <p:spPr>
          <a:xfrm rot="10800000">
            <a:off x="4448487" y="2024512"/>
            <a:ext cx="2912043" cy="4314099"/>
          </a:xfrm>
          <a:prstGeom prst="downArrowCallout">
            <a:avLst>
              <a:gd name="adj1" fmla="val 25000"/>
              <a:gd name="adj2" fmla="val 6698"/>
              <a:gd name="adj3" fmla="val 4369"/>
              <a:gd name="adj4" fmla="val 97489"/>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7" name="Title 6"/>
          <p:cNvSpPr>
            <a:spLocks noGrp="1"/>
          </p:cNvSpPr>
          <p:nvPr>
            <p:ph type="title"/>
          </p:nvPr>
        </p:nvSpPr>
        <p:spPr>
          <a:xfrm>
            <a:off x="731494" y="483449"/>
            <a:ext cx="10727165" cy="332547"/>
          </a:xfrm>
        </p:spPr>
        <p:txBody>
          <a:bodyPr/>
          <a:lstStyle/>
          <a:p>
            <a:r>
              <a:rPr lang="en-US" dirty="0" err="1"/>
              <a:t>Bilan</a:t>
            </a:r>
            <a:r>
              <a:rPr lang="en-US" dirty="0"/>
              <a:t> de la </a:t>
            </a:r>
            <a:r>
              <a:rPr lang="en-US" dirty="0" err="1"/>
              <a:t>modélisation</a:t>
            </a:r>
            <a:r>
              <a:rPr lang="en-US" dirty="0"/>
              <a:t> </a:t>
            </a:r>
            <a:r>
              <a:rPr lang="fr-FR" dirty="0"/>
              <a:t>– Processus MDU</a:t>
            </a:r>
            <a:endParaRPr lang="en-US" dirty="0"/>
          </a:p>
        </p:txBody>
      </p:sp>
      <p:sp>
        <p:nvSpPr>
          <p:cNvPr id="34" name="Down Arrow Callout 33"/>
          <p:cNvSpPr/>
          <p:nvPr/>
        </p:nvSpPr>
        <p:spPr>
          <a:xfrm rot="10800000">
            <a:off x="680464" y="2024512"/>
            <a:ext cx="2915419" cy="4314099"/>
          </a:xfrm>
          <a:prstGeom prst="downArrowCallout">
            <a:avLst>
              <a:gd name="adj1" fmla="val 25000"/>
              <a:gd name="adj2" fmla="val 6698"/>
              <a:gd name="adj3" fmla="val 4369"/>
              <a:gd name="adj4" fmla="val 97489"/>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40" name="TextBox 39"/>
          <p:cNvSpPr txBox="1"/>
          <p:nvPr/>
        </p:nvSpPr>
        <p:spPr>
          <a:xfrm>
            <a:off x="680461" y="1127858"/>
            <a:ext cx="2915420" cy="1606594"/>
          </a:xfrm>
          <a:prstGeom prst="rect">
            <a:avLst/>
          </a:prstGeom>
          <a:noFill/>
        </p:spPr>
        <p:txBody>
          <a:bodyPr wrap="square" rtlCol="0">
            <a:spAutoFit/>
          </a:bodyPr>
          <a:lstStyle/>
          <a:p>
            <a:pPr algn="ctr" defTabSz="1219170">
              <a:spcBef>
                <a:spcPct val="20000"/>
              </a:spcBef>
              <a:defRPr/>
            </a:pPr>
            <a:r>
              <a:rPr lang="en-US" sz="2400" b="1" dirty="0">
                <a:solidFill>
                  <a:srgbClr val="80A3CA"/>
                </a:solidFill>
              </a:rPr>
              <a:t>Début/fin et scope </a:t>
            </a:r>
            <a:r>
              <a:rPr lang="en-US" sz="2400" b="1" dirty="0" err="1">
                <a:solidFill>
                  <a:srgbClr val="80A3CA"/>
                </a:solidFill>
              </a:rPr>
              <a:t>fonctionnel</a:t>
            </a:r>
            <a:endParaRPr lang="en-US" sz="2400" b="1" dirty="0">
              <a:solidFill>
                <a:srgbClr val="80A3CA"/>
              </a:solidFill>
            </a:endParaRPr>
          </a:p>
          <a:p>
            <a:pPr algn="ctr" defTabSz="1219170">
              <a:spcBef>
                <a:spcPct val="20000"/>
              </a:spcBef>
              <a:defRPr/>
            </a:pPr>
            <a:endParaRPr lang="en-US" sz="2400" b="1" dirty="0">
              <a:solidFill>
                <a:schemeClr val="accent5"/>
              </a:solidFill>
            </a:endParaRPr>
          </a:p>
          <a:p>
            <a:pPr defTabSz="1219170">
              <a:spcBef>
                <a:spcPct val="20000"/>
              </a:spcBef>
              <a:defRPr/>
            </a:pPr>
            <a:endParaRPr lang="en-US" dirty="0">
              <a:solidFill>
                <a:schemeClr val="accent5"/>
              </a:solidFill>
            </a:endParaRPr>
          </a:p>
        </p:txBody>
      </p:sp>
      <p:sp>
        <p:nvSpPr>
          <p:cNvPr id="42" name="TextBox 41"/>
          <p:cNvSpPr txBox="1"/>
          <p:nvPr/>
        </p:nvSpPr>
        <p:spPr>
          <a:xfrm>
            <a:off x="4448486" y="1336636"/>
            <a:ext cx="2912044" cy="461665"/>
          </a:xfrm>
          <a:prstGeom prst="rect">
            <a:avLst/>
          </a:prstGeom>
          <a:noFill/>
        </p:spPr>
        <p:txBody>
          <a:bodyPr wrap="square" rtlCol="0">
            <a:spAutoFit/>
          </a:bodyPr>
          <a:lstStyle>
            <a:defPPr>
              <a:defRPr lang="en-US"/>
            </a:defPPr>
            <a:lvl1pPr algn="ctr" defTabSz="1219170">
              <a:spcBef>
                <a:spcPct val="20000"/>
              </a:spcBef>
              <a:defRPr sz="2400" b="1">
                <a:solidFill>
                  <a:srgbClr val="80A3CA"/>
                </a:solidFill>
              </a:defRPr>
            </a:lvl1pPr>
          </a:lstStyle>
          <a:p>
            <a:r>
              <a:rPr lang="en-US" dirty="0" err="1">
                <a:solidFill>
                  <a:srgbClr val="005782"/>
                </a:solidFill>
              </a:rPr>
              <a:t>Niveau</a:t>
            </a:r>
            <a:r>
              <a:rPr lang="en-US" dirty="0">
                <a:solidFill>
                  <a:srgbClr val="005782"/>
                </a:solidFill>
              </a:rPr>
              <a:t> de </a:t>
            </a:r>
            <a:r>
              <a:rPr lang="en-US" dirty="0" err="1">
                <a:solidFill>
                  <a:srgbClr val="005782"/>
                </a:solidFill>
              </a:rPr>
              <a:t>granularité</a:t>
            </a:r>
            <a:endParaRPr lang="en-US" dirty="0">
              <a:solidFill>
                <a:srgbClr val="005782"/>
              </a:solidFill>
            </a:endParaRPr>
          </a:p>
        </p:txBody>
      </p:sp>
      <p:sp>
        <p:nvSpPr>
          <p:cNvPr id="16" name="Down Arrow Callout 15"/>
          <p:cNvSpPr/>
          <p:nvPr/>
        </p:nvSpPr>
        <p:spPr>
          <a:xfrm rot="10800000">
            <a:off x="8213135" y="2029047"/>
            <a:ext cx="2912044" cy="4305028"/>
          </a:xfrm>
          <a:prstGeom prst="downArrowCallout">
            <a:avLst>
              <a:gd name="adj1" fmla="val 25000"/>
              <a:gd name="adj2" fmla="val 6698"/>
              <a:gd name="adj3" fmla="val 4369"/>
              <a:gd name="adj4" fmla="val 97489"/>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7" name="TextBox 16"/>
          <p:cNvSpPr txBox="1"/>
          <p:nvPr/>
        </p:nvSpPr>
        <p:spPr>
          <a:xfrm>
            <a:off x="8213135" y="1151971"/>
            <a:ext cx="2865883" cy="830997"/>
          </a:xfrm>
          <a:prstGeom prst="rect">
            <a:avLst/>
          </a:prstGeom>
          <a:noFill/>
        </p:spPr>
        <p:txBody>
          <a:bodyPr wrap="square" rtlCol="0">
            <a:spAutoFit/>
          </a:bodyPr>
          <a:lstStyle>
            <a:defPPr>
              <a:defRPr lang="en-US"/>
            </a:defPPr>
            <a:lvl1pPr algn="ctr" defTabSz="1219170">
              <a:spcBef>
                <a:spcPct val="20000"/>
              </a:spcBef>
              <a:defRPr sz="2400" b="1">
                <a:solidFill>
                  <a:srgbClr val="005782"/>
                </a:solidFill>
              </a:defRPr>
            </a:lvl1pPr>
          </a:lstStyle>
          <a:p>
            <a:r>
              <a:rPr lang="en-US" dirty="0">
                <a:solidFill>
                  <a:srgbClr val="B5B5B5"/>
                </a:solidFill>
              </a:rPr>
              <a:t>Cohérence entre les processus</a:t>
            </a:r>
          </a:p>
        </p:txBody>
      </p:sp>
      <p:sp>
        <p:nvSpPr>
          <p:cNvPr id="3" name="ZoneTexte 2"/>
          <p:cNvSpPr txBox="1"/>
          <p:nvPr/>
        </p:nvSpPr>
        <p:spPr>
          <a:xfrm>
            <a:off x="834232" y="2219102"/>
            <a:ext cx="2607877" cy="3730097"/>
          </a:xfrm>
          <a:prstGeom prst="rect">
            <a:avLst/>
          </a:prstGeom>
          <a:noFill/>
        </p:spPr>
        <p:txBody>
          <a:bodyPr wrap="square" lIns="0" tIns="0" rIns="0" bIns="0" rtlCol="0">
            <a:noAutofit/>
          </a:bodyPr>
          <a:lstStyle/>
          <a:p>
            <a:endParaRPr lang="fr-FR" sz="1600" dirty="0">
              <a:solidFill>
                <a:schemeClr val="bg1"/>
              </a:solidFill>
            </a:endParaRPr>
          </a:p>
          <a:p>
            <a:r>
              <a:rPr lang="fr-FR" sz="1600" dirty="0">
                <a:solidFill>
                  <a:schemeClr val="bg1"/>
                </a:solidFill>
              </a:rPr>
              <a:t>Le choix de modélisation de deux processus a été fait car le cas de la Côte d’Ivoire reste particulier à date (Inversion du ratio OTB/OTBB + manque de maturité)</a:t>
            </a:r>
          </a:p>
          <a:p>
            <a:endParaRPr lang="fr-FR" sz="1600" b="1" dirty="0">
              <a:solidFill>
                <a:schemeClr val="bg1"/>
              </a:solidFill>
            </a:endParaRPr>
          </a:p>
          <a:p>
            <a:r>
              <a:rPr lang="fr-FR" sz="1600" b="1" dirty="0">
                <a:solidFill>
                  <a:schemeClr val="bg1"/>
                </a:solidFill>
              </a:rPr>
              <a:t>Début = </a:t>
            </a:r>
            <a:r>
              <a:rPr lang="fr-FR" sz="1600" dirty="0">
                <a:solidFill>
                  <a:schemeClr val="bg1"/>
                </a:solidFill>
              </a:rPr>
              <a:t>dimensionnement des zones d’influence (pas encore modélisé dans le cadre du projet)</a:t>
            </a:r>
          </a:p>
          <a:p>
            <a:r>
              <a:rPr lang="fr-FR" sz="1600" b="1" dirty="0">
                <a:solidFill>
                  <a:schemeClr val="bg1"/>
                </a:solidFill>
              </a:rPr>
              <a:t>Fin = </a:t>
            </a:r>
            <a:r>
              <a:rPr lang="fr-FR" sz="1600" dirty="0">
                <a:solidFill>
                  <a:schemeClr val="bg1"/>
                </a:solidFill>
              </a:rPr>
              <a:t>installation effective OTBB -&gt; ne tient donc pas compte de la partie ISP dans le MDU</a:t>
            </a:r>
          </a:p>
        </p:txBody>
      </p:sp>
      <p:sp>
        <p:nvSpPr>
          <p:cNvPr id="5" name="ZoneTexte 4"/>
          <p:cNvSpPr txBox="1"/>
          <p:nvPr/>
        </p:nvSpPr>
        <p:spPr>
          <a:xfrm>
            <a:off x="4552696" y="2385358"/>
            <a:ext cx="2744317" cy="3889263"/>
          </a:xfrm>
          <a:prstGeom prst="rect">
            <a:avLst/>
          </a:prstGeom>
          <a:noFill/>
        </p:spPr>
        <p:txBody>
          <a:bodyPr wrap="square" lIns="0" tIns="0" rIns="0" bIns="0" rtlCol="0">
            <a:noAutofit/>
          </a:bodyPr>
          <a:lstStyle>
            <a:defPPr>
              <a:defRPr lang="en-US"/>
            </a:defPPr>
            <a:lvl1pPr>
              <a:defRPr sz="1600">
                <a:solidFill>
                  <a:schemeClr val="bg1"/>
                </a:solidFill>
              </a:defRPr>
            </a:lvl1pPr>
          </a:lstStyle>
          <a:p>
            <a:r>
              <a:rPr lang="fr-FR" dirty="0">
                <a:sym typeface="Wingdings" panose="05000000000000000000" pitchFamily="2" charset="2"/>
              </a:rPr>
              <a:t>Besoin de précisions avec les métiers pour arbitrer sur un niveau de granularité adapté</a:t>
            </a:r>
          </a:p>
          <a:p>
            <a:endParaRPr lang="fr-FR" dirty="0">
              <a:sym typeface="Wingdings" panose="05000000000000000000" pitchFamily="2" charset="2"/>
            </a:endParaRPr>
          </a:p>
          <a:p>
            <a:r>
              <a:rPr lang="fr-FR" dirty="0">
                <a:sym typeface="Wingdings" panose="05000000000000000000" pitchFamily="2" charset="2"/>
              </a:rPr>
              <a:t>Métiers &amp; fonctions nouvelles suite à l’industrialisation (ex : rapporteur d’affaire &amp; enquêteur MDU OSP)</a:t>
            </a:r>
          </a:p>
          <a:p>
            <a:endParaRPr lang="fr-FR" dirty="0">
              <a:sym typeface="Wingdings" panose="05000000000000000000" pitchFamily="2" charset="2"/>
            </a:endParaRPr>
          </a:p>
        </p:txBody>
      </p:sp>
      <p:sp>
        <p:nvSpPr>
          <p:cNvPr id="6" name="ZoneTexte 5"/>
          <p:cNvSpPr txBox="1"/>
          <p:nvPr/>
        </p:nvSpPr>
        <p:spPr>
          <a:xfrm>
            <a:off x="8343255" y="2342963"/>
            <a:ext cx="2651804" cy="3677194"/>
          </a:xfrm>
          <a:prstGeom prst="rect">
            <a:avLst/>
          </a:prstGeom>
          <a:noFill/>
        </p:spPr>
        <p:txBody>
          <a:bodyPr wrap="square" lIns="0" tIns="0" rIns="0" bIns="0" rtlCol="0">
            <a:noAutofit/>
          </a:bodyPr>
          <a:lstStyle/>
          <a:p>
            <a:r>
              <a:rPr lang="fr-FR" sz="1600" dirty="0">
                <a:solidFill>
                  <a:schemeClr val="bg1"/>
                </a:solidFill>
              </a:rPr>
              <a:t>Ce processus découle du processus de dimensionnement des ZI. </a:t>
            </a:r>
          </a:p>
          <a:p>
            <a:r>
              <a:rPr lang="fr-FR" sz="1600" dirty="0">
                <a:solidFill>
                  <a:schemeClr val="bg1"/>
                </a:solidFill>
              </a:rPr>
              <a:t>Aussi, découlent de ce processus les processus de souscription et migration. -&gt; notion ISP à prendre en compte </a:t>
            </a:r>
          </a:p>
          <a:p>
            <a:endParaRPr lang="fr-FR" sz="1600" dirty="0">
              <a:solidFill>
                <a:schemeClr val="bg1"/>
              </a:solidFill>
            </a:endParaRPr>
          </a:p>
          <a:p>
            <a:r>
              <a:rPr lang="fr-FR" sz="1600" dirty="0">
                <a:solidFill>
                  <a:schemeClr val="bg1"/>
                </a:solidFill>
              </a:rPr>
              <a:t>Par exemple : processus installation ISP B2C</a:t>
            </a:r>
          </a:p>
          <a:p>
            <a:pPr marL="285750" indent="-285750">
              <a:buFont typeface="Arial" panose="020B0604020202020204" pitchFamily="34" charset="0"/>
              <a:buChar char="•"/>
            </a:pPr>
            <a:r>
              <a:rPr lang="fr-FR" sz="1600" dirty="0">
                <a:solidFill>
                  <a:schemeClr val="bg1"/>
                </a:solidFill>
              </a:rPr>
              <a:t>Le processus doit-il faire l’objet d’une déclinaison OTBB </a:t>
            </a:r>
          </a:p>
          <a:p>
            <a:pPr marL="285750" indent="-285750">
              <a:buFont typeface="Arial" panose="020B0604020202020204" pitchFamily="34" charset="0"/>
              <a:buChar char="•"/>
            </a:pPr>
            <a:r>
              <a:rPr lang="fr-FR" sz="1600" dirty="0">
                <a:solidFill>
                  <a:schemeClr val="bg1"/>
                </a:solidFill>
              </a:rPr>
              <a:t>L’activité « Raccordement » doit elle faire l’objet d’une déclinaison OTBB</a:t>
            </a:r>
          </a:p>
        </p:txBody>
      </p:sp>
    </p:spTree>
    <p:extLst>
      <p:ext uri="{BB962C8B-B14F-4D97-AF65-F5344CB8AC3E}">
        <p14:creationId xmlns:p14="http://schemas.microsoft.com/office/powerpoint/2010/main" val="3202074881"/>
      </p:ext>
    </p:extLst>
  </p:cSld>
  <p:clrMapOvr>
    <a:masterClrMapping/>
  </p:clrMapOvr>
  <mc:AlternateContent xmlns:mc="http://schemas.openxmlformats.org/markup-compatibility/2006" xmlns:p14="http://schemas.microsoft.com/office/powerpoint/2010/main">
    <mc:Choice Requires="p14">
      <p:transition p14:dur="0" advTm="6000"/>
    </mc:Choice>
    <mc:Fallback xmlns="">
      <p:transition advTm="6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8B5E453-5ACD-4E50-B4FA-E9A416348C3C}"/>
              </a:ext>
            </a:extLst>
          </p:cNvPr>
          <p:cNvSpPr>
            <a:spLocks noGrp="1"/>
          </p:cNvSpPr>
          <p:nvPr>
            <p:ph type="title"/>
          </p:nvPr>
        </p:nvSpPr>
        <p:spPr/>
        <p:txBody>
          <a:bodyPr/>
          <a:lstStyle/>
          <a:p>
            <a:r>
              <a:rPr lang="fr-FR" dirty="0"/>
              <a:t>Gestion des allocations ports GPON</a:t>
            </a:r>
          </a:p>
        </p:txBody>
      </p:sp>
    </p:spTree>
    <p:extLst>
      <p:ext uri="{BB962C8B-B14F-4D97-AF65-F5344CB8AC3E}">
        <p14:creationId xmlns:p14="http://schemas.microsoft.com/office/powerpoint/2010/main" val="2275509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929475AE-8A99-40E0-A0FC-4BDEA55E9881}"/>
              </a:ext>
            </a:extLst>
          </p:cNvPr>
          <p:cNvSpPr>
            <a:spLocks noGrp="1"/>
          </p:cNvSpPr>
          <p:nvPr>
            <p:ph idx="1"/>
          </p:nvPr>
        </p:nvSpPr>
        <p:spPr>
          <a:xfrm>
            <a:off x="544421" y="1297710"/>
            <a:ext cx="11014187" cy="5485646"/>
          </a:xfrm>
        </p:spPr>
        <p:txBody>
          <a:bodyPr/>
          <a:lstStyle/>
          <a:p>
            <a:pPr marL="171450" lvl="0" indent="-171450">
              <a:buFont typeface="Wingdings" panose="05000000000000000000" pitchFamily="2" charset="2"/>
              <a:buChar char="q"/>
            </a:pPr>
            <a:r>
              <a:rPr lang="fr-FR" sz="2800" b="1" dirty="0">
                <a:solidFill>
                  <a:schemeClr val="accent2"/>
                </a:solidFill>
              </a:rPr>
              <a:t> Rappel sur double enjeux </a:t>
            </a:r>
            <a:r>
              <a:rPr lang="fr-FR" sz="2800" dirty="0">
                <a:solidFill>
                  <a:schemeClr val="accent2">
                    <a:lumMod val="75000"/>
                  </a:schemeClr>
                </a:solidFill>
                <a:effectLst/>
                <a:latin typeface="Calibri" panose="020F0502020204030204" pitchFamily="34" charset="0"/>
                <a:ea typeface="Times New Roman" panose="02020603050405020304" pitchFamily="18" charset="0"/>
              </a:rPr>
              <a:t>: </a:t>
            </a:r>
          </a:p>
          <a:p>
            <a:pPr lvl="0"/>
            <a:endParaRPr lang="fr-FR" sz="2800" dirty="0">
              <a:solidFill>
                <a:schemeClr val="accent2">
                  <a:lumMod val="75000"/>
                </a:schemeClr>
              </a:solidFill>
              <a:effectLst/>
              <a:latin typeface="Calibri" panose="020F0502020204030204" pitchFamily="34" charset="0"/>
              <a:ea typeface="Calibri" panose="020F0502020204030204" pitchFamily="34" charset="0"/>
            </a:endParaRPr>
          </a:p>
          <a:p>
            <a:pPr marL="800100" lvl="1" indent="-342900">
              <a:spcBef>
                <a:spcPts val="300"/>
              </a:spcBef>
              <a:buFont typeface="Wingdings" panose="05000000000000000000" pitchFamily="2" charset="2"/>
              <a:buChar char="§"/>
            </a:pPr>
            <a:r>
              <a:rPr lang="fr-FR" b="1" dirty="0">
                <a:effectLst/>
                <a:latin typeface="Calibri" panose="020F0502020204030204" pitchFamily="34" charset="0"/>
                <a:ea typeface="Times New Roman" panose="02020603050405020304" pitchFamily="18" charset="0"/>
              </a:rPr>
              <a:t>Optimisation de la consommation </a:t>
            </a:r>
            <a:r>
              <a:rPr lang="fr-FR" dirty="0">
                <a:effectLst/>
                <a:latin typeface="Calibri" panose="020F0502020204030204" pitchFamily="34" charset="0"/>
                <a:ea typeface="Times New Roman" panose="02020603050405020304" pitchFamily="18" charset="0"/>
              </a:rPr>
              <a:t>des arbres GPON tout en limitant la dispersion en distance optique des arbres</a:t>
            </a:r>
          </a:p>
          <a:p>
            <a:pPr marL="800100" lvl="1" indent="-342900">
              <a:spcBef>
                <a:spcPts val="300"/>
              </a:spcBef>
              <a:buFont typeface="Wingdings" panose="05000000000000000000" pitchFamily="2" charset="2"/>
              <a:buChar char="§"/>
            </a:pPr>
            <a:endParaRPr lang="fr-FR" dirty="0">
              <a:effectLst/>
              <a:latin typeface="Calibri" panose="020F0502020204030204" pitchFamily="34" charset="0"/>
              <a:ea typeface="Calibri" panose="020F0502020204030204" pitchFamily="34" charset="0"/>
            </a:endParaRPr>
          </a:p>
          <a:p>
            <a:pPr marL="800100" lvl="1" indent="-342900">
              <a:spcBef>
                <a:spcPts val="300"/>
              </a:spcBef>
              <a:buFont typeface="Wingdings" panose="05000000000000000000" pitchFamily="2" charset="2"/>
              <a:buChar char="§"/>
            </a:pPr>
            <a:r>
              <a:rPr lang="fr-FR" b="1" dirty="0">
                <a:effectLst/>
                <a:latin typeface="Calibri" panose="020F0502020204030204" pitchFamily="34" charset="0"/>
                <a:ea typeface="Times New Roman" panose="02020603050405020304" pitchFamily="18" charset="0"/>
              </a:rPr>
              <a:t>Réduction des KO installations </a:t>
            </a:r>
            <a:r>
              <a:rPr lang="fr-FR" dirty="0">
                <a:effectLst/>
                <a:latin typeface="Calibri" panose="020F0502020204030204" pitchFamily="34" charset="0"/>
                <a:ea typeface="Times New Roman" panose="02020603050405020304" pitchFamily="18" charset="0"/>
              </a:rPr>
              <a:t>pour « Absence signal à l’OTB » = 20% des </a:t>
            </a:r>
            <a:r>
              <a:rPr lang="fr-FR" dirty="0" err="1">
                <a:effectLst/>
                <a:latin typeface="Calibri" panose="020F0502020204030204" pitchFamily="34" charset="0"/>
                <a:ea typeface="Times New Roman" panose="02020603050405020304" pitchFamily="18" charset="0"/>
              </a:rPr>
              <a:t>KOs</a:t>
            </a:r>
            <a:r>
              <a:rPr lang="fr-FR" dirty="0">
                <a:effectLst/>
                <a:latin typeface="Calibri" panose="020F0502020204030204" pitchFamily="34" charset="0"/>
                <a:ea typeface="Times New Roman" panose="02020603050405020304" pitchFamily="18" charset="0"/>
              </a:rPr>
              <a:t> du mois de Septembre</a:t>
            </a:r>
          </a:p>
          <a:p>
            <a:endParaRPr lang="fr-FR" sz="2000" dirty="0"/>
          </a:p>
        </p:txBody>
      </p:sp>
      <p:sp>
        <p:nvSpPr>
          <p:cNvPr id="3" name="Titre 2">
            <a:extLst>
              <a:ext uri="{FF2B5EF4-FFF2-40B4-BE49-F238E27FC236}">
                <a16:creationId xmlns:a16="http://schemas.microsoft.com/office/drawing/2014/main" id="{E07FB907-C046-413A-8B20-BD54FD95D1AC}"/>
              </a:ext>
            </a:extLst>
          </p:cNvPr>
          <p:cNvSpPr>
            <a:spLocks noGrp="1"/>
          </p:cNvSpPr>
          <p:nvPr>
            <p:ph type="title"/>
          </p:nvPr>
        </p:nvSpPr>
        <p:spPr>
          <a:xfrm>
            <a:off x="544421" y="445245"/>
            <a:ext cx="10727165" cy="332547"/>
          </a:xfrm>
        </p:spPr>
        <p:txBody>
          <a:bodyPr/>
          <a:lstStyle/>
          <a:p>
            <a:r>
              <a:rPr lang="fr-FR" dirty="0"/>
              <a:t>Focus sur la gestion des allocations de ports GPON</a:t>
            </a:r>
          </a:p>
        </p:txBody>
      </p:sp>
    </p:spTree>
    <p:extLst>
      <p:ext uri="{BB962C8B-B14F-4D97-AF65-F5344CB8AC3E}">
        <p14:creationId xmlns:p14="http://schemas.microsoft.com/office/powerpoint/2010/main" val="3593038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929475AE-8A99-40E0-A0FC-4BDEA55E9881}"/>
              </a:ext>
            </a:extLst>
          </p:cNvPr>
          <p:cNvSpPr>
            <a:spLocks noGrp="1"/>
          </p:cNvSpPr>
          <p:nvPr>
            <p:ph idx="1"/>
          </p:nvPr>
        </p:nvSpPr>
        <p:spPr>
          <a:xfrm>
            <a:off x="699797" y="1083106"/>
            <a:ext cx="11094098" cy="5485646"/>
          </a:xfrm>
        </p:spPr>
        <p:txBody>
          <a:bodyPr/>
          <a:lstStyle/>
          <a:p>
            <a:pPr marL="171450" lvl="0" indent="-171450">
              <a:buFont typeface="Wingdings" panose="05000000000000000000" pitchFamily="2" charset="2"/>
              <a:buChar char="q"/>
            </a:pPr>
            <a:r>
              <a:rPr lang="fr-FR" sz="1800" b="1" dirty="0">
                <a:solidFill>
                  <a:schemeClr val="accent2"/>
                </a:solidFill>
              </a:rPr>
              <a:t>Lors du Design / Projet Zone : </a:t>
            </a:r>
          </a:p>
          <a:p>
            <a:pPr marL="742950" lvl="1" indent="-285750">
              <a:spcBef>
                <a:spcPts val="300"/>
              </a:spcBef>
              <a:buFont typeface="Wingdings" panose="05000000000000000000" pitchFamily="2" charset="2"/>
              <a:buChar char="§"/>
            </a:pPr>
            <a:r>
              <a:rPr lang="fr-FR" sz="1600" dirty="0">
                <a:effectLst/>
                <a:latin typeface="Calibri" panose="020F0502020204030204" pitchFamily="34" charset="0"/>
                <a:ea typeface="Times New Roman" panose="02020603050405020304" pitchFamily="18" charset="0"/>
              </a:rPr>
              <a:t>Pas d’allocation OLT pour les OTBB prévus</a:t>
            </a:r>
            <a:endParaRPr lang="fr-FR" sz="1600" dirty="0">
              <a:effectLst/>
              <a:latin typeface="Calibri" panose="020F0502020204030204" pitchFamily="34" charset="0"/>
              <a:ea typeface="Calibri" panose="020F0502020204030204" pitchFamily="34" charset="0"/>
            </a:endParaRPr>
          </a:p>
          <a:p>
            <a:pPr marL="742950" lvl="1" indent="-285750">
              <a:spcBef>
                <a:spcPts val="300"/>
              </a:spcBef>
              <a:buFont typeface="Wingdings" panose="05000000000000000000" pitchFamily="2" charset="2"/>
              <a:buChar char="§"/>
            </a:pPr>
            <a:r>
              <a:rPr lang="fr-FR" sz="1600" dirty="0">
                <a:effectLst/>
                <a:latin typeface="Calibri" panose="020F0502020204030204" pitchFamily="34" charset="0"/>
                <a:ea typeface="Times New Roman" panose="02020603050405020304" pitchFamily="18" charset="0"/>
              </a:rPr>
              <a:t>Pour chaque </a:t>
            </a:r>
            <a:r>
              <a:rPr lang="fr-FR" sz="1600" dirty="0" err="1">
                <a:effectLst/>
                <a:latin typeface="Calibri" panose="020F0502020204030204" pitchFamily="34" charset="0"/>
                <a:ea typeface="Times New Roman" panose="02020603050405020304" pitchFamily="18" charset="0"/>
              </a:rPr>
              <a:t>trunk</a:t>
            </a:r>
            <a:r>
              <a:rPr lang="fr-FR" sz="1600" dirty="0">
                <a:effectLst/>
                <a:latin typeface="Calibri" panose="020F0502020204030204" pitchFamily="34" charset="0"/>
                <a:ea typeface="Times New Roman" panose="02020603050405020304" pitchFamily="18" charset="0"/>
              </a:rPr>
              <a:t>, découpage en 2 segments d’environ 2km dans lesquels on répartie les </a:t>
            </a:r>
            <a:r>
              <a:rPr lang="fr-FR" sz="1600" dirty="0" err="1">
                <a:effectLst/>
                <a:latin typeface="Calibri" panose="020F0502020204030204" pitchFamily="34" charset="0"/>
                <a:ea typeface="Times New Roman" panose="02020603050405020304" pitchFamily="18" charset="0"/>
              </a:rPr>
              <a:t>OTBs</a:t>
            </a:r>
            <a:r>
              <a:rPr lang="fr-FR" sz="1600" dirty="0">
                <a:effectLst/>
                <a:latin typeface="Calibri" panose="020F0502020204030204" pitchFamily="34" charset="0"/>
                <a:ea typeface="Times New Roman" panose="02020603050405020304" pitchFamily="18" charset="0"/>
              </a:rPr>
              <a:t> + OTBB prévus afin de vérifier que les arbres </a:t>
            </a:r>
            <a:r>
              <a:rPr lang="fr-FR" sz="1600" dirty="0" err="1">
                <a:effectLst/>
                <a:latin typeface="Calibri" panose="020F0502020204030204" pitchFamily="34" charset="0"/>
                <a:ea typeface="Times New Roman" panose="02020603050405020304" pitchFamily="18" charset="0"/>
              </a:rPr>
              <a:t>pon</a:t>
            </a:r>
            <a:r>
              <a:rPr lang="fr-FR" sz="1600" dirty="0">
                <a:effectLst/>
                <a:latin typeface="Calibri" panose="020F0502020204030204" pitchFamily="34" charset="0"/>
                <a:ea typeface="Times New Roman" panose="02020603050405020304" pitchFamily="18" charset="0"/>
              </a:rPr>
              <a:t> qui seront produits ont une dispersion optique de moins de 2km</a:t>
            </a:r>
            <a:endParaRPr lang="fr-FR" sz="1600" dirty="0">
              <a:effectLst/>
              <a:latin typeface="Calibri" panose="020F0502020204030204" pitchFamily="34" charset="0"/>
              <a:ea typeface="Calibri" panose="020F0502020204030204" pitchFamily="34" charset="0"/>
            </a:endParaRPr>
          </a:p>
          <a:p>
            <a:pPr lvl="0"/>
            <a:endParaRPr lang="fr-FR" sz="1800" b="1" dirty="0">
              <a:solidFill>
                <a:schemeClr val="accent2"/>
              </a:solidFill>
              <a:latin typeface="Calibri" panose="020F0502020204030204" pitchFamily="34" charset="0"/>
            </a:endParaRPr>
          </a:p>
          <a:p>
            <a:pPr marL="285750" lvl="0" indent="-285750">
              <a:buFont typeface="Wingdings" panose="05000000000000000000" pitchFamily="2" charset="2"/>
              <a:buChar char="q"/>
            </a:pPr>
            <a:r>
              <a:rPr lang="fr-FR" sz="1800" b="1" dirty="0">
                <a:solidFill>
                  <a:schemeClr val="accent2"/>
                </a:solidFill>
              </a:rPr>
              <a:t>Lors du Survey :</a:t>
            </a:r>
          </a:p>
          <a:p>
            <a:pPr marL="742950" lvl="1" indent="-285750">
              <a:spcBef>
                <a:spcPts val="300"/>
              </a:spcBef>
              <a:buFont typeface="Wingdings" panose="05000000000000000000" pitchFamily="2" charset="2"/>
              <a:buChar char="§"/>
            </a:pPr>
            <a:r>
              <a:rPr lang="fr-FR" sz="1600" dirty="0">
                <a:effectLst/>
                <a:latin typeface="Calibri" panose="020F0502020204030204" pitchFamily="34" charset="0"/>
                <a:ea typeface="Times New Roman" panose="02020603050405020304" pitchFamily="18" charset="0"/>
              </a:rPr>
              <a:t>Attribution du port </a:t>
            </a:r>
            <a:r>
              <a:rPr lang="fr-FR" sz="1600" dirty="0" err="1">
                <a:effectLst/>
                <a:latin typeface="Calibri" panose="020F0502020204030204" pitchFamily="34" charset="0"/>
                <a:ea typeface="Times New Roman" panose="02020603050405020304" pitchFamily="18" charset="0"/>
              </a:rPr>
              <a:t>olt</a:t>
            </a:r>
            <a:r>
              <a:rPr lang="fr-FR" sz="1600" dirty="0">
                <a:effectLst/>
                <a:latin typeface="Calibri" panose="020F0502020204030204" pitchFamily="34" charset="0"/>
                <a:ea typeface="Times New Roman" panose="02020603050405020304" pitchFamily="18" charset="0"/>
              </a:rPr>
              <a:t> et le splitter de 1</a:t>
            </a:r>
            <a:r>
              <a:rPr lang="fr-FR" sz="1600" baseline="30000" dirty="0">
                <a:effectLst/>
                <a:latin typeface="Calibri" panose="020F0502020204030204" pitchFamily="34" charset="0"/>
                <a:ea typeface="Times New Roman" panose="02020603050405020304" pitchFamily="18" charset="0"/>
              </a:rPr>
              <a:t>er</a:t>
            </a:r>
            <a:r>
              <a:rPr lang="fr-FR" sz="1600" dirty="0">
                <a:effectLst/>
                <a:latin typeface="Calibri" panose="020F0502020204030204" pitchFamily="34" charset="0"/>
                <a:ea typeface="Times New Roman" panose="02020603050405020304" pitchFamily="18" charset="0"/>
              </a:rPr>
              <a:t> niveau de l’OTBB dans la phase de préparation du Work </a:t>
            </a:r>
            <a:r>
              <a:rPr lang="fr-FR" sz="1600" dirty="0" err="1">
                <a:effectLst/>
                <a:latin typeface="Calibri" panose="020F0502020204030204" pitchFamily="34" charset="0"/>
                <a:ea typeface="Times New Roman" panose="02020603050405020304" pitchFamily="18" charset="0"/>
              </a:rPr>
              <a:t>Order</a:t>
            </a:r>
            <a:r>
              <a:rPr lang="fr-FR" sz="1600" dirty="0">
                <a:effectLst/>
                <a:latin typeface="Calibri" panose="020F0502020204030204" pitchFamily="34" charset="0"/>
                <a:ea typeface="Times New Roman" panose="02020603050405020304" pitchFamily="18" charset="0"/>
              </a:rPr>
              <a:t> MDU (après </a:t>
            </a:r>
            <a:r>
              <a:rPr lang="fr-FR" sz="1600" dirty="0" err="1">
                <a:effectLst/>
                <a:latin typeface="Calibri" panose="020F0502020204030204" pitchFamily="34" charset="0"/>
                <a:ea typeface="Times New Roman" panose="02020603050405020304" pitchFamily="18" charset="0"/>
              </a:rPr>
              <a:t>survey</a:t>
            </a:r>
            <a:r>
              <a:rPr lang="fr-FR" sz="1600" dirty="0">
                <a:effectLst/>
                <a:latin typeface="Calibri" panose="020F0502020204030204" pitchFamily="34" charset="0"/>
                <a:ea typeface="Times New Roman" panose="02020603050405020304" pitchFamily="18" charset="0"/>
              </a:rPr>
              <a:t> physique et accord de construction de la part du propriétaire)</a:t>
            </a:r>
            <a:endParaRPr lang="fr-FR" sz="1600" dirty="0">
              <a:effectLst/>
              <a:latin typeface="Calibri" panose="020F0502020204030204" pitchFamily="34" charset="0"/>
              <a:ea typeface="Calibri" panose="020F0502020204030204" pitchFamily="34" charset="0"/>
            </a:endParaRPr>
          </a:p>
          <a:p>
            <a:pPr marL="742950" lvl="1" indent="-285750">
              <a:spcBef>
                <a:spcPts val="300"/>
              </a:spcBef>
              <a:buFont typeface="Wingdings" panose="05000000000000000000" pitchFamily="2" charset="2"/>
              <a:buChar char="§"/>
            </a:pPr>
            <a:r>
              <a:rPr lang="fr-FR" sz="1600" dirty="0">
                <a:effectLst/>
                <a:latin typeface="Calibri" panose="020F0502020204030204" pitchFamily="34" charset="0"/>
                <a:ea typeface="Times New Roman" panose="02020603050405020304" pitchFamily="18" charset="0"/>
              </a:rPr>
              <a:t>Inclusion du synoptique </a:t>
            </a:r>
            <a:r>
              <a:rPr lang="fr-FR" sz="1600" dirty="0" err="1">
                <a:effectLst/>
                <a:latin typeface="Calibri" panose="020F0502020204030204" pitchFamily="34" charset="0"/>
                <a:ea typeface="Times New Roman" panose="02020603050405020304" pitchFamily="18" charset="0"/>
              </a:rPr>
              <a:t>olt-otb</a:t>
            </a:r>
            <a:r>
              <a:rPr lang="fr-FR" sz="1600" dirty="0">
                <a:effectLst/>
                <a:latin typeface="Calibri" panose="020F0502020204030204" pitchFamily="34" charset="0"/>
                <a:ea typeface="Times New Roman" panose="02020603050405020304" pitchFamily="18" charset="0"/>
              </a:rPr>
              <a:t> end-to-end dans le </a:t>
            </a:r>
            <a:r>
              <a:rPr lang="fr-FR" sz="1600" dirty="0" err="1">
                <a:effectLst/>
                <a:latin typeface="Calibri" panose="020F0502020204030204" pitchFamily="34" charset="0"/>
                <a:ea typeface="Times New Roman" panose="02020603050405020304" pitchFamily="18" charset="0"/>
              </a:rPr>
              <a:t>survey</a:t>
            </a:r>
            <a:r>
              <a:rPr lang="fr-FR" sz="1600" dirty="0">
                <a:effectLst/>
                <a:latin typeface="Calibri" panose="020F0502020204030204" pitchFamily="34" charset="0"/>
                <a:ea typeface="Times New Roman" panose="02020603050405020304" pitchFamily="18" charset="0"/>
              </a:rPr>
              <a:t> qui est transmis à </a:t>
            </a:r>
            <a:r>
              <a:rPr lang="fr-FR" sz="1600" dirty="0" err="1">
                <a:effectLst/>
                <a:latin typeface="Calibri" panose="020F0502020204030204" pitchFamily="34" charset="0"/>
                <a:ea typeface="Times New Roman" panose="02020603050405020304" pitchFamily="18" charset="0"/>
              </a:rPr>
              <a:t>Teknotel</a:t>
            </a:r>
            <a:r>
              <a:rPr lang="fr-FR" sz="1600" dirty="0">
                <a:effectLst/>
                <a:latin typeface="Calibri" panose="020F0502020204030204" pitchFamily="34" charset="0"/>
                <a:ea typeface="Times New Roman" panose="02020603050405020304" pitchFamily="18" charset="0"/>
              </a:rPr>
              <a:t> pour construction</a:t>
            </a:r>
          </a:p>
          <a:p>
            <a:pPr marL="457200" lvl="1">
              <a:spcBef>
                <a:spcPts val="300"/>
              </a:spcBef>
            </a:pPr>
            <a:endParaRPr lang="fr-FR" sz="1800" dirty="0">
              <a:effectLst/>
              <a:latin typeface="Calibri" panose="020F0502020204030204" pitchFamily="34" charset="0"/>
              <a:ea typeface="Calibri" panose="020F0502020204030204" pitchFamily="34" charset="0"/>
            </a:endParaRPr>
          </a:p>
          <a:p>
            <a:pPr marL="171450" indent="-171450">
              <a:buFont typeface="Wingdings" panose="05000000000000000000" pitchFamily="2" charset="2"/>
              <a:buChar char="q"/>
            </a:pPr>
            <a:r>
              <a:rPr lang="fr-FR" sz="1800" b="1" dirty="0">
                <a:solidFill>
                  <a:schemeClr val="accent2"/>
                </a:solidFill>
              </a:rPr>
              <a:t>Activation et </a:t>
            </a:r>
            <a:r>
              <a:rPr lang="fr-FR" sz="1800" b="1" dirty="0" err="1">
                <a:solidFill>
                  <a:schemeClr val="accent2"/>
                </a:solidFill>
              </a:rPr>
              <a:t>patching</a:t>
            </a:r>
            <a:r>
              <a:rPr lang="fr-FR" sz="1800" b="1" dirty="0">
                <a:solidFill>
                  <a:schemeClr val="accent2"/>
                </a:solidFill>
              </a:rPr>
              <a:t> du port OLT : </a:t>
            </a:r>
          </a:p>
          <a:p>
            <a:pPr marL="742950" lvl="1" indent="-285750">
              <a:buFont typeface="Wingdings" panose="05000000000000000000" pitchFamily="2" charset="2"/>
              <a:buChar char="§"/>
            </a:pPr>
            <a:r>
              <a:rPr lang="fr-FR" sz="1600" dirty="0">
                <a:effectLst/>
                <a:latin typeface="Calibri" panose="020F0502020204030204" pitchFamily="34" charset="0"/>
                <a:ea typeface="Times New Roman" panose="02020603050405020304" pitchFamily="18" charset="0"/>
              </a:rPr>
              <a:t>1 action d’activation et </a:t>
            </a:r>
            <a:r>
              <a:rPr lang="fr-FR" sz="1600" dirty="0" err="1">
                <a:effectLst/>
                <a:latin typeface="Calibri" panose="020F0502020204030204" pitchFamily="34" charset="0"/>
                <a:ea typeface="Times New Roman" panose="02020603050405020304" pitchFamily="18" charset="0"/>
              </a:rPr>
              <a:t>patching</a:t>
            </a:r>
            <a:r>
              <a:rPr lang="fr-FR" sz="1600" dirty="0">
                <a:effectLst/>
                <a:latin typeface="Calibri" panose="020F0502020204030204" pitchFamily="34" charset="0"/>
                <a:ea typeface="Times New Roman" panose="02020603050405020304" pitchFamily="18" charset="0"/>
              </a:rPr>
              <a:t> OLT à prévoir par semaine</a:t>
            </a:r>
          </a:p>
          <a:p>
            <a:pPr marL="457200" lvl="1"/>
            <a:endParaRPr lang="fr-FR" sz="1800" dirty="0">
              <a:effectLst/>
              <a:latin typeface="Calibri" panose="020F0502020204030204" pitchFamily="34" charset="0"/>
              <a:ea typeface="Calibri" panose="020F0502020204030204" pitchFamily="34" charset="0"/>
            </a:endParaRPr>
          </a:p>
          <a:p>
            <a:pPr marL="171450" lvl="0" indent="-171450">
              <a:buFont typeface="Wingdings" panose="05000000000000000000" pitchFamily="2" charset="2"/>
              <a:buChar char="q"/>
            </a:pPr>
            <a:r>
              <a:rPr lang="fr-FR" sz="1800" b="1" dirty="0">
                <a:solidFill>
                  <a:schemeClr val="accent2"/>
                </a:solidFill>
              </a:rPr>
              <a:t>Lors de la construction du MDU :</a:t>
            </a:r>
          </a:p>
          <a:p>
            <a:pPr marL="742950" lvl="1" indent="-285750">
              <a:spcBef>
                <a:spcPts val="300"/>
              </a:spcBef>
              <a:buFont typeface="Wingdings" panose="05000000000000000000" pitchFamily="2" charset="2"/>
              <a:buChar char="§"/>
            </a:pPr>
            <a:r>
              <a:rPr lang="fr-FR" sz="1600" dirty="0">
                <a:effectLst/>
                <a:latin typeface="Calibri" panose="020F0502020204030204" pitchFamily="34" charset="0"/>
                <a:ea typeface="Times New Roman" panose="02020603050405020304" pitchFamily="18" charset="0"/>
              </a:rPr>
              <a:t>Test continuité et de qualification optique [ODF </a:t>
            </a:r>
            <a:r>
              <a:rPr lang="fr-FR" sz="1600" dirty="0" err="1">
                <a:effectLst/>
                <a:latin typeface="Calibri" panose="020F0502020204030204" pitchFamily="34" charset="0"/>
                <a:ea typeface="Times New Roman" panose="02020603050405020304" pitchFamily="18" charset="0"/>
              </a:rPr>
              <a:t>Trunk</a:t>
            </a:r>
            <a:r>
              <a:rPr lang="fr-FR" sz="1600" dirty="0">
                <a:effectLst/>
                <a:latin typeface="Calibri" panose="020F0502020204030204" pitchFamily="34" charset="0"/>
                <a:ea typeface="Times New Roman" panose="02020603050405020304" pitchFamily="18" charset="0"/>
              </a:rPr>
              <a:t> – OTB], </a:t>
            </a:r>
            <a:r>
              <a:rPr lang="fr-FR" sz="1600" dirty="0" err="1">
                <a:effectLst/>
                <a:latin typeface="Calibri" panose="020F0502020204030204" pitchFamily="34" charset="0"/>
                <a:ea typeface="Times New Roman" panose="02020603050405020304" pitchFamily="18" charset="0"/>
              </a:rPr>
              <a:t>Teknotel</a:t>
            </a:r>
            <a:endParaRPr lang="fr-FR" sz="1600" dirty="0">
              <a:effectLst/>
              <a:latin typeface="Calibri" panose="020F0502020204030204" pitchFamily="34" charset="0"/>
              <a:ea typeface="Calibri" panose="020F0502020204030204" pitchFamily="34" charset="0"/>
            </a:endParaRPr>
          </a:p>
          <a:p>
            <a:pPr marL="742950" lvl="1" indent="-285750">
              <a:spcBef>
                <a:spcPts val="300"/>
              </a:spcBef>
              <a:buFont typeface="Wingdings" panose="05000000000000000000" pitchFamily="2" charset="2"/>
              <a:buChar char="§"/>
            </a:pPr>
            <a:r>
              <a:rPr lang="fr-FR" sz="1600" dirty="0" err="1">
                <a:effectLst/>
                <a:latin typeface="Calibri" panose="020F0502020204030204" pitchFamily="34" charset="0"/>
                <a:ea typeface="Times New Roman" panose="02020603050405020304" pitchFamily="18" charset="0"/>
              </a:rPr>
              <a:t>Patching</a:t>
            </a:r>
            <a:r>
              <a:rPr lang="fr-FR" sz="1600" dirty="0">
                <a:effectLst/>
                <a:latin typeface="Calibri" panose="020F0502020204030204" pitchFamily="34" charset="0"/>
                <a:ea typeface="Times New Roman" panose="02020603050405020304" pitchFamily="18" charset="0"/>
              </a:rPr>
              <a:t> splitter 1</a:t>
            </a:r>
            <a:r>
              <a:rPr lang="fr-FR" sz="1600" baseline="30000" dirty="0">
                <a:effectLst/>
                <a:latin typeface="Calibri" panose="020F0502020204030204" pitchFamily="34" charset="0"/>
                <a:ea typeface="Times New Roman" panose="02020603050405020304" pitchFamily="18" charset="0"/>
              </a:rPr>
              <a:t>er</a:t>
            </a:r>
            <a:r>
              <a:rPr lang="fr-FR" sz="1600" dirty="0">
                <a:effectLst/>
                <a:latin typeface="Calibri" panose="020F0502020204030204" pitchFamily="34" charset="0"/>
                <a:ea typeface="Times New Roman" panose="02020603050405020304" pitchFamily="18" charset="0"/>
              </a:rPr>
              <a:t> niveau</a:t>
            </a:r>
            <a:endParaRPr lang="fr-FR" sz="1600" dirty="0">
              <a:effectLst/>
              <a:latin typeface="Calibri" panose="020F0502020204030204" pitchFamily="34" charset="0"/>
              <a:ea typeface="Calibri" panose="020F0502020204030204" pitchFamily="34" charset="0"/>
            </a:endParaRPr>
          </a:p>
          <a:p>
            <a:pPr marL="742950" lvl="1" indent="-285750">
              <a:spcBef>
                <a:spcPts val="300"/>
              </a:spcBef>
              <a:buFont typeface="Wingdings" panose="05000000000000000000" pitchFamily="2" charset="2"/>
              <a:buChar char="§"/>
            </a:pPr>
            <a:r>
              <a:rPr lang="en-GB" sz="1600" dirty="0">
                <a:effectLst/>
                <a:latin typeface="Calibri" panose="020F0502020204030204" pitchFamily="34" charset="0"/>
                <a:ea typeface="Times New Roman" panose="02020603050405020304" pitchFamily="18" charset="0"/>
              </a:rPr>
              <a:t>Test signal </a:t>
            </a:r>
            <a:r>
              <a:rPr lang="en-GB" sz="1600" dirty="0" err="1">
                <a:effectLst/>
                <a:latin typeface="Calibri" panose="020F0502020204030204" pitchFamily="34" charset="0"/>
                <a:ea typeface="Times New Roman" panose="02020603050405020304" pitchFamily="18" charset="0"/>
              </a:rPr>
              <a:t>reçu</a:t>
            </a:r>
            <a:r>
              <a:rPr lang="en-GB" sz="1600" dirty="0">
                <a:effectLst/>
                <a:latin typeface="Calibri" panose="020F0502020204030204" pitchFamily="34" charset="0"/>
                <a:ea typeface="Times New Roman" panose="02020603050405020304" pitchFamily="18" charset="0"/>
              </a:rPr>
              <a:t> à </a:t>
            </a:r>
            <a:r>
              <a:rPr lang="en-GB" sz="1600" dirty="0" err="1">
                <a:effectLst/>
                <a:latin typeface="Calibri" panose="020F0502020204030204" pitchFamily="34" charset="0"/>
                <a:ea typeface="Times New Roman" panose="02020603050405020304" pitchFamily="18" charset="0"/>
              </a:rPr>
              <a:t>l’OTB</a:t>
            </a:r>
            <a:r>
              <a:rPr lang="en-GB" sz="1600" dirty="0">
                <a:effectLst/>
                <a:latin typeface="Calibri" panose="020F0502020204030204" pitchFamily="34" charset="0"/>
                <a:ea typeface="Times New Roman" panose="02020603050405020304" pitchFamily="18" charset="0"/>
              </a:rPr>
              <a:t> (</a:t>
            </a:r>
            <a:r>
              <a:rPr lang="en-GB" sz="1600" dirty="0" err="1">
                <a:effectLst/>
                <a:latin typeface="Calibri" panose="020F0502020204030204" pitchFamily="34" charset="0"/>
                <a:ea typeface="Times New Roman" panose="02020603050405020304" pitchFamily="18" charset="0"/>
              </a:rPr>
              <a:t>powemeter</a:t>
            </a:r>
            <a:r>
              <a:rPr lang="en-GB" sz="1600" dirty="0">
                <a:effectLst/>
                <a:latin typeface="Calibri" panose="020F0502020204030204" pitchFamily="34" charset="0"/>
                <a:ea typeface="Times New Roman" panose="02020603050405020304" pitchFamily="18" charset="0"/>
              </a:rPr>
              <a:t>)</a:t>
            </a:r>
            <a:endParaRPr lang="fr-FR" sz="1600" dirty="0">
              <a:effectLst/>
              <a:latin typeface="Calibri" panose="020F0502020204030204" pitchFamily="34" charset="0"/>
              <a:ea typeface="Calibri" panose="020F0502020204030204" pitchFamily="34" charset="0"/>
            </a:endParaRPr>
          </a:p>
          <a:p>
            <a:pPr marL="742950" lvl="1" indent="-285750">
              <a:spcBef>
                <a:spcPts val="300"/>
              </a:spcBef>
              <a:buFont typeface="Wingdings" panose="05000000000000000000" pitchFamily="2" charset="2"/>
              <a:buChar char="§"/>
            </a:pPr>
            <a:r>
              <a:rPr lang="fr-FR" sz="1600" dirty="0">
                <a:effectLst/>
                <a:latin typeface="Calibri" panose="020F0502020204030204" pitchFamily="34" charset="0"/>
                <a:ea typeface="Times New Roman" panose="02020603050405020304" pitchFamily="18" charset="0"/>
              </a:rPr>
              <a:t>Si pas de signal reçu, remontée mail d’info à GVA pour troubleshooting</a:t>
            </a:r>
          </a:p>
          <a:p>
            <a:endParaRPr lang="fr-FR" sz="1800" dirty="0"/>
          </a:p>
        </p:txBody>
      </p:sp>
      <p:sp>
        <p:nvSpPr>
          <p:cNvPr id="3" name="Titre 2">
            <a:extLst>
              <a:ext uri="{FF2B5EF4-FFF2-40B4-BE49-F238E27FC236}">
                <a16:creationId xmlns:a16="http://schemas.microsoft.com/office/drawing/2014/main" id="{E07FB907-C046-413A-8B20-BD54FD95D1AC}"/>
              </a:ext>
            </a:extLst>
          </p:cNvPr>
          <p:cNvSpPr>
            <a:spLocks noGrp="1"/>
          </p:cNvSpPr>
          <p:nvPr>
            <p:ph type="title"/>
          </p:nvPr>
        </p:nvSpPr>
        <p:spPr>
          <a:xfrm>
            <a:off x="491991" y="435915"/>
            <a:ext cx="10727165" cy="332547"/>
          </a:xfrm>
        </p:spPr>
        <p:txBody>
          <a:bodyPr/>
          <a:lstStyle/>
          <a:p>
            <a:r>
              <a:rPr lang="fr-FR" dirty="0"/>
              <a:t>Focus sur la gestion des allocations de ports GPON</a:t>
            </a:r>
          </a:p>
        </p:txBody>
      </p:sp>
    </p:spTree>
    <p:extLst>
      <p:ext uri="{BB962C8B-B14F-4D97-AF65-F5344CB8AC3E}">
        <p14:creationId xmlns:p14="http://schemas.microsoft.com/office/powerpoint/2010/main" val="2039017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929475AE-8A99-40E0-A0FC-4BDEA55E9881}"/>
              </a:ext>
            </a:extLst>
          </p:cNvPr>
          <p:cNvSpPr>
            <a:spLocks noGrp="1"/>
          </p:cNvSpPr>
          <p:nvPr>
            <p:ph idx="1"/>
          </p:nvPr>
        </p:nvSpPr>
        <p:spPr>
          <a:xfrm>
            <a:off x="779707" y="1083106"/>
            <a:ext cx="11014187" cy="5485646"/>
          </a:xfrm>
        </p:spPr>
        <p:txBody>
          <a:bodyPr/>
          <a:lstStyle/>
          <a:p>
            <a:pPr lvl="0"/>
            <a:endParaRPr lang="fr-FR" sz="1800" dirty="0">
              <a:effectLst/>
              <a:latin typeface="Calibri" panose="020F0502020204030204" pitchFamily="34" charset="0"/>
              <a:ea typeface="Calibri" panose="020F0502020204030204" pitchFamily="34" charset="0"/>
            </a:endParaRPr>
          </a:p>
          <a:p>
            <a:pPr marL="171450" indent="-171450">
              <a:spcBef>
                <a:spcPts val="300"/>
              </a:spcBef>
              <a:buFont typeface="Wingdings" panose="05000000000000000000" pitchFamily="2" charset="2"/>
              <a:buChar char="q"/>
            </a:pPr>
            <a:r>
              <a:rPr lang="fr-FR" sz="2400" b="1" dirty="0">
                <a:solidFill>
                  <a:schemeClr val="accent2"/>
                </a:solidFill>
              </a:rPr>
              <a:t> Cas particuliers : réaffectations :</a:t>
            </a:r>
          </a:p>
          <a:p>
            <a:pPr marL="457200" lvl="1">
              <a:lnSpc>
                <a:spcPct val="150000"/>
              </a:lnSpc>
              <a:spcBef>
                <a:spcPts val="300"/>
              </a:spcBef>
            </a:pPr>
            <a:r>
              <a:rPr lang="fr-FR" sz="1800" dirty="0">
                <a:effectLst/>
                <a:latin typeface="Calibri" panose="020F0502020204030204" pitchFamily="34" charset="0"/>
                <a:ea typeface="Times New Roman" panose="02020603050405020304" pitchFamily="18" charset="0"/>
              </a:rPr>
              <a:t>En cas de KO construction de l’OTBB (doit être faible si les étapes prérequis autorisation et </a:t>
            </a:r>
            <a:r>
              <a:rPr lang="fr-FR" sz="1800" dirty="0" err="1">
                <a:effectLst/>
                <a:latin typeface="Calibri" panose="020F0502020204030204" pitchFamily="34" charset="0"/>
                <a:ea typeface="Times New Roman" panose="02020603050405020304" pitchFamily="18" charset="0"/>
              </a:rPr>
              <a:t>survey</a:t>
            </a:r>
            <a:r>
              <a:rPr lang="fr-FR" sz="1800" dirty="0">
                <a:effectLst/>
                <a:latin typeface="Calibri" panose="020F0502020204030204" pitchFamily="34" charset="0"/>
                <a:ea typeface="Times New Roman" panose="02020603050405020304" pitchFamily="18" charset="0"/>
              </a:rPr>
              <a:t> pré-construction sont correctement réalisée), une réallocation de la ressources </a:t>
            </a:r>
            <a:r>
              <a:rPr lang="fr-FR" sz="1800" dirty="0" err="1">
                <a:effectLst/>
                <a:latin typeface="Calibri" panose="020F0502020204030204" pitchFamily="34" charset="0"/>
                <a:ea typeface="Times New Roman" panose="02020603050405020304" pitchFamily="18" charset="0"/>
              </a:rPr>
              <a:t>gpon</a:t>
            </a:r>
            <a:r>
              <a:rPr lang="fr-FR" sz="1800" dirty="0">
                <a:effectLst/>
                <a:latin typeface="Calibri" panose="020F0502020204030204" pitchFamily="34" charset="0"/>
                <a:ea typeface="Times New Roman" panose="02020603050405020304" pitchFamily="18" charset="0"/>
              </a:rPr>
              <a:t> / splitter 1 sera réalisée à un OTBB appartenant à la même tranche 2km que l’arbre GPON</a:t>
            </a:r>
            <a:endParaRPr lang="fr-FR" sz="1800" dirty="0">
              <a:effectLst/>
              <a:latin typeface="Calibri" panose="020F0502020204030204" pitchFamily="34" charset="0"/>
              <a:ea typeface="Calibri" panose="020F0502020204030204" pitchFamily="34" charset="0"/>
            </a:endParaRPr>
          </a:p>
          <a:p>
            <a:endParaRPr lang="fr-FR" sz="1800" dirty="0"/>
          </a:p>
        </p:txBody>
      </p:sp>
      <p:sp>
        <p:nvSpPr>
          <p:cNvPr id="3" name="Titre 2">
            <a:extLst>
              <a:ext uri="{FF2B5EF4-FFF2-40B4-BE49-F238E27FC236}">
                <a16:creationId xmlns:a16="http://schemas.microsoft.com/office/drawing/2014/main" id="{E07FB907-C046-413A-8B20-BD54FD95D1AC}"/>
              </a:ext>
            </a:extLst>
          </p:cNvPr>
          <p:cNvSpPr>
            <a:spLocks noGrp="1"/>
          </p:cNvSpPr>
          <p:nvPr>
            <p:ph type="title"/>
          </p:nvPr>
        </p:nvSpPr>
        <p:spPr>
          <a:xfrm>
            <a:off x="687933" y="407923"/>
            <a:ext cx="10727165" cy="332547"/>
          </a:xfrm>
        </p:spPr>
        <p:txBody>
          <a:bodyPr/>
          <a:lstStyle/>
          <a:p>
            <a:r>
              <a:rPr lang="fr-FR" dirty="0"/>
              <a:t>Focus sur la gestion des allocations de ports GPON</a:t>
            </a:r>
          </a:p>
        </p:txBody>
      </p:sp>
    </p:spTree>
    <p:extLst>
      <p:ext uri="{BB962C8B-B14F-4D97-AF65-F5344CB8AC3E}">
        <p14:creationId xmlns:p14="http://schemas.microsoft.com/office/powerpoint/2010/main" val="992948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19A85A-FDA2-4942-8D4A-47A5236C7CB0}"/>
              </a:ext>
            </a:extLst>
          </p:cNvPr>
          <p:cNvSpPr>
            <a:spLocks noGrp="1"/>
          </p:cNvSpPr>
          <p:nvPr>
            <p:ph type="title"/>
          </p:nvPr>
        </p:nvSpPr>
        <p:spPr/>
        <p:txBody>
          <a:bodyPr/>
          <a:lstStyle/>
          <a:p>
            <a:r>
              <a:rPr lang="fr-FR" dirty="0"/>
              <a:t>procédures</a:t>
            </a:r>
          </a:p>
        </p:txBody>
      </p:sp>
    </p:spTree>
    <p:extLst>
      <p:ext uri="{BB962C8B-B14F-4D97-AF65-F5344CB8AC3E}">
        <p14:creationId xmlns:p14="http://schemas.microsoft.com/office/powerpoint/2010/main" val="1765560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B12E282-8244-4295-8AE2-CF295055995A}"/>
              </a:ext>
            </a:extLst>
          </p:cNvPr>
          <p:cNvSpPr>
            <a:spLocks noGrp="1"/>
          </p:cNvSpPr>
          <p:nvPr>
            <p:ph idx="1"/>
          </p:nvPr>
        </p:nvSpPr>
        <p:spPr/>
        <p:txBody>
          <a:bodyPr/>
          <a:lstStyle/>
          <a:p>
            <a:r>
              <a:rPr lang="fr-FR" dirty="0"/>
              <a:t>Ajouter la compétence « Adduction MDU » au compte des Techniciens en charge de ce type d’intervention</a:t>
            </a:r>
          </a:p>
          <a:p>
            <a:endParaRPr lang="fr-FR" dirty="0"/>
          </a:p>
        </p:txBody>
      </p:sp>
      <p:sp>
        <p:nvSpPr>
          <p:cNvPr id="3" name="Titre 2">
            <a:extLst>
              <a:ext uri="{FF2B5EF4-FFF2-40B4-BE49-F238E27FC236}">
                <a16:creationId xmlns:a16="http://schemas.microsoft.com/office/drawing/2014/main" id="{22BA6A52-EE71-487E-B1E2-F4071839597F}"/>
              </a:ext>
            </a:extLst>
          </p:cNvPr>
          <p:cNvSpPr>
            <a:spLocks noGrp="1"/>
          </p:cNvSpPr>
          <p:nvPr>
            <p:ph type="title"/>
          </p:nvPr>
        </p:nvSpPr>
        <p:spPr/>
        <p:txBody>
          <a:bodyPr/>
          <a:lstStyle/>
          <a:p>
            <a:r>
              <a:rPr lang="fr-FR" dirty="0"/>
              <a:t>Prérequis dans Praxedo</a:t>
            </a:r>
          </a:p>
        </p:txBody>
      </p:sp>
      <p:sp>
        <p:nvSpPr>
          <p:cNvPr id="4" name="Espace réservé du texte 3">
            <a:extLst>
              <a:ext uri="{FF2B5EF4-FFF2-40B4-BE49-F238E27FC236}">
                <a16:creationId xmlns:a16="http://schemas.microsoft.com/office/drawing/2014/main" id="{BD687CC1-B1A7-4191-8760-70BF78FC03F6}"/>
              </a:ext>
            </a:extLst>
          </p:cNvPr>
          <p:cNvSpPr>
            <a:spLocks noGrp="1"/>
          </p:cNvSpPr>
          <p:nvPr>
            <p:ph type="body" sz="quarter" idx="13"/>
          </p:nvPr>
        </p:nvSpPr>
        <p:spPr/>
        <p:txBody>
          <a:bodyPr/>
          <a:lstStyle/>
          <a:p>
            <a:endParaRPr lang="fr-FR"/>
          </a:p>
        </p:txBody>
      </p:sp>
    </p:spTree>
    <p:extLst>
      <p:ext uri="{BB962C8B-B14F-4D97-AF65-F5344CB8AC3E}">
        <p14:creationId xmlns:p14="http://schemas.microsoft.com/office/powerpoint/2010/main" val="515672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D6884669-3BE3-4325-B8AC-AB92AF7FBA00}"/>
              </a:ext>
            </a:extLst>
          </p:cNvPr>
          <p:cNvSpPr>
            <a:spLocks noGrp="1"/>
          </p:cNvSpPr>
          <p:nvPr>
            <p:ph type="title"/>
          </p:nvPr>
        </p:nvSpPr>
        <p:spPr/>
        <p:txBody>
          <a:bodyPr/>
          <a:lstStyle/>
          <a:p>
            <a:r>
              <a:rPr lang="fr-FR" dirty="0"/>
              <a:t>Procédure – Création intervention</a:t>
            </a:r>
          </a:p>
        </p:txBody>
      </p:sp>
      <p:sp>
        <p:nvSpPr>
          <p:cNvPr id="4" name="Espace réservé du texte 3">
            <a:extLst>
              <a:ext uri="{FF2B5EF4-FFF2-40B4-BE49-F238E27FC236}">
                <a16:creationId xmlns:a16="http://schemas.microsoft.com/office/drawing/2014/main" id="{6C20F1BA-858D-41F0-AA58-D09C29F7E503}"/>
              </a:ext>
            </a:extLst>
          </p:cNvPr>
          <p:cNvSpPr>
            <a:spLocks noGrp="1"/>
          </p:cNvSpPr>
          <p:nvPr>
            <p:ph type="body" sz="quarter" idx="13"/>
          </p:nvPr>
        </p:nvSpPr>
        <p:spPr/>
        <p:txBody>
          <a:bodyPr/>
          <a:lstStyle/>
          <a:p>
            <a:endParaRPr lang="fr-FR"/>
          </a:p>
        </p:txBody>
      </p:sp>
      <p:pic>
        <p:nvPicPr>
          <p:cNvPr id="4098" name="Picture 2">
            <a:extLst>
              <a:ext uri="{FF2B5EF4-FFF2-40B4-BE49-F238E27FC236}">
                <a16:creationId xmlns:a16="http://schemas.microsoft.com/office/drawing/2014/main" id="{8536259B-0D3A-42A9-ADE4-CCAF8EE2100C}"/>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0202" r="501" b="5006"/>
          <a:stretch/>
        </p:blipFill>
        <p:spPr bwMode="auto">
          <a:xfrm>
            <a:off x="3484299" y="1784761"/>
            <a:ext cx="7581805" cy="3634371"/>
          </a:xfrm>
          <a:prstGeom prst="rect">
            <a:avLst/>
          </a:prstGeom>
          <a:noFill/>
          <a:extLst>
            <a:ext uri="{909E8E84-426E-40DD-AFC4-6F175D3DCCD1}">
              <a14:hiddenFill xmlns:a14="http://schemas.microsoft.com/office/drawing/2010/main">
                <a:solidFill>
                  <a:srgbClr val="FFFFFF"/>
                </a:solidFill>
              </a14:hiddenFill>
            </a:ext>
          </a:extLst>
        </p:spPr>
      </p:pic>
      <p:cxnSp>
        <p:nvCxnSpPr>
          <p:cNvPr id="6" name="Connecteur droit avec flèche 5">
            <a:extLst>
              <a:ext uri="{FF2B5EF4-FFF2-40B4-BE49-F238E27FC236}">
                <a16:creationId xmlns:a16="http://schemas.microsoft.com/office/drawing/2014/main" id="{0C0C61A6-F706-4122-A827-657E6CFD217A}"/>
              </a:ext>
            </a:extLst>
          </p:cNvPr>
          <p:cNvCxnSpPr/>
          <p:nvPr/>
        </p:nvCxnSpPr>
        <p:spPr>
          <a:xfrm flipH="1">
            <a:off x="6466113" y="1243586"/>
            <a:ext cx="279919" cy="541175"/>
          </a:xfrm>
          <a:prstGeom prst="straightConnector1">
            <a:avLst/>
          </a:prstGeom>
          <a:ln w="57150">
            <a:solidFill>
              <a:schemeClr val="bg2">
                <a:lumMod val="60000"/>
                <a:lumOff val="40000"/>
              </a:schemeClr>
            </a:solidFill>
            <a:tailEnd type="triangle"/>
          </a:ln>
        </p:spPr>
        <p:style>
          <a:lnRef idx="1">
            <a:schemeClr val="accent6"/>
          </a:lnRef>
          <a:fillRef idx="0">
            <a:schemeClr val="accent6"/>
          </a:fillRef>
          <a:effectRef idx="0">
            <a:schemeClr val="accent6"/>
          </a:effectRef>
          <a:fontRef idx="minor">
            <a:schemeClr val="tx1"/>
          </a:fontRef>
        </p:style>
      </p:cxnSp>
      <p:sp>
        <p:nvSpPr>
          <p:cNvPr id="7" name="ZoneTexte 6">
            <a:extLst>
              <a:ext uri="{FF2B5EF4-FFF2-40B4-BE49-F238E27FC236}">
                <a16:creationId xmlns:a16="http://schemas.microsoft.com/office/drawing/2014/main" id="{06B6261B-8749-4F2F-AA0D-D13A80478D86}"/>
              </a:ext>
            </a:extLst>
          </p:cNvPr>
          <p:cNvSpPr txBox="1"/>
          <p:nvPr/>
        </p:nvSpPr>
        <p:spPr>
          <a:xfrm>
            <a:off x="494522" y="1352939"/>
            <a:ext cx="2052735" cy="1464906"/>
          </a:xfrm>
          <a:prstGeom prst="rect">
            <a:avLst/>
          </a:prstGeom>
          <a:noFill/>
        </p:spPr>
        <p:txBody>
          <a:bodyPr wrap="square" lIns="0" tIns="0" rIns="0" bIns="0" rtlCol="0">
            <a:noAutofit/>
          </a:bodyPr>
          <a:lstStyle/>
          <a:p>
            <a:endParaRPr lang="fr-FR" sz="1400" dirty="0" err="1"/>
          </a:p>
        </p:txBody>
      </p:sp>
      <p:sp>
        <p:nvSpPr>
          <p:cNvPr id="2" name="ZoneTexte 1">
            <a:extLst>
              <a:ext uri="{FF2B5EF4-FFF2-40B4-BE49-F238E27FC236}">
                <a16:creationId xmlns:a16="http://schemas.microsoft.com/office/drawing/2014/main" id="{B9026219-26C7-4EB9-9CD2-8FC04CCDF97B}"/>
              </a:ext>
            </a:extLst>
          </p:cNvPr>
          <p:cNvSpPr txBox="1"/>
          <p:nvPr/>
        </p:nvSpPr>
        <p:spPr>
          <a:xfrm>
            <a:off x="494522" y="1352939"/>
            <a:ext cx="2980448" cy="4152122"/>
          </a:xfrm>
          <a:prstGeom prst="rect">
            <a:avLst/>
          </a:prstGeom>
          <a:noFill/>
        </p:spPr>
        <p:txBody>
          <a:bodyPr wrap="square" lIns="0" tIns="0" rIns="0" bIns="0" rtlCol="0">
            <a:noAutofit/>
          </a:bodyPr>
          <a:lstStyle/>
          <a:p>
            <a:pPr marL="285750" indent="-285750">
              <a:buFont typeface="Wingdings" panose="05000000000000000000" pitchFamily="2" charset="2"/>
              <a:buChar char="q"/>
            </a:pPr>
            <a:r>
              <a:rPr lang="fr-FR" dirty="0"/>
              <a:t>Sur la page d’accueil, cliquer sur « Créer »</a:t>
            </a:r>
          </a:p>
        </p:txBody>
      </p:sp>
    </p:spTree>
    <p:extLst>
      <p:ext uri="{BB962C8B-B14F-4D97-AF65-F5344CB8AC3E}">
        <p14:creationId xmlns:p14="http://schemas.microsoft.com/office/powerpoint/2010/main" val="18172431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7E2B3A74-9EA0-4869-9485-6A0359E9678D}"/>
              </a:ext>
            </a:extLst>
          </p:cNvPr>
          <p:cNvSpPr>
            <a:spLocks noGrp="1"/>
          </p:cNvSpPr>
          <p:nvPr>
            <p:ph type="title"/>
          </p:nvPr>
        </p:nvSpPr>
        <p:spPr/>
        <p:txBody>
          <a:bodyPr/>
          <a:lstStyle/>
          <a:p>
            <a:r>
              <a:rPr lang="fr-FR" dirty="0"/>
              <a:t>Procédure – Création intervention d’adduction MDU</a:t>
            </a:r>
          </a:p>
        </p:txBody>
      </p:sp>
      <p:sp>
        <p:nvSpPr>
          <p:cNvPr id="4" name="Espace réservé du texte 3">
            <a:extLst>
              <a:ext uri="{FF2B5EF4-FFF2-40B4-BE49-F238E27FC236}">
                <a16:creationId xmlns:a16="http://schemas.microsoft.com/office/drawing/2014/main" id="{68B0EB22-60FA-4F3A-96F6-6BB02B7E2F78}"/>
              </a:ext>
            </a:extLst>
          </p:cNvPr>
          <p:cNvSpPr>
            <a:spLocks noGrp="1"/>
          </p:cNvSpPr>
          <p:nvPr>
            <p:ph type="body" sz="quarter" idx="13"/>
          </p:nvPr>
        </p:nvSpPr>
        <p:spPr/>
        <p:txBody>
          <a:bodyPr/>
          <a:lstStyle/>
          <a:p>
            <a:endParaRPr lang="fr-FR"/>
          </a:p>
        </p:txBody>
      </p:sp>
      <p:pic>
        <p:nvPicPr>
          <p:cNvPr id="4098" name="Picture 2">
            <a:extLst>
              <a:ext uri="{FF2B5EF4-FFF2-40B4-BE49-F238E27FC236}">
                <a16:creationId xmlns:a16="http://schemas.microsoft.com/office/drawing/2014/main" id="{C35FC3F1-68FF-4D79-A096-F2F14E62048A}"/>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 t="9463" r="1247" b="5648"/>
          <a:stretch/>
        </p:blipFill>
        <p:spPr bwMode="auto">
          <a:xfrm>
            <a:off x="5309119" y="2043403"/>
            <a:ext cx="6073532" cy="3204871"/>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30EC68A8-1734-4C64-84C6-CE919EECE422}"/>
              </a:ext>
            </a:extLst>
          </p:cNvPr>
          <p:cNvSpPr txBox="1"/>
          <p:nvPr/>
        </p:nvSpPr>
        <p:spPr>
          <a:xfrm>
            <a:off x="587828" y="1432639"/>
            <a:ext cx="3825552" cy="4152122"/>
          </a:xfrm>
          <a:prstGeom prst="rect">
            <a:avLst/>
          </a:prstGeom>
          <a:noFill/>
        </p:spPr>
        <p:txBody>
          <a:bodyPr wrap="square" lIns="0" tIns="0" rIns="0" bIns="0" rtlCol="0">
            <a:noAutofit/>
          </a:bodyPr>
          <a:lstStyle/>
          <a:p>
            <a:pPr marL="285750" indent="-285750">
              <a:buFont typeface="Wingdings" panose="05000000000000000000" pitchFamily="2" charset="2"/>
              <a:buChar char="q"/>
            </a:pPr>
            <a:r>
              <a:rPr lang="fr-FR" dirty="0"/>
              <a:t>Renseigner </a:t>
            </a:r>
            <a:r>
              <a:rPr lang="fr-FR" b="1" u="sng" dirty="0">
                <a:solidFill>
                  <a:srgbClr val="FF0000"/>
                </a:solidFill>
              </a:rPr>
              <a:t>au minimum </a:t>
            </a:r>
            <a:r>
              <a:rPr lang="fr-FR" dirty="0"/>
              <a:t>les informations suivantes : </a:t>
            </a:r>
          </a:p>
          <a:p>
            <a:endParaRPr lang="fr-FR" dirty="0"/>
          </a:p>
          <a:p>
            <a:pPr marL="800078" lvl="1" indent="-342900">
              <a:buFont typeface="Arial" panose="020B0604020202020204" pitchFamily="34" charset="0"/>
              <a:buChar char="•"/>
            </a:pPr>
            <a:r>
              <a:rPr lang="fr-FR" sz="1400" b="1" dirty="0"/>
              <a:t>Client</a:t>
            </a:r>
            <a:r>
              <a:rPr lang="fr-FR" sz="1400" dirty="0"/>
              <a:t> : </a:t>
            </a:r>
            <a:r>
              <a:rPr lang="fr-FR" sz="1400" dirty="0">
                <a:solidFill>
                  <a:srgbClr val="FF0000"/>
                </a:solidFill>
              </a:rPr>
              <a:t>Building ID de référence du MDU</a:t>
            </a:r>
          </a:p>
          <a:p>
            <a:pPr marL="800078" lvl="1" indent="-342900">
              <a:buFont typeface="Arial" panose="020B0604020202020204" pitchFamily="34" charset="0"/>
              <a:buChar char="•"/>
            </a:pPr>
            <a:r>
              <a:rPr lang="fr-FR" sz="1400" b="1" dirty="0"/>
              <a:t>Clé</a:t>
            </a:r>
            <a:r>
              <a:rPr lang="fr-FR" sz="1400" dirty="0"/>
              <a:t> : </a:t>
            </a:r>
            <a:r>
              <a:rPr lang="fr-FR" sz="1400" dirty="0">
                <a:solidFill>
                  <a:srgbClr val="FF0000"/>
                </a:solidFill>
              </a:rPr>
              <a:t>Nom OTBB</a:t>
            </a:r>
          </a:p>
          <a:p>
            <a:pPr marL="800078" lvl="1" indent="-342900">
              <a:buFont typeface="Arial" panose="020B0604020202020204" pitchFamily="34" charset="0"/>
              <a:buChar char="•"/>
            </a:pPr>
            <a:r>
              <a:rPr lang="fr-FR" sz="1400" b="1" dirty="0"/>
              <a:t>Adresse</a:t>
            </a:r>
            <a:r>
              <a:rPr lang="fr-FR" sz="1400" dirty="0"/>
              <a:t> : </a:t>
            </a:r>
            <a:r>
              <a:rPr lang="fr-FR" sz="1400" dirty="0">
                <a:solidFill>
                  <a:srgbClr val="FF0000"/>
                </a:solidFill>
              </a:rPr>
              <a:t>Coordonnées GPS du bâtiment</a:t>
            </a:r>
          </a:p>
          <a:p>
            <a:pPr marL="800078" lvl="1" indent="-342900">
              <a:buFont typeface="Arial" panose="020B0604020202020204" pitchFamily="34" charset="0"/>
              <a:buChar char="•"/>
            </a:pPr>
            <a:r>
              <a:rPr lang="fr-FR" sz="1400" b="1" dirty="0"/>
              <a:t>Ville</a:t>
            </a:r>
          </a:p>
          <a:p>
            <a:pPr marL="800078" lvl="1" indent="-342900">
              <a:buFont typeface="Arial" panose="020B0604020202020204" pitchFamily="34" charset="0"/>
              <a:buChar char="•"/>
            </a:pPr>
            <a:r>
              <a:rPr lang="fr-FR" sz="1400" b="1" dirty="0"/>
              <a:t>Contact</a:t>
            </a:r>
            <a:r>
              <a:rPr lang="fr-FR" sz="1400" dirty="0"/>
              <a:t> :  </a:t>
            </a:r>
            <a:r>
              <a:rPr lang="fr-FR" sz="1400" dirty="0">
                <a:solidFill>
                  <a:srgbClr val="FF0000"/>
                </a:solidFill>
              </a:rPr>
              <a:t>nom + prénom référent</a:t>
            </a:r>
          </a:p>
          <a:p>
            <a:pPr marL="800078" lvl="1" indent="-342900">
              <a:buFont typeface="Arial" panose="020B0604020202020204" pitchFamily="34" charset="0"/>
              <a:buChar char="•"/>
            </a:pPr>
            <a:r>
              <a:rPr lang="fr-FR" sz="1400" b="1" dirty="0"/>
              <a:t>Téléphone mobile :</a:t>
            </a:r>
          </a:p>
          <a:p>
            <a:pPr lvl="1"/>
            <a:endParaRPr lang="fr-FR" sz="1400" dirty="0"/>
          </a:p>
        </p:txBody>
      </p:sp>
    </p:spTree>
    <p:extLst>
      <p:ext uri="{BB962C8B-B14F-4D97-AF65-F5344CB8AC3E}">
        <p14:creationId xmlns:p14="http://schemas.microsoft.com/office/powerpoint/2010/main" val="2609170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7E713732-4389-42D2-933B-D0C4EF6385D8}"/>
              </a:ext>
            </a:extLst>
          </p:cNvPr>
          <p:cNvSpPr>
            <a:spLocks noGrp="1"/>
          </p:cNvSpPr>
          <p:nvPr>
            <p:ph type="title"/>
          </p:nvPr>
        </p:nvSpPr>
        <p:spPr/>
        <p:txBody>
          <a:bodyPr/>
          <a:lstStyle/>
          <a:p>
            <a:r>
              <a:rPr lang="fr-FR" dirty="0"/>
              <a:t>Procédure – Nouvelle intervention créée</a:t>
            </a:r>
          </a:p>
        </p:txBody>
      </p:sp>
      <p:sp>
        <p:nvSpPr>
          <p:cNvPr id="4" name="Espace réservé du texte 3">
            <a:extLst>
              <a:ext uri="{FF2B5EF4-FFF2-40B4-BE49-F238E27FC236}">
                <a16:creationId xmlns:a16="http://schemas.microsoft.com/office/drawing/2014/main" id="{3F41F052-6D95-4F13-8A5F-6160B999499B}"/>
              </a:ext>
            </a:extLst>
          </p:cNvPr>
          <p:cNvSpPr>
            <a:spLocks noGrp="1"/>
          </p:cNvSpPr>
          <p:nvPr>
            <p:ph type="body" sz="quarter" idx="13"/>
          </p:nvPr>
        </p:nvSpPr>
        <p:spPr/>
        <p:txBody>
          <a:bodyPr/>
          <a:lstStyle/>
          <a:p>
            <a:endParaRPr lang="fr-FR"/>
          </a:p>
        </p:txBody>
      </p:sp>
      <p:pic>
        <p:nvPicPr>
          <p:cNvPr id="5122" name="Picture 2">
            <a:extLst>
              <a:ext uri="{FF2B5EF4-FFF2-40B4-BE49-F238E27FC236}">
                <a16:creationId xmlns:a16="http://schemas.microsoft.com/office/drawing/2014/main" id="{08BE8EA2-74FA-4899-9CA4-C1CC6FFF9676}"/>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 t="9884" r="403" b="7948"/>
          <a:stretch/>
        </p:blipFill>
        <p:spPr bwMode="auto">
          <a:xfrm>
            <a:off x="2301351" y="1668042"/>
            <a:ext cx="7589298" cy="352191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4B4D163-E195-48E9-81DC-640B303DA43A}"/>
              </a:ext>
            </a:extLst>
          </p:cNvPr>
          <p:cNvSpPr/>
          <p:nvPr/>
        </p:nvSpPr>
        <p:spPr>
          <a:xfrm>
            <a:off x="6718241" y="2530733"/>
            <a:ext cx="2752530" cy="2472613"/>
          </a:xfrm>
          <a:prstGeom prst="rect">
            <a:avLst/>
          </a:prstGeom>
          <a:noFill/>
          <a:ln w="38100">
            <a:solidFill>
              <a:srgbClr val="FF0000"/>
            </a:solidFill>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fr-FR" sz="1200" b="1" dirty="0">
              <a:solidFill>
                <a:srgbClr val="6D6D6D"/>
              </a:solidFill>
            </a:endParaRPr>
          </a:p>
        </p:txBody>
      </p:sp>
    </p:spTree>
    <p:extLst>
      <p:ext uri="{BB962C8B-B14F-4D97-AF65-F5344CB8AC3E}">
        <p14:creationId xmlns:p14="http://schemas.microsoft.com/office/powerpoint/2010/main" val="28659312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689B7284-5D8E-490C-A7FD-6A49B6C7B6CA}"/>
              </a:ext>
            </a:extLst>
          </p:cNvPr>
          <p:cNvSpPr>
            <a:spLocks noGrp="1"/>
          </p:cNvSpPr>
          <p:nvPr>
            <p:ph type="title"/>
          </p:nvPr>
        </p:nvSpPr>
        <p:spPr/>
        <p:txBody>
          <a:bodyPr/>
          <a:lstStyle/>
          <a:p>
            <a:r>
              <a:rPr lang="fr-FR" dirty="0"/>
              <a:t>Procédure – Qualification de l’intervention</a:t>
            </a:r>
          </a:p>
        </p:txBody>
      </p:sp>
      <p:sp>
        <p:nvSpPr>
          <p:cNvPr id="4" name="Espace réservé du texte 3">
            <a:extLst>
              <a:ext uri="{FF2B5EF4-FFF2-40B4-BE49-F238E27FC236}">
                <a16:creationId xmlns:a16="http://schemas.microsoft.com/office/drawing/2014/main" id="{9D8BAAD0-C01D-4280-8DF2-666B19C84EBE}"/>
              </a:ext>
            </a:extLst>
          </p:cNvPr>
          <p:cNvSpPr>
            <a:spLocks noGrp="1"/>
          </p:cNvSpPr>
          <p:nvPr>
            <p:ph type="body" sz="quarter" idx="13"/>
          </p:nvPr>
        </p:nvSpPr>
        <p:spPr/>
        <p:txBody>
          <a:bodyPr/>
          <a:lstStyle/>
          <a:p>
            <a:endParaRPr lang="fr-FR" dirty="0"/>
          </a:p>
        </p:txBody>
      </p:sp>
      <p:pic>
        <p:nvPicPr>
          <p:cNvPr id="6146" name="Picture 2">
            <a:extLst>
              <a:ext uri="{FF2B5EF4-FFF2-40B4-BE49-F238E27FC236}">
                <a16:creationId xmlns:a16="http://schemas.microsoft.com/office/drawing/2014/main" id="{F3428624-D924-4756-AD83-6026F184B82D}"/>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9984" r="1429" b="5335"/>
          <a:stretch/>
        </p:blipFill>
        <p:spPr bwMode="auto">
          <a:xfrm>
            <a:off x="4924591" y="1922105"/>
            <a:ext cx="6680861" cy="3228391"/>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70E3718E-CEA8-4575-BF7A-7F5829123ECE}"/>
              </a:ext>
            </a:extLst>
          </p:cNvPr>
          <p:cNvSpPr txBox="1"/>
          <p:nvPr/>
        </p:nvSpPr>
        <p:spPr>
          <a:xfrm>
            <a:off x="457200" y="1673797"/>
            <a:ext cx="3825552" cy="4152122"/>
          </a:xfrm>
          <a:prstGeom prst="rect">
            <a:avLst/>
          </a:prstGeom>
          <a:noFill/>
        </p:spPr>
        <p:txBody>
          <a:bodyPr wrap="square" lIns="0" tIns="0" rIns="0" bIns="0" rtlCol="0">
            <a:noAutofit/>
          </a:bodyPr>
          <a:lstStyle/>
          <a:p>
            <a:pPr marL="285750" indent="-285750">
              <a:buFont typeface="Wingdings" panose="05000000000000000000" pitchFamily="2" charset="2"/>
              <a:buChar char="q"/>
            </a:pPr>
            <a:r>
              <a:rPr lang="fr-FR" dirty="0"/>
              <a:t>Sélectionner le type d’intervention : « adduction MDU »</a:t>
            </a:r>
          </a:p>
          <a:p>
            <a:endParaRPr lang="fr-FR" dirty="0"/>
          </a:p>
          <a:p>
            <a:pPr marL="285750" indent="-285750">
              <a:buFont typeface="Wingdings" panose="05000000000000000000" pitchFamily="2" charset="2"/>
              <a:buChar char="q"/>
            </a:pPr>
            <a:r>
              <a:rPr lang="fr-FR" dirty="0"/>
              <a:t>Les autres champs sont complétés automatiquement</a:t>
            </a:r>
          </a:p>
          <a:p>
            <a:pPr marL="285750" indent="-285750">
              <a:buFont typeface="Wingdings" panose="05000000000000000000" pitchFamily="2" charset="2"/>
              <a:buChar char="q"/>
            </a:pPr>
            <a:endParaRPr lang="fr-FR" dirty="0"/>
          </a:p>
          <a:p>
            <a:pPr marL="285750" indent="-285750">
              <a:buFont typeface="Wingdings" panose="05000000000000000000" pitchFamily="2" charset="2"/>
              <a:buChar char="q"/>
            </a:pPr>
            <a:r>
              <a:rPr lang="fr-FR" dirty="0"/>
              <a:t>Vérifier que le champ affectation correspond bien à l’agence sélectionnée au moment de la création</a:t>
            </a:r>
          </a:p>
        </p:txBody>
      </p:sp>
      <p:sp>
        <p:nvSpPr>
          <p:cNvPr id="2" name="Rectangle 1">
            <a:extLst>
              <a:ext uri="{FF2B5EF4-FFF2-40B4-BE49-F238E27FC236}">
                <a16:creationId xmlns:a16="http://schemas.microsoft.com/office/drawing/2014/main" id="{047AC633-4239-4ADB-B134-7C1C6D7F44E0}"/>
              </a:ext>
            </a:extLst>
          </p:cNvPr>
          <p:cNvSpPr/>
          <p:nvPr/>
        </p:nvSpPr>
        <p:spPr>
          <a:xfrm>
            <a:off x="5924939" y="3834882"/>
            <a:ext cx="5809861" cy="1632857"/>
          </a:xfrm>
          <a:prstGeom prst="rect">
            <a:avLst/>
          </a:prstGeom>
          <a:noFill/>
          <a:ln>
            <a:solidFill>
              <a:schemeClr val="bg2"/>
            </a:solidFill>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fr-FR" sz="1200" b="1" dirty="0">
              <a:solidFill>
                <a:srgbClr val="6D6D6D"/>
              </a:solidFill>
            </a:endParaRPr>
          </a:p>
        </p:txBody>
      </p:sp>
    </p:spTree>
    <p:extLst>
      <p:ext uri="{BB962C8B-B14F-4D97-AF65-F5344CB8AC3E}">
        <p14:creationId xmlns:p14="http://schemas.microsoft.com/office/powerpoint/2010/main" val="2850402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EE55000A-0970-4C94-955A-8D15D6D332D4}"/>
              </a:ext>
            </a:extLst>
          </p:cNvPr>
          <p:cNvSpPr>
            <a:spLocks noGrp="1"/>
          </p:cNvSpPr>
          <p:nvPr>
            <p:ph type="title"/>
          </p:nvPr>
        </p:nvSpPr>
        <p:spPr/>
        <p:txBody>
          <a:bodyPr/>
          <a:lstStyle/>
          <a:p>
            <a:r>
              <a:rPr lang="fr-FR" dirty="0"/>
              <a:t>Procédure – Instruction de réalisation</a:t>
            </a:r>
          </a:p>
        </p:txBody>
      </p:sp>
      <p:sp>
        <p:nvSpPr>
          <p:cNvPr id="4" name="Espace réservé du texte 3">
            <a:extLst>
              <a:ext uri="{FF2B5EF4-FFF2-40B4-BE49-F238E27FC236}">
                <a16:creationId xmlns:a16="http://schemas.microsoft.com/office/drawing/2014/main" id="{00D4C4E5-2BDE-4C9F-94CB-310F8A8C7FBE}"/>
              </a:ext>
            </a:extLst>
          </p:cNvPr>
          <p:cNvSpPr>
            <a:spLocks noGrp="1"/>
          </p:cNvSpPr>
          <p:nvPr>
            <p:ph type="body" sz="quarter" idx="13"/>
          </p:nvPr>
        </p:nvSpPr>
        <p:spPr/>
        <p:txBody>
          <a:bodyPr/>
          <a:lstStyle/>
          <a:p>
            <a:endParaRPr lang="fr-FR"/>
          </a:p>
        </p:txBody>
      </p:sp>
      <p:pic>
        <p:nvPicPr>
          <p:cNvPr id="7170" name="Picture 2">
            <a:extLst>
              <a:ext uri="{FF2B5EF4-FFF2-40B4-BE49-F238E27FC236}">
                <a16:creationId xmlns:a16="http://schemas.microsoft.com/office/drawing/2014/main" id="{9DBA732E-0A35-43A8-8E3B-06040AA19BC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054" r="77" b="6789"/>
          <a:stretch/>
        </p:blipFill>
        <p:spPr bwMode="auto">
          <a:xfrm>
            <a:off x="4693298" y="1570565"/>
            <a:ext cx="6649891" cy="3564295"/>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27340793-DD5D-40BD-9021-CDAB241F9869}"/>
              </a:ext>
            </a:extLst>
          </p:cNvPr>
          <p:cNvSpPr txBox="1"/>
          <p:nvPr/>
        </p:nvSpPr>
        <p:spPr>
          <a:xfrm>
            <a:off x="457199" y="1673797"/>
            <a:ext cx="4124131" cy="4152122"/>
          </a:xfrm>
          <a:prstGeom prst="rect">
            <a:avLst/>
          </a:prstGeom>
          <a:noFill/>
        </p:spPr>
        <p:txBody>
          <a:bodyPr wrap="square" lIns="0" tIns="0" rIns="0" bIns="0" rtlCol="0">
            <a:noAutofit/>
          </a:bodyPr>
          <a:lstStyle/>
          <a:p>
            <a:pPr marL="285750" indent="-285750">
              <a:buFont typeface="Wingdings" panose="05000000000000000000" pitchFamily="2" charset="2"/>
              <a:buChar char="q"/>
            </a:pPr>
            <a:r>
              <a:rPr lang="fr-FR" dirty="0"/>
              <a:t>Renseigner le champ « Nom de point de piquage »</a:t>
            </a:r>
          </a:p>
          <a:p>
            <a:endParaRPr lang="fr-FR" dirty="0"/>
          </a:p>
          <a:p>
            <a:pPr marL="285750" indent="-285750">
              <a:buFont typeface="Wingdings" panose="05000000000000000000" pitchFamily="2" charset="2"/>
              <a:buChar char="q"/>
            </a:pPr>
            <a:r>
              <a:rPr lang="fr-FR" dirty="0"/>
              <a:t>Sélectionner la bonne valeur pour le champ « nombre d’</a:t>
            </a:r>
            <a:r>
              <a:rPr lang="fr-FR" dirty="0" err="1"/>
              <a:t>OTBBs</a:t>
            </a:r>
            <a:r>
              <a:rPr lang="fr-FR" dirty="0"/>
              <a:t> »</a:t>
            </a:r>
          </a:p>
          <a:p>
            <a:pPr marL="285750" indent="-285750">
              <a:buFont typeface="Wingdings" panose="05000000000000000000" pitchFamily="2" charset="2"/>
              <a:buChar char="q"/>
            </a:pPr>
            <a:endParaRPr lang="fr-FR" dirty="0"/>
          </a:p>
          <a:p>
            <a:pPr marL="285750" indent="-285750">
              <a:buFont typeface="Wingdings" panose="05000000000000000000" pitchFamily="2" charset="2"/>
              <a:buChar char="q"/>
            </a:pPr>
            <a:r>
              <a:rPr lang="fr-FR" dirty="0"/>
              <a:t>Compléter les sections « Intervention OTBB » en fonction du nombre d’</a:t>
            </a:r>
            <a:r>
              <a:rPr lang="fr-FR" dirty="0" err="1"/>
              <a:t>OTBBs</a:t>
            </a:r>
            <a:endParaRPr lang="fr-FR" dirty="0"/>
          </a:p>
          <a:p>
            <a:endParaRPr lang="fr-FR" dirty="0"/>
          </a:p>
          <a:p>
            <a:r>
              <a:rPr lang="fr-FR" b="1" dirty="0">
                <a:solidFill>
                  <a:srgbClr val="FF0000"/>
                </a:solidFill>
              </a:rPr>
              <a:t>NB : </a:t>
            </a:r>
            <a:r>
              <a:rPr lang="fr-FR" dirty="0"/>
              <a:t>Vous constaterez 10 sections "Intervention OTBB" visibles. Ne renseigner que si applicable. Le technicien ne verra que le nombre d'OTBB sélectionnés. Ces valeurs sont modifiables par le technicien.</a:t>
            </a:r>
          </a:p>
        </p:txBody>
      </p:sp>
    </p:spTree>
    <p:extLst>
      <p:ext uri="{BB962C8B-B14F-4D97-AF65-F5344CB8AC3E}">
        <p14:creationId xmlns:p14="http://schemas.microsoft.com/office/powerpoint/2010/main" val="32549306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DF59D647-D0C0-48E4-B055-C05BE8627A8A}"/>
              </a:ext>
            </a:extLst>
          </p:cNvPr>
          <p:cNvSpPr>
            <a:spLocks noGrp="1"/>
          </p:cNvSpPr>
          <p:nvPr>
            <p:ph type="title"/>
          </p:nvPr>
        </p:nvSpPr>
        <p:spPr/>
        <p:txBody>
          <a:bodyPr/>
          <a:lstStyle/>
          <a:p>
            <a:r>
              <a:rPr lang="fr-FR" dirty="0"/>
              <a:t>Procédure - Planification</a:t>
            </a:r>
          </a:p>
        </p:txBody>
      </p:sp>
      <p:sp>
        <p:nvSpPr>
          <p:cNvPr id="4" name="Espace réservé du texte 3">
            <a:extLst>
              <a:ext uri="{FF2B5EF4-FFF2-40B4-BE49-F238E27FC236}">
                <a16:creationId xmlns:a16="http://schemas.microsoft.com/office/drawing/2014/main" id="{1084951C-8EC7-482C-8AE1-3A89FA91C181}"/>
              </a:ext>
            </a:extLst>
          </p:cNvPr>
          <p:cNvSpPr>
            <a:spLocks noGrp="1"/>
          </p:cNvSpPr>
          <p:nvPr>
            <p:ph type="body" sz="quarter" idx="13"/>
          </p:nvPr>
        </p:nvSpPr>
        <p:spPr/>
        <p:txBody>
          <a:bodyPr/>
          <a:lstStyle/>
          <a:p>
            <a:endParaRPr lang="fr-FR"/>
          </a:p>
        </p:txBody>
      </p:sp>
      <p:pic>
        <p:nvPicPr>
          <p:cNvPr id="8196" name="Picture 4">
            <a:extLst>
              <a:ext uri="{FF2B5EF4-FFF2-40B4-BE49-F238E27FC236}">
                <a16:creationId xmlns:a16="http://schemas.microsoft.com/office/drawing/2014/main" id="{AEB52191-A4E9-40C6-AF38-72936A9A22BC}"/>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0855" r="2038" b="5771"/>
          <a:stretch/>
        </p:blipFill>
        <p:spPr bwMode="auto">
          <a:xfrm>
            <a:off x="2435289" y="1642187"/>
            <a:ext cx="6845834" cy="3573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44238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24DB1CFE-8D88-45D7-B201-744D6B65B849}"/>
              </a:ext>
            </a:extLst>
          </p:cNvPr>
          <p:cNvSpPr>
            <a:spLocks noGrp="1"/>
          </p:cNvSpPr>
          <p:nvPr>
            <p:ph type="title"/>
          </p:nvPr>
        </p:nvSpPr>
        <p:spPr/>
        <p:txBody>
          <a:bodyPr/>
          <a:lstStyle/>
          <a:p>
            <a:r>
              <a:rPr lang="fr-FR" dirty="0"/>
              <a:t>Procédure – Synchronisation planning et sélection de l’intervention</a:t>
            </a:r>
          </a:p>
        </p:txBody>
      </p:sp>
      <p:sp>
        <p:nvSpPr>
          <p:cNvPr id="4" name="Espace réservé du texte 3">
            <a:extLst>
              <a:ext uri="{FF2B5EF4-FFF2-40B4-BE49-F238E27FC236}">
                <a16:creationId xmlns:a16="http://schemas.microsoft.com/office/drawing/2014/main" id="{1CB54450-65F2-43F6-A0CD-E49BAC55C0F5}"/>
              </a:ext>
            </a:extLst>
          </p:cNvPr>
          <p:cNvSpPr>
            <a:spLocks noGrp="1"/>
          </p:cNvSpPr>
          <p:nvPr>
            <p:ph type="body" sz="quarter" idx="13"/>
          </p:nvPr>
        </p:nvSpPr>
        <p:spPr/>
        <p:txBody>
          <a:bodyPr/>
          <a:lstStyle/>
          <a:p>
            <a:endParaRPr lang="fr-FR"/>
          </a:p>
        </p:txBody>
      </p:sp>
      <p:pic>
        <p:nvPicPr>
          <p:cNvPr id="4098" name="Picture 2">
            <a:extLst>
              <a:ext uri="{FF2B5EF4-FFF2-40B4-BE49-F238E27FC236}">
                <a16:creationId xmlns:a16="http://schemas.microsoft.com/office/drawing/2014/main" id="{AB779893-468F-4B51-BBDD-B989278E59A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69498" y="1411320"/>
            <a:ext cx="2190051" cy="4622800"/>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A85CA46F-12BF-4B67-B7D4-15481C09FAA6}"/>
              </a:ext>
            </a:extLst>
          </p:cNvPr>
          <p:cNvSpPr txBox="1"/>
          <p:nvPr/>
        </p:nvSpPr>
        <p:spPr>
          <a:xfrm>
            <a:off x="1038809" y="1411320"/>
            <a:ext cx="4124131" cy="4152122"/>
          </a:xfrm>
          <a:prstGeom prst="rect">
            <a:avLst/>
          </a:prstGeom>
          <a:noFill/>
        </p:spPr>
        <p:txBody>
          <a:bodyPr wrap="square" lIns="0" tIns="0" rIns="0" bIns="0" rtlCol="0">
            <a:noAutofit/>
          </a:bodyPr>
          <a:lstStyle/>
          <a:p>
            <a:pPr marL="285750" indent="-285750">
              <a:buFont typeface="Wingdings" panose="05000000000000000000" pitchFamily="2" charset="2"/>
              <a:buChar char="q"/>
            </a:pPr>
            <a:r>
              <a:rPr lang="fr-FR" dirty="0"/>
              <a:t>Cliquer pour synchroniser</a:t>
            </a:r>
          </a:p>
          <a:p>
            <a:pPr marL="285750" indent="-285750">
              <a:buFont typeface="Wingdings" panose="05000000000000000000" pitchFamily="2" charset="2"/>
              <a:buChar char="q"/>
            </a:pPr>
            <a:endParaRPr lang="fr-FR" dirty="0"/>
          </a:p>
          <a:p>
            <a:pPr marL="285750" indent="-285750">
              <a:buFont typeface="Wingdings" panose="05000000000000000000" pitchFamily="2" charset="2"/>
              <a:buChar char="q"/>
            </a:pPr>
            <a:r>
              <a:rPr lang="fr-FR" dirty="0"/>
              <a:t>Sélectionner la date voulue </a:t>
            </a:r>
          </a:p>
          <a:p>
            <a:pPr marL="285750" indent="-285750">
              <a:buFont typeface="Wingdings" panose="05000000000000000000" pitchFamily="2" charset="2"/>
              <a:buChar char="q"/>
            </a:pPr>
            <a:endParaRPr lang="fr-FR" dirty="0"/>
          </a:p>
          <a:p>
            <a:pPr marL="285750" indent="-285750">
              <a:buFont typeface="Wingdings" panose="05000000000000000000" pitchFamily="2" charset="2"/>
              <a:buChar char="q"/>
            </a:pPr>
            <a:r>
              <a:rPr lang="fr-FR" dirty="0"/>
              <a:t>Sélectionner l’intervention concernée</a:t>
            </a:r>
          </a:p>
          <a:p>
            <a:pPr marL="285750" indent="-285750">
              <a:buFont typeface="Wingdings" panose="05000000000000000000" pitchFamily="2" charset="2"/>
              <a:buChar char="q"/>
            </a:pPr>
            <a:endParaRPr lang="fr-FR" dirty="0"/>
          </a:p>
          <a:p>
            <a:endParaRPr lang="fr-FR" dirty="0"/>
          </a:p>
        </p:txBody>
      </p:sp>
      <p:sp>
        <p:nvSpPr>
          <p:cNvPr id="2" name="Ellipse 1">
            <a:extLst>
              <a:ext uri="{FF2B5EF4-FFF2-40B4-BE49-F238E27FC236}">
                <a16:creationId xmlns:a16="http://schemas.microsoft.com/office/drawing/2014/main" id="{320E7652-7779-4234-87DB-D808BD28E0D6}"/>
              </a:ext>
            </a:extLst>
          </p:cNvPr>
          <p:cNvSpPr/>
          <p:nvPr/>
        </p:nvSpPr>
        <p:spPr>
          <a:xfrm>
            <a:off x="9110260" y="1503081"/>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1</a:t>
            </a:r>
          </a:p>
        </p:txBody>
      </p:sp>
      <p:sp>
        <p:nvSpPr>
          <p:cNvPr id="7" name="Ellipse 6">
            <a:extLst>
              <a:ext uri="{FF2B5EF4-FFF2-40B4-BE49-F238E27FC236}">
                <a16:creationId xmlns:a16="http://schemas.microsoft.com/office/drawing/2014/main" id="{D7AA1C47-B61F-4165-9902-F05161108051}"/>
              </a:ext>
            </a:extLst>
          </p:cNvPr>
          <p:cNvSpPr/>
          <p:nvPr/>
        </p:nvSpPr>
        <p:spPr>
          <a:xfrm>
            <a:off x="7442956" y="1894966"/>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2</a:t>
            </a:r>
          </a:p>
        </p:txBody>
      </p:sp>
      <p:sp>
        <p:nvSpPr>
          <p:cNvPr id="8" name="Ellipse 7">
            <a:extLst>
              <a:ext uri="{FF2B5EF4-FFF2-40B4-BE49-F238E27FC236}">
                <a16:creationId xmlns:a16="http://schemas.microsoft.com/office/drawing/2014/main" id="{AA96B570-C498-42A3-AAEF-EEA392B723EF}"/>
              </a:ext>
            </a:extLst>
          </p:cNvPr>
          <p:cNvSpPr/>
          <p:nvPr/>
        </p:nvSpPr>
        <p:spPr>
          <a:xfrm>
            <a:off x="8886327" y="2547997"/>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3</a:t>
            </a:r>
          </a:p>
        </p:txBody>
      </p:sp>
      <p:sp>
        <p:nvSpPr>
          <p:cNvPr id="9" name="Ellipse 8">
            <a:extLst>
              <a:ext uri="{FF2B5EF4-FFF2-40B4-BE49-F238E27FC236}">
                <a16:creationId xmlns:a16="http://schemas.microsoft.com/office/drawing/2014/main" id="{D6F7D68B-F0B7-4317-9EC6-2EF5182470AF}"/>
              </a:ext>
            </a:extLst>
          </p:cNvPr>
          <p:cNvSpPr/>
          <p:nvPr/>
        </p:nvSpPr>
        <p:spPr>
          <a:xfrm>
            <a:off x="985468" y="1975162"/>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2</a:t>
            </a:r>
          </a:p>
        </p:txBody>
      </p:sp>
      <p:sp>
        <p:nvSpPr>
          <p:cNvPr id="10" name="Ellipse 9">
            <a:extLst>
              <a:ext uri="{FF2B5EF4-FFF2-40B4-BE49-F238E27FC236}">
                <a16:creationId xmlns:a16="http://schemas.microsoft.com/office/drawing/2014/main" id="{024FB356-A944-4B83-BBE1-7F7F1E41F260}"/>
              </a:ext>
            </a:extLst>
          </p:cNvPr>
          <p:cNvSpPr/>
          <p:nvPr/>
        </p:nvSpPr>
        <p:spPr>
          <a:xfrm>
            <a:off x="985468" y="1411320"/>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1</a:t>
            </a:r>
          </a:p>
        </p:txBody>
      </p:sp>
      <p:sp>
        <p:nvSpPr>
          <p:cNvPr id="11" name="Ellipse 10">
            <a:extLst>
              <a:ext uri="{FF2B5EF4-FFF2-40B4-BE49-F238E27FC236}">
                <a16:creationId xmlns:a16="http://schemas.microsoft.com/office/drawing/2014/main" id="{7A1BE174-A6EF-4546-AA32-7EC7D44D48CA}"/>
              </a:ext>
            </a:extLst>
          </p:cNvPr>
          <p:cNvSpPr/>
          <p:nvPr/>
        </p:nvSpPr>
        <p:spPr>
          <a:xfrm>
            <a:off x="976366" y="2525555"/>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3</a:t>
            </a:r>
          </a:p>
        </p:txBody>
      </p:sp>
    </p:spTree>
    <p:extLst>
      <p:ext uri="{BB962C8B-B14F-4D97-AF65-F5344CB8AC3E}">
        <p14:creationId xmlns:p14="http://schemas.microsoft.com/office/powerpoint/2010/main" val="34622933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a:extLst>
              <a:ext uri="{FF2B5EF4-FFF2-40B4-BE49-F238E27FC236}">
                <a16:creationId xmlns:a16="http://schemas.microsoft.com/office/drawing/2014/main" id="{109CF5BE-E8C5-4F09-B524-BC640DF4218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12429" y="1352744"/>
            <a:ext cx="2245991" cy="4739951"/>
          </a:xfrm>
          <a:prstGeom prst="rect">
            <a:avLst/>
          </a:prstGeom>
          <a:noFill/>
          <a:extLst>
            <a:ext uri="{909E8E84-426E-40DD-AFC4-6F175D3DCCD1}">
              <a14:hiddenFill xmlns:a14="http://schemas.microsoft.com/office/drawing/2010/main">
                <a:solidFill>
                  <a:srgbClr val="FFFFFF"/>
                </a:solidFill>
              </a14:hiddenFill>
            </a:ext>
          </a:extLst>
        </p:spPr>
      </p:pic>
      <p:sp>
        <p:nvSpPr>
          <p:cNvPr id="3" name="Titre 2">
            <a:extLst>
              <a:ext uri="{FF2B5EF4-FFF2-40B4-BE49-F238E27FC236}">
                <a16:creationId xmlns:a16="http://schemas.microsoft.com/office/drawing/2014/main" id="{1995946E-5E69-4B4F-86F9-41EC08F1FF36}"/>
              </a:ext>
            </a:extLst>
          </p:cNvPr>
          <p:cNvSpPr>
            <a:spLocks noGrp="1"/>
          </p:cNvSpPr>
          <p:nvPr>
            <p:ph type="title"/>
          </p:nvPr>
        </p:nvSpPr>
        <p:spPr/>
        <p:txBody>
          <a:bodyPr/>
          <a:lstStyle/>
          <a:p>
            <a:r>
              <a:rPr lang="fr-FR" dirty="0"/>
              <a:t>Procédure – Mise en route</a:t>
            </a:r>
          </a:p>
        </p:txBody>
      </p:sp>
      <p:sp>
        <p:nvSpPr>
          <p:cNvPr id="4" name="Espace réservé du texte 3">
            <a:extLst>
              <a:ext uri="{FF2B5EF4-FFF2-40B4-BE49-F238E27FC236}">
                <a16:creationId xmlns:a16="http://schemas.microsoft.com/office/drawing/2014/main" id="{F95B2CF7-1861-44C3-A243-2061F7CA5450}"/>
              </a:ext>
            </a:extLst>
          </p:cNvPr>
          <p:cNvSpPr>
            <a:spLocks noGrp="1"/>
          </p:cNvSpPr>
          <p:nvPr>
            <p:ph type="body" sz="quarter" idx="13"/>
          </p:nvPr>
        </p:nvSpPr>
        <p:spPr/>
        <p:txBody>
          <a:bodyPr/>
          <a:lstStyle/>
          <a:p>
            <a:endParaRPr lang="fr-FR"/>
          </a:p>
        </p:txBody>
      </p:sp>
      <p:pic>
        <p:nvPicPr>
          <p:cNvPr id="6146" name="Picture 2">
            <a:extLst>
              <a:ext uri="{FF2B5EF4-FFF2-40B4-BE49-F238E27FC236}">
                <a16:creationId xmlns:a16="http://schemas.microsoft.com/office/drawing/2014/main" id="{77E90A11-1AAB-4769-B7C1-41C782402F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7671" y="1352745"/>
            <a:ext cx="2245991" cy="4739951"/>
          </a:xfrm>
          <a:prstGeom prst="rect">
            <a:avLst/>
          </a:prstGeom>
          <a:noFill/>
          <a:extLst>
            <a:ext uri="{909E8E84-426E-40DD-AFC4-6F175D3DCCD1}">
              <a14:hiddenFill xmlns:a14="http://schemas.microsoft.com/office/drawing/2010/main">
                <a:solidFill>
                  <a:srgbClr val="FFFFFF"/>
                </a:solidFill>
              </a14:hiddenFill>
            </a:ext>
          </a:extLst>
        </p:spPr>
      </p:pic>
      <p:sp>
        <p:nvSpPr>
          <p:cNvPr id="6" name="Ellipse 5">
            <a:extLst>
              <a:ext uri="{FF2B5EF4-FFF2-40B4-BE49-F238E27FC236}">
                <a16:creationId xmlns:a16="http://schemas.microsoft.com/office/drawing/2014/main" id="{7590558B-7CA3-47E3-B592-9B2B2F6EC703}"/>
              </a:ext>
            </a:extLst>
          </p:cNvPr>
          <p:cNvSpPr/>
          <p:nvPr/>
        </p:nvSpPr>
        <p:spPr>
          <a:xfrm>
            <a:off x="8625084" y="2279067"/>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1</a:t>
            </a:r>
          </a:p>
        </p:txBody>
      </p:sp>
      <p:sp>
        <p:nvSpPr>
          <p:cNvPr id="7" name="Ellipse 6">
            <a:extLst>
              <a:ext uri="{FF2B5EF4-FFF2-40B4-BE49-F238E27FC236}">
                <a16:creationId xmlns:a16="http://schemas.microsoft.com/office/drawing/2014/main" id="{E7809425-1060-449E-AC85-63E60CBE7176}"/>
              </a:ext>
            </a:extLst>
          </p:cNvPr>
          <p:cNvSpPr/>
          <p:nvPr/>
        </p:nvSpPr>
        <p:spPr>
          <a:xfrm>
            <a:off x="11003902" y="3681575"/>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2</a:t>
            </a:r>
          </a:p>
        </p:txBody>
      </p:sp>
      <p:sp>
        <p:nvSpPr>
          <p:cNvPr id="10" name="ZoneTexte 9">
            <a:extLst>
              <a:ext uri="{FF2B5EF4-FFF2-40B4-BE49-F238E27FC236}">
                <a16:creationId xmlns:a16="http://schemas.microsoft.com/office/drawing/2014/main" id="{F77BEA2E-9901-4D0D-A188-800CC58F3652}"/>
              </a:ext>
            </a:extLst>
          </p:cNvPr>
          <p:cNvSpPr txBox="1"/>
          <p:nvPr/>
        </p:nvSpPr>
        <p:spPr>
          <a:xfrm>
            <a:off x="1038809" y="1411320"/>
            <a:ext cx="5057191" cy="4152122"/>
          </a:xfrm>
          <a:prstGeom prst="rect">
            <a:avLst/>
          </a:prstGeom>
          <a:noFill/>
        </p:spPr>
        <p:txBody>
          <a:bodyPr wrap="square" lIns="0" tIns="0" rIns="0" bIns="0" rtlCol="0">
            <a:noAutofit/>
          </a:bodyPr>
          <a:lstStyle/>
          <a:p>
            <a:pPr marL="285750" indent="-285750">
              <a:buFont typeface="Wingdings" panose="05000000000000000000" pitchFamily="2" charset="2"/>
              <a:buChar char="q"/>
            </a:pPr>
            <a:r>
              <a:rPr lang="fr-FR" dirty="0"/>
              <a:t>Changer l’activité : de « disponible » à en « route »</a:t>
            </a:r>
          </a:p>
          <a:p>
            <a:pPr marL="285750" indent="-285750">
              <a:buFont typeface="Wingdings" panose="05000000000000000000" pitchFamily="2" charset="2"/>
              <a:buChar char="q"/>
            </a:pPr>
            <a:endParaRPr lang="fr-FR" dirty="0"/>
          </a:p>
          <a:p>
            <a:pPr marL="285750" indent="-285750">
              <a:buFont typeface="Wingdings" panose="05000000000000000000" pitchFamily="2" charset="2"/>
              <a:buChar char="q"/>
            </a:pPr>
            <a:r>
              <a:rPr lang="fr-FR" dirty="0"/>
              <a:t>Cliquer sur l’adresse pour être guider jusqu’à la destination</a:t>
            </a:r>
          </a:p>
          <a:p>
            <a:endParaRPr lang="fr-FR" dirty="0"/>
          </a:p>
          <a:p>
            <a:endParaRPr lang="fr-FR" dirty="0"/>
          </a:p>
        </p:txBody>
      </p:sp>
      <p:sp>
        <p:nvSpPr>
          <p:cNvPr id="11" name="Ellipse 10">
            <a:extLst>
              <a:ext uri="{FF2B5EF4-FFF2-40B4-BE49-F238E27FC236}">
                <a16:creationId xmlns:a16="http://schemas.microsoft.com/office/drawing/2014/main" id="{1D88E193-65B9-4C02-927D-0CE3EAE0CAB6}"/>
              </a:ext>
            </a:extLst>
          </p:cNvPr>
          <p:cNvSpPr/>
          <p:nvPr/>
        </p:nvSpPr>
        <p:spPr>
          <a:xfrm>
            <a:off x="985468" y="1975162"/>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2</a:t>
            </a:r>
          </a:p>
        </p:txBody>
      </p:sp>
      <p:sp>
        <p:nvSpPr>
          <p:cNvPr id="12" name="Ellipse 11">
            <a:extLst>
              <a:ext uri="{FF2B5EF4-FFF2-40B4-BE49-F238E27FC236}">
                <a16:creationId xmlns:a16="http://schemas.microsoft.com/office/drawing/2014/main" id="{ECC12CBC-878D-4380-898B-8E7D61F0F973}"/>
              </a:ext>
            </a:extLst>
          </p:cNvPr>
          <p:cNvSpPr/>
          <p:nvPr/>
        </p:nvSpPr>
        <p:spPr>
          <a:xfrm>
            <a:off x="985468" y="1411320"/>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1</a:t>
            </a:r>
          </a:p>
        </p:txBody>
      </p:sp>
    </p:spTree>
    <p:extLst>
      <p:ext uri="{BB962C8B-B14F-4D97-AF65-F5344CB8AC3E}">
        <p14:creationId xmlns:p14="http://schemas.microsoft.com/office/powerpoint/2010/main" val="9566285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3941BF2F-6ACE-49BB-B094-E77796B724A0}"/>
              </a:ext>
            </a:extLst>
          </p:cNvPr>
          <p:cNvSpPr>
            <a:spLocks noGrp="1"/>
          </p:cNvSpPr>
          <p:nvPr>
            <p:ph type="title"/>
          </p:nvPr>
        </p:nvSpPr>
        <p:spPr/>
        <p:txBody>
          <a:bodyPr/>
          <a:lstStyle/>
          <a:p>
            <a:r>
              <a:rPr lang="fr-FR" dirty="0"/>
              <a:t>Procédure – Arrivée sur place</a:t>
            </a:r>
          </a:p>
        </p:txBody>
      </p:sp>
      <p:sp>
        <p:nvSpPr>
          <p:cNvPr id="4" name="Espace réservé du texte 3">
            <a:extLst>
              <a:ext uri="{FF2B5EF4-FFF2-40B4-BE49-F238E27FC236}">
                <a16:creationId xmlns:a16="http://schemas.microsoft.com/office/drawing/2014/main" id="{578FBAC5-CC4E-4C3C-97FB-80334CB14F69}"/>
              </a:ext>
            </a:extLst>
          </p:cNvPr>
          <p:cNvSpPr>
            <a:spLocks noGrp="1"/>
          </p:cNvSpPr>
          <p:nvPr>
            <p:ph type="body" sz="quarter" idx="13"/>
          </p:nvPr>
        </p:nvSpPr>
        <p:spPr/>
        <p:txBody>
          <a:bodyPr/>
          <a:lstStyle/>
          <a:p>
            <a:endParaRPr lang="fr-FR"/>
          </a:p>
        </p:txBody>
      </p:sp>
      <p:pic>
        <p:nvPicPr>
          <p:cNvPr id="7170" name="Picture 2">
            <a:extLst>
              <a:ext uri="{FF2B5EF4-FFF2-40B4-BE49-F238E27FC236}">
                <a16:creationId xmlns:a16="http://schemas.microsoft.com/office/drawing/2014/main" id="{CBCB8549-2C28-4DD9-BD43-AAA1FB4983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4653" y="1245759"/>
            <a:ext cx="2347380" cy="4953923"/>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36322225-2090-44B9-B11C-DDCB12E2E296}"/>
              </a:ext>
            </a:extLst>
          </p:cNvPr>
          <p:cNvSpPr txBox="1"/>
          <p:nvPr/>
        </p:nvSpPr>
        <p:spPr>
          <a:xfrm>
            <a:off x="1038809" y="1411320"/>
            <a:ext cx="5688562" cy="4152122"/>
          </a:xfrm>
          <a:prstGeom prst="rect">
            <a:avLst/>
          </a:prstGeom>
          <a:noFill/>
        </p:spPr>
        <p:txBody>
          <a:bodyPr wrap="square" lIns="0" tIns="0" rIns="0" bIns="0" rtlCol="0">
            <a:noAutofit/>
          </a:bodyPr>
          <a:lstStyle/>
          <a:p>
            <a:pPr marL="285750" indent="-285750">
              <a:buFont typeface="Wingdings" panose="05000000000000000000" pitchFamily="2" charset="2"/>
              <a:buChar char="q"/>
            </a:pPr>
            <a:r>
              <a:rPr lang="fr-FR" dirty="0"/>
              <a:t>Changer l’activité : de « en route » à en « intervention »</a:t>
            </a:r>
          </a:p>
          <a:p>
            <a:pPr marL="285750" indent="-285750">
              <a:buFont typeface="Wingdings" panose="05000000000000000000" pitchFamily="2" charset="2"/>
              <a:buChar char="q"/>
            </a:pPr>
            <a:endParaRPr lang="fr-FR" dirty="0"/>
          </a:p>
          <a:p>
            <a:pPr marL="285750" indent="-285750">
              <a:buFont typeface="Wingdings" panose="05000000000000000000" pitchFamily="2" charset="2"/>
              <a:buChar char="q"/>
            </a:pPr>
            <a:r>
              <a:rPr lang="fr-FR" dirty="0"/>
              <a:t>Accéder à mon compte rendu</a:t>
            </a:r>
          </a:p>
          <a:p>
            <a:pPr marL="285750" indent="-285750">
              <a:buFont typeface="Wingdings" panose="05000000000000000000" pitchFamily="2" charset="2"/>
              <a:buChar char="q"/>
            </a:pPr>
            <a:endParaRPr lang="fr-FR" dirty="0"/>
          </a:p>
          <a:p>
            <a:pPr marL="285750" indent="-285750">
              <a:buFont typeface="Wingdings" panose="05000000000000000000" pitchFamily="2" charset="2"/>
              <a:buChar char="q"/>
            </a:pPr>
            <a:endParaRPr lang="fr-FR" dirty="0"/>
          </a:p>
          <a:p>
            <a:endParaRPr lang="fr-FR" dirty="0"/>
          </a:p>
          <a:p>
            <a:endParaRPr lang="fr-FR" dirty="0"/>
          </a:p>
        </p:txBody>
      </p:sp>
      <p:sp>
        <p:nvSpPr>
          <p:cNvPr id="8" name="Ellipse 7">
            <a:extLst>
              <a:ext uri="{FF2B5EF4-FFF2-40B4-BE49-F238E27FC236}">
                <a16:creationId xmlns:a16="http://schemas.microsoft.com/office/drawing/2014/main" id="{37954BFD-1905-446E-80D8-F2B0CAC92C2B}"/>
              </a:ext>
            </a:extLst>
          </p:cNvPr>
          <p:cNvSpPr/>
          <p:nvPr/>
        </p:nvSpPr>
        <p:spPr>
          <a:xfrm>
            <a:off x="985468" y="1411320"/>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1</a:t>
            </a:r>
          </a:p>
        </p:txBody>
      </p:sp>
      <p:sp>
        <p:nvSpPr>
          <p:cNvPr id="9" name="Ellipse 8">
            <a:extLst>
              <a:ext uri="{FF2B5EF4-FFF2-40B4-BE49-F238E27FC236}">
                <a16:creationId xmlns:a16="http://schemas.microsoft.com/office/drawing/2014/main" id="{FA33AB56-F266-487C-80D7-ADB7FF100E7E}"/>
              </a:ext>
            </a:extLst>
          </p:cNvPr>
          <p:cNvSpPr/>
          <p:nvPr/>
        </p:nvSpPr>
        <p:spPr>
          <a:xfrm>
            <a:off x="8953455" y="2133783"/>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1</a:t>
            </a:r>
          </a:p>
        </p:txBody>
      </p:sp>
      <p:pic>
        <p:nvPicPr>
          <p:cNvPr id="10" name="Picture 2">
            <a:extLst>
              <a:ext uri="{FF2B5EF4-FFF2-40B4-BE49-F238E27FC236}">
                <a16:creationId xmlns:a16="http://schemas.microsoft.com/office/drawing/2014/main" id="{6B34B735-CE03-4A1C-9002-44EB8587D15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584535" y="1245758"/>
            <a:ext cx="2347380" cy="4953923"/>
          </a:xfrm>
          <a:prstGeom prst="rect">
            <a:avLst/>
          </a:prstGeom>
          <a:noFill/>
          <a:extLst>
            <a:ext uri="{909E8E84-426E-40DD-AFC4-6F175D3DCCD1}">
              <a14:hiddenFill xmlns:a14="http://schemas.microsoft.com/office/drawing/2010/main">
                <a:solidFill>
                  <a:srgbClr val="FFFFFF"/>
                </a:solidFill>
              </a14:hiddenFill>
            </a:ext>
          </a:extLst>
        </p:spPr>
      </p:pic>
      <p:sp>
        <p:nvSpPr>
          <p:cNvPr id="11" name="Ellipse 10">
            <a:extLst>
              <a:ext uri="{FF2B5EF4-FFF2-40B4-BE49-F238E27FC236}">
                <a16:creationId xmlns:a16="http://schemas.microsoft.com/office/drawing/2014/main" id="{65CA56F8-E4E9-425E-95F9-5DC82F68C15B}"/>
              </a:ext>
            </a:extLst>
          </p:cNvPr>
          <p:cNvSpPr/>
          <p:nvPr/>
        </p:nvSpPr>
        <p:spPr>
          <a:xfrm>
            <a:off x="9435246" y="1661031"/>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2</a:t>
            </a:r>
          </a:p>
        </p:txBody>
      </p:sp>
      <p:sp>
        <p:nvSpPr>
          <p:cNvPr id="12" name="Ellipse 11">
            <a:extLst>
              <a:ext uri="{FF2B5EF4-FFF2-40B4-BE49-F238E27FC236}">
                <a16:creationId xmlns:a16="http://schemas.microsoft.com/office/drawing/2014/main" id="{DEAA47BB-253B-4895-86EB-C51D63CF602E}"/>
              </a:ext>
            </a:extLst>
          </p:cNvPr>
          <p:cNvSpPr/>
          <p:nvPr/>
        </p:nvSpPr>
        <p:spPr>
          <a:xfrm>
            <a:off x="985468" y="1947353"/>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2</a:t>
            </a:r>
          </a:p>
        </p:txBody>
      </p:sp>
    </p:spTree>
    <p:extLst>
      <p:ext uri="{BB962C8B-B14F-4D97-AF65-F5344CB8AC3E}">
        <p14:creationId xmlns:p14="http://schemas.microsoft.com/office/powerpoint/2010/main" val="18959758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4DD056D-E27A-44E9-BB9F-CA69840B999E}"/>
              </a:ext>
            </a:extLst>
          </p:cNvPr>
          <p:cNvSpPr>
            <a:spLocks noGrp="1"/>
          </p:cNvSpPr>
          <p:nvPr>
            <p:ph type="title"/>
          </p:nvPr>
        </p:nvSpPr>
        <p:spPr/>
        <p:txBody>
          <a:bodyPr/>
          <a:lstStyle/>
          <a:p>
            <a:r>
              <a:rPr lang="fr-FR" dirty="0"/>
              <a:t>Procédure – Vérifier la faisabilité de l’intervention</a:t>
            </a:r>
          </a:p>
        </p:txBody>
      </p:sp>
      <p:sp>
        <p:nvSpPr>
          <p:cNvPr id="4" name="Espace réservé du texte 3">
            <a:extLst>
              <a:ext uri="{FF2B5EF4-FFF2-40B4-BE49-F238E27FC236}">
                <a16:creationId xmlns:a16="http://schemas.microsoft.com/office/drawing/2014/main" id="{C8A441A8-92B4-400E-A6F2-F3BA6F69F718}"/>
              </a:ext>
            </a:extLst>
          </p:cNvPr>
          <p:cNvSpPr>
            <a:spLocks noGrp="1"/>
          </p:cNvSpPr>
          <p:nvPr>
            <p:ph type="body" sz="quarter" idx="13"/>
          </p:nvPr>
        </p:nvSpPr>
        <p:spPr/>
        <p:txBody>
          <a:bodyPr/>
          <a:lstStyle/>
          <a:p>
            <a:endParaRPr lang="fr-FR"/>
          </a:p>
        </p:txBody>
      </p:sp>
      <p:pic>
        <p:nvPicPr>
          <p:cNvPr id="11266" name="Picture 2">
            <a:extLst>
              <a:ext uri="{FF2B5EF4-FFF2-40B4-BE49-F238E27FC236}">
                <a16:creationId xmlns:a16="http://schemas.microsoft.com/office/drawing/2014/main" id="{6F6E6258-3807-40DA-B767-104649EA30A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94209" y="1493838"/>
            <a:ext cx="2190051" cy="46228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9073A527-69F9-40B5-A922-78AB751AE4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9672" y="1493838"/>
            <a:ext cx="2190051" cy="46228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1C44FCE1-D6B5-4FEB-A250-D454622DCC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95458" y="1493838"/>
            <a:ext cx="2190051" cy="4622800"/>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5EB51B09-833C-4B8F-8864-2D44AD493CFD}"/>
              </a:ext>
            </a:extLst>
          </p:cNvPr>
          <p:cNvSpPr txBox="1"/>
          <p:nvPr/>
        </p:nvSpPr>
        <p:spPr>
          <a:xfrm>
            <a:off x="525625" y="1493838"/>
            <a:ext cx="2945363" cy="4152122"/>
          </a:xfrm>
          <a:prstGeom prst="rect">
            <a:avLst/>
          </a:prstGeom>
          <a:noFill/>
        </p:spPr>
        <p:txBody>
          <a:bodyPr wrap="square" lIns="0" tIns="0" rIns="0" bIns="0" rtlCol="0">
            <a:noAutofit/>
          </a:bodyPr>
          <a:lstStyle/>
          <a:p>
            <a:pPr marL="285750" indent="-285750">
              <a:buFont typeface="Wingdings" panose="05000000000000000000" pitchFamily="2" charset="2"/>
              <a:buChar char="q"/>
            </a:pPr>
            <a:r>
              <a:rPr lang="fr-FR" dirty="0"/>
              <a:t>Ré pondre à la 1</a:t>
            </a:r>
            <a:r>
              <a:rPr lang="fr-FR" baseline="30000" dirty="0"/>
              <a:t>ère</a:t>
            </a:r>
            <a:r>
              <a:rPr lang="fr-FR" dirty="0"/>
              <a:t> question</a:t>
            </a:r>
          </a:p>
          <a:p>
            <a:pPr marL="285750" indent="-285750">
              <a:buFont typeface="Wingdings" panose="05000000000000000000" pitchFamily="2" charset="2"/>
              <a:buChar char="q"/>
            </a:pPr>
            <a:endParaRPr lang="fr-FR" dirty="0"/>
          </a:p>
          <a:p>
            <a:pPr marL="285750" indent="-285750">
              <a:buFont typeface="Wingdings" panose="05000000000000000000" pitchFamily="2" charset="2"/>
              <a:buChar char="q"/>
            </a:pPr>
            <a:r>
              <a:rPr lang="fr-FR" dirty="0"/>
              <a:t>Poursuivre l’intervention </a:t>
            </a:r>
          </a:p>
          <a:p>
            <a:pPr marL="285750" indent="-285750">
              <a:buFont typeface="Wingdings" panose="05000000000000000000" pitchFamily="2" charset="2"/>
              <a:buChar char="q"/>
            </a:pPr>
            <a:endParaRPr lang="fr-FR" dirty="0"/>
          </a:p>
          <a:p>
            <a:pPr marL="285750" indent="-285750">
              <a:buFont typeface="Wingdings" panose="05000000000000000000" pitchFamily="2" charset="2"/>
              <a:buChar char="q"/>
            </a:pPr>
            <a:r>
              <a:rPr lang="fr-FR" dirty="0"/>
              <a:t>Expliquer les raison de l’impossibilité de réaliser l’intervention</a:t>
            </a:r>
          </a:p>
          <a:p>
            <a:endParaRPr lang="fr-FR" dirty="0"/>
          </a:p>
          <a:p>
            <a:pPr marL="285750" indent="-285750">
              <a:buFont typeface="Wingdings" panose="05000000000000000000" pitchFamily="2" charset="2"/>
              <a:buChar char="q"/>
            </a:pPr>
            <a:endParaRPr lang="fr-FR" dirty="0"/>
          </a:p>
          <a:p>
            <a:endParaRPr lang="fr-FR" dirty="0"/>
          </a:p>
          <a:p>
            <a:endParaRPr lang="fr-FR" dirty="0"/>
          </a:p>
        </p:txBody>
      </p:sp>
      <p:sp>
        <p:nvSpPr>
          <p:cNvPr id="11" name="Ellipse 10">
            <a:extLst>
              <a:ext uri="{FF2B5EF4-FFF2-40B4-BE49-F238E27FC236}">
                <a16:creationId xmlns:a16="http://schemas.microsoft.com/office/drawing/2014/main" id="{84F8E511-3D62-4179-B7A4-1932759F80E8}"/>
              </a:ext>
            </a:extLst>
          </p:cNvPr>
          <p:cNvSpPr/>
          <p:nvPr/>
        </p:nvSpPr>
        <p:spPr>
          <a:xfrm>
            <a:off x="8782942" y="2364694"/>
            <a:ext cx="510347" cy="443819"/>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2a</a:t>
            </a:r>
          </a:p>
        </p:txBody>
      </p:sp>
      <p:sp>
        <p:nvSpPr>
          <p:cNvPr id="13" name="Ellipse 12">
            <a:extLst>
              <a:ext uri="{FF2B5EF4-FFF2-40B4-BE49-F238E27FC236}">
                <a16:creationId xmlns:a16="http://schemas.microsoft.com/office/drawing/2014/main" id="{7D2068D8-77A8-4BD3-B27D-226995EAB4EB}"/>
              </a:ext>
            </a:extLst>
          </p:cNvPr>
          <p:cNvSpPr/>
          <p:nvPr/>
        </p:nvSpPr>
        <p:spPr>
          <a:xfrm>
            <a:off x="11146559" y="2364694"/>
            <a:ext cx="519816" cy="462483"/>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2b</a:t>
            </a:r>
          </a:p>
        </p:txBody>
      </p:sp>
      <p:sp>
        <p:nvSpPr>
          <p:cNvPr id="14" name="Ellipse 13">
            <a:extLst>
              <a:ext uri="{FF2B5EF4-FFF2-40B4-BE49-F238E27FC236}">
                <a16:creationId xmlns:a16="http://schemas.microsoft.com/office/drawing/2014/main" id="{C6A24890-A6C0-46BB-860A-CBECA6024B5A}"/>
              </a:ext>
            </a:extLst>
          </p:cNvPr>
          <p:cNvSpPr/>
          <p:nvPr/>
        </p:nvSpPr>
        <p:spPr>
          <a:xfrm>
            <a:off x="209293" y="1963330"/>
            <a:ext cx="510347" cy="443819"/>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2a</a:t>
            </a:r>
          </a:p>
        </p:txBody>
      </p:sp>
      <p:sp>
        <p:nvSpPr>
          <p:cNvPr id="15" name="Ellipse 14">
            <a:extLst>
              <a:ext uri="{FF2B5EF4-FFF2-40B4-BE49-F238E27FC236}">
                <a16:creationId xmlns:a16="http://schemas.microsoft.com/office/drawing/2014/main" id="{19B78D07-CE74-4BB0-BA5A-947A85880A77}"/>
              </a:ext>
            </a:extLst>
          </p:cNvPr>
          <p:cNvSpPr/>
          <p:nvPr/>
        </p:nvSpPr>
        <p:spPr>
          <a:xfrm>
            <a:off x="213752" y="2462052"/>
            <a:ext cx="519816" cy="462483"/>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2b</a:t>
            </a:r>
          </a:p>
        </p:txBody>
      </p:sp>
      <p:sp>
        <p:nvSpPr>
          <p:cNvPr id="16" name="Ellipse 15">
            <a:extLst>
              <a:ext uri="{FF2B5EF4-FFF2-40B4-BE49-F238E27FC236}">
                <a16:creationId xmlns:a16="http://schemas.microsoft.com/office/drawing/2014/main" id="{AAC6DFAB-F6BA-49BB-A051-16347BBFF083}"/>
              </a:ext>
            </a:extLst>
          </p:cNvPr>
          <p:cNvSpPr/>
          <p:nvPr/>
        </p:nvSpPr>
        <p:spPr>
          <a:xfrm>
            <a:off x="213752" y="1375429"/>
            <a:ext cx="519816" cy="462483"/>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1</a:t>
            </a:r>
          </a:p>
        </p:txBody>
      </p:sp>
      <p:sp>
        <p:nvSpPr>
          <p:cNvPr id="17" name="Ellipse 16">
            <a:extLst>
              <a:ext uri="{FF2B5EF4-FFF2-40B4-BE49-F238E27FC236}">
                <a16:creationId xmlns:a16="http://schemas.microsoft.com/office/drawing/2014/main" id="{A4017A3D-B754-49A8-BE5E-2E0B5AAAD0FA}"/>
              </a:ext>
            </a:extLst>
          </p:cNvPr>
          <p:cNvSpPr/>
          <p:nvPr/>
        </p:nvSpPr>
        <p:spPr>
          <a:xfrm>
            <a:off x="6163034" y="2230811"/>
            <a:ext cx="519816" cy="462483"/>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1</a:t>
            </a:r>
          </a:p>
        </p:txBody>
      </p:sp>
    </p:spTree>
    <p:extLst>
      <p:ext uri="{BB962C8B-B14F-4D97-AF65-F5344CB8AC3E}">
        <p14:creationId xmlns:p14="http://schemas.microsoft.com/office/powerpoint/2010/main" val="6621351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270A9D4-B7C6-4417-9AB9-44F119B9BA45}"/>
              </a:ext>
            </a:extLst>
          </p:cNvPr>
          <p:cNvSpPr>
            <a:spLocks noGrp="1"/>
          </p:cNvSpPr>
          <p:nvPr>
            <p:ph type="title"/>
          </p:nvPr>
        </p:nvSpPr>
        <p:spPr/>
        <p:txBody>
          <a:bodyPr/>
          <a:lstStyle/>
          <a:p>
            <a:r>
              <a:rPr lang="fr-FR" dirty="0"/>
              <a:t>Procédure – Compléter les sections du compte rendu</a:t>
            </a:r>
          </a:p>
        </p:txBody>
      </p:sp>
      <p:sp>
        <p:nvSpPr>
          <p:cNvPr id="4" name="Espace réservé du texte 3">
            <a:extLst>
              <a:ext uri="{FF2B5EF4-FFF2-40B4-BE49-F238E27FC236}">
                <a16:creationId xmlns:a16="http://schemas.microsoft.com/office/drawing/2014/main" id="{EC5609A1-A4ED-40FF-A86B-B88F9A8D4E09}"/>
              </a:ext>
            </a:extLst>
          </p:cNvPr>
          <p:cNvSpPr>
            <a:spLocks noGrp="1"/>
          </p:cNvSpPr>
          <p:nvPr>
            <p:ph type="body" sz="quarter" idx="13"/>
          </p:nvPr>
        </p:nvSpPr>
        <p:spPr/>
        <p:txBody>
          <a:bodyPr/>
          <a:lstStyle/>
          <a:p>
            <a:endParaRPr lang="fr-FR"/>
          </a:p>
        </p:txBody>
      </p:sp>
      <p:pic>
        <p:nvPicPr>
          <p:cNvPr id="13314" name="Picture 2">
            <a:extLst>
              <a:ext uri="{FF2B5EF4-FFF2-40B4-BE49-F238E27FC236}">
                <a16:creationId xmlns:a16="http://schemas.microsoft.com/office/drawing/2014/main" id="{896627FC-2F71-4E37-A76D-81EF17299F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661548" y="1409592"/>
            <a:ext cx="2190051" cy="46228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4DD417BB-DDB9-40C8-87D6-992865BA0E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77190" y="1409592"/>
            <a:ext cx="2190051" cy="4622800"/>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C20B8E8C-86D2-4968-AAE8-EB9A6656C76A}"/>
              </a:ext>
            </a:extLst>
          </p:cNvPr>
          <p:cNvSpPr txBox="1"/>
          <p:nvPr/>
        </p:nvSpPr>
        <p:spPr>
          <a:xfrm>
            <a:off x="1114181" y="1409592"/>
            <a:ext cx="5688562" cy="4152122"/>
          </a:xfrm>
          <a:prstGeom prst="rect">
            <a:avLst/>
          </a:prstGeom>
          <a:noFill/>
        </p:spPr>
        <p:txBody>
          <a:bodyPr wrap="square" lIns="0" tIns="0" rIns="0" bIns="0" rtlCol="0">
            <a:noAutofit/>
          </a:bodyPr>
          <a:lstStyle/>
          <a:p>
            <a:pPr marL="285750" indent="-285750">
              <a:buFont typeface="Wingdings" panose="05000000000000000000" pitchFamily="2" charset="2"/>
              <a:buChar char="q"/>
            </a:pPr>
            <a:r>
              <a:rPr lang="fr-FR" dirty="0"/>
              <a:t>Cocher les cases dans les différents </a:t>
            </a:r>
          </a:p>
          <a:p>
            <a:pPr marL="285750" indent="-285750">
              <a:buFont typeface="Wingdings" panose="05000000000000000000" pitchFamily="2" charset="2"/>
              <a:buChar char="q"/>
            </a:pPr>
            <a:endParaRPr lang="fr-FR" dirty="0"/>
          </a:p>
          <a:p>
            <a:pPr marL="285750" indent="-285750">
              <a:buFont typeface="Wingdings" panose="05000000000000000000" pitchFamily="2" charset="2"/>
              <a:buChar char="q"/>
            </a:pPr>
            <a:r>
              <a:rPr lang="fr-FR" dirty="0"/>
              <a:t>Une nouvelle section apparaît </a:t>
            </a:r>
          </a:p>
          <a:p>
            <a:pPr marL="285750" indent="-285750">
              <a:buFont typeface="Wingdings" panose="05000000000000000000" pitchFamily="2" charset="2"/>
              <a:buChar char="q"/>
            </a:pPr>
            <a:endParaRPr lang="fr-FR" dirty="0"/>
          </a:p>
          <a:p>
            <a:pPr marL="285750" indent="-285750">
              <a:buFont typeface="Wingdings" panose="05000000000000000000" pitchFamily="2" charset="2"/>
              <a:buChar char="q"/>
            </a:pPr>
            <a:r>
              <a:rPr lang="fr-FR" dirty="0"/>
              <a:t>Les champs avec un « </a:t>
            </a:r>
            <a:r>
              <a:rPr lang="fr-FR" dirty="0">
                <a:solidFill>
                  <a:schemeClr val="bg2"/>
                </a:solidFill>
              </a:rPr>
              <a:t>*</a:t>
            </a:r>
            <a:r>
              <a:rPr lang="fr-FR" dirty="0"/>
              <a:t> » sont obligatoires</a:t>
            </a:r>
          </a:p>
          <a:p>
            <a:pPr marL="285750" indent="-285750">
              <a:buFont typeface="Wingdings" panose="05000000000000000000" pitchFamily="2" charset="2"/>
              <a:buChar char="q"/>
            </a:pPr>
            <a:endParaRPr lang="fr-FR" dirty="0"/>
          </a:p>
          <a:p>
            <a:pPr marL="285750" indent="-285750">
              <a:buFont typeface="Wingdings" panose="05000000000000000000" pitchFamily="2" charset="2"/>
              <a:buChar char="q"/>
            </a:pPr>
            <a:r>
              <a:rPr lang="fr-FR" dirty="0"/>
              <a:t>Une fois complétée l’icône devient vert </a:t>
            </a:r>
          </a:p>
          <a:p>
            <a:endParaRPr lang="fr-FR" dirty="0"/>
          </a:p>
          <a:p>
            <a:endParaRPr lang="fr-FR" dirty="0"/>
          </a:p>
        </p:txBody>
      </p:sp>
      <p:sp>
        <p:nvSpPr>
          <p:cNvPr id="7" name="Ellipse 6">
            <a:extLst>
              <a:ext uri="{FF2B5EF4-FFF2-40B4-BE49-F238E27FC236}">
                <a16:creationId xmlns:a16="http://schemas.microsoft.com/office/drawing/2014/main" id="{4AA5F830-3E9E-471C-95CA-AB7A3C4CB073}"/>
              </a:ext>
            </a:extLst>
          </p:cNvPr>
          <p:cNvSpPr/>
          <p:nvPr/>
        </p:nvSpPr>
        <p:spPr>
          <a:xfrm>
            <a:off x="1025224" y="1411320"/>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1</a:t>
            </a:r>
          </a:p>
        </p:txBody>
      </p:sp>
      <p:sp>
        <p:nvSpPr>
          <p:cNvPr id="8" name="Ellipse 7">
            <a:extLst>
              <a:ext uri="{FF2B5EF4-FFF2-40B4-BE49-F238E27FC236}">
                <a16:creationId xmlns:a16="http://schemas.microsoft.com/office/drawing/2014/main" id="{CDCF7D48-2077-4D90-956C-EBCF4FE823EE}"/>
              </a:ext>
            </a:extLst>
          </p:cNvPr>
          <p:cNvSpPr/>
          <p:nvPr/>
        </p:nvSpPr>
        <p:spPr>
          <a:xfrm>
            <a:off x="1025224" y="1947353"/>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2</a:t>
            </a:r>
          </a:p>
        </p:txBody>
      </p:sp>
      <p:sp>
        <p:nvSpPr>
          <p:cNvPr id="9" name="Ellipse 8">
            <a:extLst>
              <a:ext uri="{FF2B5EF4-FFF2-40B4-BE49-F238E27FC236}">
                <a16:creationId xmlns:a16="http://schemas.microsoft.com/office/drawing/2014/main" id="{654E7BB9-9AC9-49AD-BBD6-672BC8AA0EBC}"/>
              </a:ext>
            </a:extLst>
          </p:cNvPr>
          <p:cNvSpPr/>
          <p:nvPr/>
        </p:nvSpPr>
        <p:spPr>
          <a:xfrm>
            <a:off x="1010889" y="2482620"/>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3</a:t>
            </a:r>
          </a:p>
        </p:txBody>
      </p:sp>
      <p:sp>
        <p:nvSpPr>
          <p:cNvPr id="10" name="Ellipse 9">
            <a:extLst>
              <a:ext uri="{FF2B5EF4-FFF2-40B4-BE49-F238E27FC236}">
                <a16:creationId xmlns:a16="http://schemas.microsoft.com/office/drawing/2014/main" id="{70B6BFA2-97BC-499E-8796-39C684D71836}"/>
              </a:ext>
            </a:extLst>
          </p:cNvPr>
          <p:cNvSpPr/>
          <p:nvPr/>
        </p:nvSpPr>
        <p:spPr>
          <a:xfrm>
            <a:off x="1010889" y="3017887"/>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4</a:t>
            </a:r>
          </a:p>
        </p:txBody>
      </p:sp>
      <p:sp>
        <p:nvSpPr>
          <p:cNvPr id="11" name="Ellipse 10">
            <a:extLst>
              <a:ext uri="{FF2B5EF4-FFF2-40B4-BE49-F238E27FC236}">
                <a16:creationId xmlns:a16="http://schemas.microsoft.com/office/drawing/2014/main" id="{E25B7860-6178-42F5-8B81-56ED6DCBBB1F}"/>
              </a:ext>
            </a:extLst>
          </p:cNvPr>
          <p:cNvSpPr/>
          <p:nvPr/>
        </p:nvSpPr>
        <p:spPr>
          <a:xfrm>
            <a:off x="7756573" y="2859266"/>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1</a:t>
            </a:r>
          </a:p>
        </p:txBody>
      </p:sp>
      <p:sp>
        <p:nvSpPr>
          <p:cNvPr id="12" name="Ellipse 11">
            <a:extLst>
              <a:ext uri="{FF2B5EF4-FFF2-40B4-BE49-F238E27FC236}">
                <a16:creationId xmlns:a16="http://schemas.microsoft.com/office/drawing/2014/main" id="{01AAE038-C629-4E00-906F-C611B4871625}"/>
              </a:ext>
            </a:extLst>
          </p:cNvPr>
          <p:cNvSpPr/>
          <p:nvPr/>
        </p:nvSpPr>
        <p:spPr>
          <a:xfrm>
            <a:off x="8616527" y="3849720"/>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2</a:t>
            </a:r>
          </a:p>
        </p:txBody>
      </p:sp>
      <p:sp>
        <p:nvSpPr>
          <p:cNvPr id="13" name="Ellipse 12">
            <a:extLst>
              <a:ext uri="{FF2B5EF4-FFF2-40B4-BE49-F238E27FC236}">
                <a16:creationId xmlns:a16="http://schemas.microsoft.com/office/drawing/2014/main" id="{AA8CF9F1-DBAC-4B73-9A24-62AECB37EDCB}"/>
              </a:ext>
            </a:extLst>
          </p:cNvPr>
          <p:cNvSpPr/>
          <p:nvPr/>
        </p:nvSpPr>
        <p:spPr>
          <a:xfrm>
            <a:off x="8978612" y="2079668"/>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3</a:t>
            </a:r>
          </a:p>
        </p:txBody>
      </p:sp>
      <p:sp>
        <p:nvSpPr>
          <p:cNvPr id="14" name="Ellipse 13">
            <a:extLst>
              <a:ext uri="{FF2B5EF4-FFF2-40B4-BE49-F238E27FC236}">
                <a16:creationId xmlns:a16="http://schemas.microsoft.com/office/drawing/2014/main" id="{A7F4946F-B03B-402E-B857-2BD05B36907D}"/>
              </a:ext>
            </a:extLst>
          </p:cNvPr>
          <p:cNvSpPr/>
          <p:nvPr/>
        </p:nvSpPr>
        <p:spPr>
          <a:xfrm>
            <a:off x="6418383" y="3584640"/>
            <a:ext cx="298578" cy="317242"/>
          </a:xfrm>
          <a:prstGeom prst="ellipse">
            <a:avLst/>
          </a:prstGeom>
          <a:solidFill>
            <a:srgbClr val="FF0000"/>
          </a:solidFill>
          <a:ln w="3175">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fr-FR" sz="1200" b="1" dirty="0">
                <a:solidFill>
                  <a:schemeClr val="bg1"/>
                </a:solidFill>
              </a:rPr>
              <a:t>4</a:t>
            </a:r>
          </a:p>
        </p:txBody>
      </p:sp>
      <p:sp>
        <p:nvSpPr>
          <p:cNvPr id="15" name="Rectangle 14">
            <a:extLst>
              <a:ext uri="{FF2B5EF4-FFF2-40B4-BE49-F238E27FC236}">
                <a16:creationId xmlns:a16="http://schemas.microsoft.com/office/drawing/2014/main" id="{D9EF4400-0960-44E4-9193-770E39C30615}"/>
              </a:ext>
            </a:extLst>
          </p:cNvPr>
          <p:cNvSpPr/>
          <p:nvPr/>
        </p:nvSpPr>
        <p:spPr>
          <a:xfrm>
            <a:off x="9831725" y="1649506"/>
            <a:ext cx="1362635" cy="224118"/>
          </a:xfrm>
          <a:prstGeom prst="rect">
            <a:avLst/>
          </a:prstGeom>
          <a:solidFill>
            <a:srgbClr val="31393C"/>
          </a:solidFill>
          <a:ln>
            <a:noFill/>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fr-FR" sz="1200" b="1" dirty="0">
              <a:solidFill>
                <a:srgbClr val="6D6D6D"/>
              </a:solidFill>
            </a:endParaRPr>
          </a:p>
        </p:txBody>
      </p:sp>
    </p:spTree>
    <p:extLst>
      <p:ext uri="{BB962C8B-B14F-4D97-AF65-F5344CB8AC3E}">
        <p14:creationId xmlns:p14="http://schemas.microsoft.com/office/powerpoint/2010/main" val="7489235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E80C57E3-6B0B-4ED2-BF49-2EB9057B88BD}"/>
              </a:ext>
            </a:extLst>
          </p:cNvPr>
          <p:cNvSpPr>
            <a:spLocks noGrp="1"/>
          </p:cNvSpPr>
          <p:nvPr>
            <p:ph type="title"/>
          </p:nvPr>
        </p:nvSpPr>
        <p:spPr/>
        <p:txBody>
          <a:bodyPr/>
          <a:lstStyle/>
          <a:p>
            <a:r>
              <a:rPr lang="fr-FR" dirty="0"/>
              <a:t>Procédure – Compléter les sections du compte rendu</a:t>
            </a:r>
          </a:p>
        </p:txBody>
      </p:sp>
      <p:sp>
        <p:nvSpPr>
          <p:cNvPr id="4" name="Espace réservé du texte 3">
            <a:extLst>
              <a:ext uri="{FF2B5EF4-FFF2-40B4-BE49-F238E27FC236}">
                <a16:creationId xmlns:a16="http://schemas.microsoft.com/office/drawing/2014/main" id="{E9991091-EC69-4AF6-A700-209B833DE456}"/>
              </a:ext>
            </a:extLst>
          </p:cNvPr>
          <p:cNvSpPr>
            <a:spLocks noGrp="1"/>
          </p:cNvSpPr>
          <p:nvPr>
            <p:ph type="body" sz="quarter" idx="13"/>
          </p:nvPr>
        </p:nvSpPr>
        <p:spPr/>
        <p:txBody>
          <a:bodyPr/>
          <a:lstStyle/>
          <a:p>
            <a:endParaRPr lang="fr-FR"/>
          </a:p>
        </p:txBody>
      </p:sp>
      <p:pic>
        <p:nvPicPr>
          <p:cNvPr id="15362" name="Picture 2">
            <a:extLst>
              <a:ext uri="{FF2B5EF4-FFF2-40B4-BE49-F238E27FC236}">
                <a16:creationId xmlns:a16="http://schemas.microsoft.com/office/drawing/2014/main" id="{AAB56502-F828-4C64-8D02-F793CEF8F21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41215" y="1401938"/>
            <a:ext cx="2190051" cy="46228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C2EFBA37-9E6C-4EF6-BB2E-15AEB15D64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9362" y="1401938"/>
            <a:ext cx="2190051" cy="46228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93A14EA1-68EE-4222-9F77-325CE09126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37509" y="1411320"/>
            <a:ext cx="2190051" cy="462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30096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DE8CD08D-CF13-4D44-B40E-4676081F9820}"/>
              </a:ext>
            </a:extLst>
          </p:cNvPr>
          <p:cNvSpPr>
            <a:spLocks noGrp="1"/>
          </p:cNvSpPr>
          <p:nvPr>
            <p:ph type="title"/>
          </p:nvPr>
        </p:nvSpPr>
        <p:spPr/>
        <p:txBody>
          <a:bodyPr/>
          <a:lstStyle/>
          <a:p>
            <a:r>
              <a:rPr lang="fr-FR" dirty="0"/>
              <a:t>Procédure – Compléter les sections du compte rendu</a:t>
            </a:r>
          </a:p>
        </p:txBody>
      </p:sp>
      <p:sp>
        <p:nvSpPr>
          <p:cNvPr id="4" name="Espace réservé du texte 3">
            <a:extLst>
              <a:ext uri="{FF2B5EF4-FFF2-40B4-BE49-F238E27FC236}">
                <a16:creationId xmlns:a16="http://schemas.microsoft.com/office/drawing/2014/main" id="{42ECD34E-AC60-452B-839A-57E12BE094C7}"/>
              </a:ext>
            </a:extLst>
          </p:cNvPr>
          <p:cNvSpPr>
            <a:spLocks noGrp="1"/>
          </p:cNvSpPr>
          <p:nvPr>
            <p:ph type="body" sz="quarter" idx="13"/>
          </p:nvPr>
        </p:nvSpPr>
        <p:spPr/>
        <p:txBody>
          <a:bodyPr/>
          <a:lstStyle/>
          <a:p>
            <a:endParaRPr lang="fr-FR"/>
          </a:p>
        </p:txBody>
      </p:sp>
      <p:pic>
        <p:nvPicPr>
          <p:cNvPr id="20482" name="Picture 2">
            <a:extLst>
              <a:ext uri="{FF2B5EF4-FFF2-40B4-BE49-F238E27FC236}">
                <a16:creationId xmlns:a16="http://schemas.microsoft.com/office/drawing/2014/main" id="{D5E1184E-4671-4F78-87CD-E02CFE2977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03609" y="1495898"/>
            <a:ext cx="2190051" cy="46228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5BD26E82-B766-4657-B264-52AB0FFCAF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0450" y="1495898"/>
            <a:ext cx="2190051" cy="462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4290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87181757-8598-499F-BFA3-235650B378ED}"/>
              </a:ext>
            </a:extLst>
          </p:cNvPr>
          <p:cNvSpPr>
            <a:spLocks noGrp="1"/>
          </p:cNvSpPr>
          <p:nvPr>
            <p:ph type="title"/>
          </p:nvPr>
        </p:nvSpPr>
        <p:spPr/>
        <p:txBody>
          <a:bodyPr/>
          <a:lstStyle/>
          <a:p>
            <a:r>
              <a:rPr lang="fr-FR" dirty="0"/>
              <a:t>Procédure – Compléter les sections du compte rendu</a:t>
            </a:r>
          </a:p>
        </p:txBody>
      </p:sp>
      <p:sp>
        <p:nvSpPr>
          <p:cNvPr id="4" name="Espace réservé du texte 3">
            <a:extLst>
              <a:ext uri="{FF2B5EF4-FFF2-40B4-BE49-F238E27FC236}">
                <a16:creationId xmlns:a16="http://schemas.microsoft.com/office/drawing/2014/main" id="{00564949-EA19-4057-B3ED-78976B0B7854}"/>
              </a:ext>
            </a:extLst>
          </p:cNvPr>
          <p:cNvSpPr>
            <a:spLocks noGrp="1"/>
          </p:cNvSpPr>
          <p:nvPr>
            <p:ph type="body" sz="quarter" idx="13"/>
          </p:nvPr>
        </p:nvSpPr>
        <p:spPr/>
        <p:txBody>
          <a:bodyPr/>
          <a:lstStyle/>
          <a:p>
            <a:endParaRPr lang="fr-FR"/>
          </a:p>
        </p:txBody>
      </p:sp>
      <p:pic>
        <p:nvPicPr>
          <p:cNvPr id="5" name="Picture 2">
            <a:extLst>
              <a:ext uri="{FF2B5EF4-FFF2-40B4-BE49-F238E27FC236}">
                <a16:creationId xmlns:a16="http://schemas.microsoft.com/office/drawing/2014/main" id="{7D1D3504-7EF6-4019-8DC4-715B9648C3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2374" y="1411320"/>
            <a:ext cx="2190051" cy="46228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96EFBB19-6DD9-40DF-B567-16B28562E1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0544" y="1411320"/>
            <a:ext cx="2190051" cy="46228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1C53ECF5-634B-41AC-B331-6E4C18CFF0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4204" y="1411320"/>
            <a:ext cx="2190051" cy="462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25280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7CD32F95-3854-448A-BCB4-2E19E61F8D78}"/>
              </a:ext>
            </a:extLst>
          </p:cNvPr>
          <p:cNvSpPr>
            <a:spLocks noGrp="1"/>
          </p:cNvSpPr>
          <p:nvPr>
            <p:ph type="title"/>
          </p:nvPr>
        </p:nvSpPr>
        <p:spPr/>
        <p:txBody>
          <a:bodyPr/>
          <a:lstStyle/>
          <a:p>
            <a:r>
              <a:rPr lang="fr-FR" dirty="0"/>
              <a:t>Procédure – Compléter les sections du compte rendu</a:t>
            </a:r>
          </a:p>
        </p:txBody>
      </p:sp>
      <p:sp>
        <p:nvSpPr>
          <p:cNvPr id="4" name="Espace réservé du texte 3">
            <a:extLst>
              <a:ext uri="{FF2B5EF4-FFF2-40B4-BE49-F238E27FC236}">
                <a16:creationId xmlns:a16="http://schemas.microsoft.com/office/drawing/2014/main" id="{81F66E90-F36C-4FFF-8805-9C312D058B4F}"/>
              </a:ext>
            </a:extLst>
          </p:cNvPr>
          <p:cNvSpPr>
            <a:spLocks noGrp="1"/>
          </p:cNvSpPr>
          <p:nvPr>
            <p:ph type="body" sz="quarter" idx="13"/>
          </p:nvPr>
        </p:nvSpPr>
        <p:spPr/>
        <p:txBody>
          <a:bodyPr/>
          <a:lstStyle/>
          <a:p>
            <a:endParaRPr lang="fr-FR"/>
          </a:p>
        </p:txBody>
      </p:sp>
      <p:pic>
        <p:nvPicPr>
          <p:cNvPr id="26626" name="Picture 2">
            <a:extLst>
              <a:ext uri="{FF2B5EF4-FFF2-40B4-BE49-F238E27FC236}">
                <a16:creationId xmlns:a16="http://schemas.microsoft.com/office/drawing/2014/main" id="{53E1619A-2156-4239-A7EE-88864602BB1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854014" y="1352939"/>
            <a:ext cx="2190051" cy="4622800"/>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055FB23E-CE3E-4BAD-B809-0D09A96417A9}"/>
              </a:ext>
            </a:extLst>
          </p:cNvPr>
          <p:cNvSpPr txBox="1"/>
          <p:nvPr/>
        </p:nvSpPr>
        <p:spPr>
          <a:xfrm>
            <a:off x="658730" y="1352939"/>
            <a:ext cx="4648375" cy="4152122"/>
          </a:xfrm>
          <a:prstGeom prst="rect">
            <a:avLst/>
          </a:prstGeom>
          <a:noFill/>
        </p:spPr>
        <p:txBody>
          <a:bodyPr wrap="square" lIns="0" tIns="0" rIns="0" bIns="0" rtlCol="0">
            <a:noAutofit/>
          </a:bodyPr>
          <a:lstStyle/>
          <a:p>
            <a:r>
              <a:rPr lang="fr-FR" dirty="0"/>
              <a:t>Il y a 3 type de résultats d’intervention :</a:t>
            </a:r>
          </a:p>
          <a:p>
            <a:r>
              <a:rPr lang="fr-FR" dirty="0"/>
              <a:t> </a:t>
            </a:r>
          </a:p>
          <a:p>
            <a:pPr marL="800078" lvl="1" indent="-342900">
              <a:buFont typeface="+mj-lt"/>
              <a:buAutoNum type="arabicPeriod"/>
            </a:pPr>
            <a:r>
              <a:rPr lang="fr-FR" dirty="0"/>
              <a:t>OK MDU </a:t>
            </a:r>
            <a:r>
              <a:rPr lang="fr-FR" dirty="0" err="1"/>
              <a:t>Adducté</a:t>
            </a:r>
            <a:r>
              <a:rPr lang="fr-FR" dirty="0"/>
              <a:t> avec succès </a:t>
            </a:r>
          </a:p>
          <a:p>
            <a:pPr marL="800078" lvl="1" indent="-342900">
              <a:buFont typeface="+mj-lt"/>
              <a:buAutoNum type="arabicPeriod"/>
            </a:pPr>
            <a:r>
              <a:rPr lang="fr-FR" dirty="0"/>
              <a:t>KO Temporaire à préciser</a:t>
            </a:r>
          </a:p>
          <a:p>
            <a:pPr marL="800078" lvl="1" indent="-342900">
              <a:buFont typeface="+mj-lt"/>
              <a:buAutoNum type="arabicPeriod"/>
            </a:pPr>
            <a:endParaRPr lang="fr-FR" dirty="0"/>
          </a:p>
          <a:p>
            <a:pPr marL="800078" lvl="1" indent="-342900">
              <a:buFont typeface="+mj-lt"/>
              <a:buAutoNum type="arabicPeriod"/>
            </a:pPr>
            <a:endParaRPr lang="fr-FR" dirty="0"/>
          </a:p>
          <a:p>
            <a:pPr marL="800078" lvl="1" indent="-342900">
              <a:buFont typeface="+mj-lt"/>
              <a:buAutoNum type="arabicPeriod"/>
            </a:pPr>
            <a:endParaRPr lang="fr-FR" dirty="0"/>
          </a:p>
          <a:p>
            <a:pPr marL="800078" lvl="1" indent="-342900">
              <a:buFont typeface="+mj-lt"/>
              <a:buAutoNum type="arabicPeriod"/>
            </a:pPr>
            <a:endParaRPr lang="fr-FR" dirty="0"/>
          </a:p>
          <a:p>
            <a:pPr marL="800078" lvl="1" indent="-342900">
              <a:buFont typeface="+mj-lt"/>
              <a:buAutoNum type="arabicPeriod"/>
            </a:pPr>
            <a:endParaRPr lang="fr-FR" dirty="0"/>
          </a:p>
          <a:p>
            <a:pPr marL="800078" lvl="1" indent="-342900">
              <a:buFont typeface="+mj-lt"/>
              <a:buAutoNum type="arabicPeriod"/>
            </a:pPr>
            <a:endParaRPr lang="fr-FR" dirty="0"/>
          </a:p>
          <a:p>
            <a:pPr marL="800078" lvl="1" indent="-342900">
              <a:buFont typeface="+mj-lt"/>
              <a:buAutoNum type="arabicPeriod"/>
            </a:pPr>
            <a:r>
              <a:rPr lang="fr-FR" dirty="0"/>
              <a:t>KO Définitif à préciser</a:t>
            </a:r>
          </a:p>
          <a:p>
            <a:pPr marL="800078" lvl="1" indent="-342900">
              <a:buFont typeface="+mj-lt"/>
              <a:buAutoNum type="arabicPeriod"/>
            </a:pPr>
            <a:endParaRPr lang="fr-FR" dirty="0"/>
          </a:p>
          <a:p>
            <a:pPr marL="800078" lvl="1" indent="-342900">
              <a:buFont typeface="+mj-lt"/>
              <a:buAutoNum type="arabicPeriod"/>
            </a:pPr>
            <a:endParaRPr lang="fr-FR" dirty="0"/>
          </a:p>
          <a:p>
            <a:endParaRPr lang="fr-FR" dirty="0"/>
          </a:p>
        </p:txBody>
      </p:sp>
      <p:pic>
        <p:nvPicPr>
          <p:cNvPr id="10" name="Image 9">
            <a:extLst>
              <a:ext uri="{FF2B5EF4-FFF2-40B4-BE49-F238E27FC236}">
                <a16:creationId xmlns:a16="http://schemas.microsoft.com/office/drawing/2014/main" id="{019897B1-535F-47BD-B714-D00D09EABC01}"/>
              </a:ext>
            </a:extLst>
          </p:cNvPr>
          <p:cNvPicPr>
            <a:picLocks noChangeAspect="1"/>
          </p:cNvPicPr>
          <p:nvPr/>
        </p:nvPicPr>
        <p:blipFill>
          <a:blip r:embed="rId3"/>
          <a:stretch>
            <a:fillRect/>
          </a:stretch>
        </p:blipFill>
        <p:spPr>
          <a:xfrm>
            <a:off x="1564807" y="2541734"/>
            <a:ext cx="4715435" cy="1399895"/>
          </a:xfrm>
          <a:prstGeom prst="rect">
            <a:avLst/>
          </a:prstGeom>
        </p:spPr>
      </p:pic>
      <p:pic>
        <p:nvPicPr>
          <p:cNvPr id="11" name="Image 10">
            <a:extLst>
              <a:ext uri="{FF2B5EF4-FFF2-40B4-BE49-F238E27FC236}">
                <a16:creationId xmlns:a16="http://schemas.microsoft.com/office/drawing/2014/main" id="{A846E747-47CD-4F42-8FE0-16AD76721D0E}"/>
              </a:ext>
            </a:extLst>
          </p:cNvPr>
          <p:cNvPicPr>
            <a:picLocks noChangeAspect="1"/>
          </p:cNvPicPr>
          <p:nvPr/>
        </p:nvPicPr>
        <p:blipFill>
          <a:blip r:embed="rId4"/>
          <a:stretch>
            <a:fillRect/>
          </a:stretch>
        </p:blipFill>
        <p:spPr>
          <a:xfrm>
            <a:off x="1564807" y="4440716"/>
            <a:ext cx="4715435" cy="595249"/>
          </a:xfrm>
          <a:prstGeom prst="rect">
            <a:avLst/>
          </a:prstGeom>
        </p:spPr>
      </p:pic>
    </p:spTree>
    <p:extLst>
      <p:ext uri="{BB962C8B-B14F-4D97-AF65-F5344CB8AC3E}">
        <p14:creationId xmlns:p14="http://schemas.microsoft.com/office/powerpoint/2010/main" val="7038743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3DEEA43C-B4D4-4159-961B-984716A08378}"/>
              </a:ext>
            </a:extLst>
          </p:cNvPr>
          <p:cNvSpPr>
            <a:spLocks noGrp="1"/>
          </p:cNvSpPr>
          <p:nvPr>
            <p:ph type="title"/>
          </p:nvPr>
        </p:nvSpPr>
        <p:spPr/>
        <p:txBody>
          <a:bodyPr/>
          <a:lstStyle/>
          <a:p>
            <a:r>
              <a:rPr lang="fr-FR" dirty="0"/>
              <a:t>Procédure – Compléter les sections du compte rendu</a:t>
            </a:r>
          </a:p>
        </p:txBody>
      </p:sp>
      <p:sp>
        <p:nvSpPr>
          <p:cNvPr id="4" name="Espace réservé du texte 3">
            <a:extLst>
              <a:ext uri="{FF2B5EF4-FFF2-40B4-BE49-F238E27FC236}">
                <a16:creationId xmlns:a16="http://schemas.microsoft.com/office/drawing/2014/main" id="{E2F32A27-48C4-438B-AFFE-2CAF4DB639FB}"/>
              </a:ext>
            </a:extLst>
          </p:cNvPr>
          <p:cNvSpPr>
            <a:spLocks noGrp="1"/>
          </p:cNvSpPr>
          <p:nvPr>
            <p:ph type="body" sz="quarter" idx="13"/>
          </p:nvPr>
        </p:nvSpPr>
        <p:spPr/>
        <p:txBody>
          <a:bodyPr/>
          <a:lstStyle/>
          <a:p>
            <a:endParaRPr lang="fr-FR"/>
          </a:p>
        </p:txBody>
      </p:sp>
      <p:pic>
        <p:nvPicPr>
          <p:cNvPr id="28674" name="Picture 2">
            <a:extLst>
              <a:ext uri="{FF2B5EF4-FFF2-40B4-BE49-F238E27FC236}">
                <a16:creationId xmlns:a16="http://schemas.microsoft.com/office/drawing/2014/main" id="{5EC6CE4F-3D3B-416D-AA36-280ABAAC8E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78699" y="1411320"/>
            <a:ext cx="2190051" cy="46228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4413B89D-60F5-43AA-B25F-17DA4FDB98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5548" y="1411320"/>
            <a:ext cx="2190051" cy="462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8105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GVA">
  <a:themeElements>
    <a:clrScheme name="GVA">
      <a:dk1>
        <a:srgbClr val="63666A"/>
      </a:dk1>
      <a:lt1>
        <a:sysClr val="window" lastClr="FFFFFF"/>
      </a:lt1>
      <a:dk2>
        <a:srgbClr val="ED7404"/>
      </a:dk2>
      <a:lt2>
        <a:srgbClr val="D4021D"/>
      </a:lt2>
      <a:accent1>
        <a:srgbClr val="80A3CA"/>
      </a:accent1>
      <a:accent2>
        <a:srgbClr val="005782"/>
      </a:accent2>
      <a:accent3>
        <a:srgbClr val="B5B5B5"/>
      </a:accent3>
      <a:accent4>
        <a:srgbClr val="484B47"/>
      </a:accent4>
      <a:accent5>
        <a:srgbClr val="80276C"/>
      </a:accent5>
      <a:accent6>
        <a:srgbClr val="323C18"/>
      </a:accent6>
      <a:hlink>
        <a:srgbClr val="80A3CA"/>
      </a:hlink>
      <a:folHlink>
        <a:srgbClr val="00578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3175">
          <a:solidFill>
            <a:schemeClr val="accent1"/>
          </a:solidFill>
        </a:ln>
        <a:effectLst>
          <a:outerShdw blurRad="50800" dist="38100" dir="2700000" algn="tl" rotWithShape="0">
            <a:prstClr val="black">
              <a:alpha val="40000"/>
            </a:prstClr>
          </a:outerShdw>
        </a:effectLst>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gn="ctr">
          <a:defRPr sz="1200" b="1" dirty="0">
            <a:solidFill>
              <a:srgbClr val="6D6D6D"/>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defRPr sz="1400" dirty="0" err="1" smtClean="0"/>
        </a:defPPr>
      </a:lstStyle>
    </a:txDef>
  </a:objectDefaults>
  <a:extraClrSchemeLst/>
  <a:extLst>
    <a:ext uri="{05A4C25C-085E-4340-85A3-A5531E510DB2}">
      <thm15:themeFamily xmlns:thm15="http://schemas.microsoft.com/office/thememl/2012/main" name="Template CanalBox" id="{18EF81D5-AB5A-4EB9-9447-665E8979DD17}" vid="{EFEEC22A-CA18-449D-B7AA-0B29F31189E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1720124B15A9B4CAC6CF328F31BF99D" ma:contentTypeVersion="6" ma:contentTypeDescription="Crée un document." ma:contentTypeScope="" ma:versionID="ea1985ae7f645ab3e97b33b45281d946">
  <xsd:schema xmlns:xsd="http://www.w3.org/2001/XMLSchema" xmlns:xs="http://www.w3.org/2001/XMLSchema" xmlns:p="http://schemas.microsoft.com/office/2006/metadata/properties" xmlns:ns2="228f6d33-82a6-49d8-b77b-841c0376f957" targetNamespace="http://schemas.microsoft.com/office/2006/metadata/properties" ma:root="true" ma:fieldsID="9be183731a4b7e3ccf2f661cdac0412a" ns2:_="">
    <xsd:import namespace="228f6d33-82a6-49d8-b77b-841c0376f95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8f6d33-82a6-49d8-b77b-841c0376f95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FE2533-F3A7-4689-B7B2-16DB666B9F62}">
  <ds:schemaRefs>
    <ds:schemaRef ds:uri="http://schemas.microsoft.com/sharepoint/v3/contenttype/forms"/>
  </ds:schemaRefs>
</ds:datastoreItem>
</file>

<file path=customXml/itemProps2.xml><?xml version="1.0" encoding="utf-8"?>
<ds:datastoreItem xmlns:ds="http://schemas.openxmlformats.org/officeDocument/2006/customXml" ds:itemID="{0C5CD460-D9ED-4E4F-BEB5-83B3D290DF43}">
  <ds:schemaRefs>
    <ds:schemaRef ds:uri="http://schemas.openxmlformats.org/package/2006/metadata/core-properties"/>
    <ds:schemaRef ds:uri="http://schemas.microsoft.com/office/2006/documentManagement/types"/>
    <ds:schemaRef ds:uri="http://schemas.microsoft.com/office/infopath/2007/PartnerControls"/>
    <ds:schemaRef ds:uri="228f6d33-82a6-49d8-b77b-841c0376f957"/>
    <ds:schemaRef ds:uri="http://purl.org/dc/elements/1.1/"/>
    <ds:schemaRef ds:uri="http://schemas.microsoft.com/office/2006/metadata/properties"/>
    <ds:schemaRef ds:uri="http://purl.org/dc/terms/"/>
    <ds:schemaRef ds:uri="http://www.w3.org/XML/1998/namespace"/>
    <ds:schemaRef ds:uri="http://purl.org/dc/dcmitype/"/>
  </ds:schemaRefs>
</ds:datastoreItem>
</file>

<file path=customXml/itemProps3.xml><?xml version="1.0" encoding="utf-8"?>
<ds:datastoreItem xmlns:ds="http://schemas.openxmlformats.org/officeDocument/2006/customXml" ds:itemID="{9A86F217-CCD0-4310-98A2-A8EC51F8C6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28f6d33-82a6-49d8-b77b-841c0376f9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7902</TotalTime>
  <Words>4251</Words>
  <Application>Microsoft Office PowerPoint</Application>
  <PresentationFormat>Grand écran</PresentationFormat>
  <Paragraphs>1155</Paragraphs>
  <Slides>38</Slides>
  <Notes>7</Notes>
  <HiddenSlides>0</HiddenSlides>
  <MMClips>0</MMClips>
  <ScaleCrop>false</ScaleCrop>
  <HeadingPairs>
    <vt:vector size="8" baseType="variant">
      <vt:variant>
        <vt:lpstr>Polices utilisées</vt:lpstr>
      </vt:variant>
      <vt:variant>
        <vt:i4>8</vt:i4>
      </vt:variant>
      <vt:variant>
        <vt:lpstr>Thème</vt:lpstr>
      </vt:variant>
      <vt:variant>
        <vt:i4>1</vt:i4>
      </vt:variant>
      <vt:variant>
        <vt:lpstr>Serveurs OLE incorporés</vt:lpstr>
      </vt:variant>
      <vt:variant>
        <vt:i4>1</vt:i4>
      </vt:variant>
      <vt:variant>
        <vt:lpstr>Titres des diapositives</vt:lpstr>
      </vt:variant>
      <vt:variant>
        <vt:i4>38</vt:i4>
      </vt:variant>
    </vt:vector>
  </HeadingPairs>
  <TitlesOfParts>
    <vt:vector size="48" baseType="lpstr">
      <vt:lpstr>Arial</vt:lpstr>
      <vt:lpstr>Arial Narrow</vt:lpstr>
      <vt:lpstr>Arial Nova</vt:lpstr>
      <vt:lpstr>Calibri</vt:lpstr>
      <vt:lpstr>Canal+</vt:lpstr>
      <vt:lpstr>Courier New</vt:lpstr>
      <vt:lpstr>Symbol</vt:lpstr>
      <vt:lpstr>Wingdings</vt:lpstr>
      <vt:lpstr>GVA</vt:lpstr>
      <vt:lpstr>think-cell Slide</vt:lpstr>
      <vt:lpstr>Processus MDU</vt:lpstr>
      <vt:lpstr>Contexte de modélisation</vt:lpstr>
      <vt:lpstr>Présentation PowerPoint</vt:lpstr>
      <vt:lpstr>construction MDU standard Nb adressables &gt; 8</vt:lpstr>
      <vt:lpstr>Présentation PowerPoint</vt:lpstr>
      <vt:lpstr>Présentation PowerPoint</vt:lpstr>
      <vt:lpstr>Présentation PowerPoint</vt:lpstr>
      <vt:lpstr>construction MDU industrialisé  Nb adressables &gt; 10</vt:lpstr>
      <vt:lpstr>Présentation PowerPoint</vt:lpstr>
      <vt:lpstr>Présentation PowerPoint</vt:lpstr>
      <vt:lpstr>Présentation PowerPoint</vt:lpstr>
      <vt:lpstr>Intégration MDU ZI OTB Nb adressables &lt; X</vt:lpstr>
      <vt:lpstr>Présentation PowerPoint</vt:lpstr>
      <vt:lpstr>Présentation PowerPoint</vt:lpstr>
      <vt:lpstr>Support de modélisation – Intégration MDU ZI OTB</vt:lpstr>
      <vt:lpstr>Bilan de la modélisation – Processus MDU</vt:lpstr>
      <vt:lpstr>Gestion des allocations ports GPON</vt:lpstr>
      <vt:lpstr>Focus sur la gestion des allocations de ports GPON</vt:lpstr>
      <vt:lpstr>Focus sur la gestion des allocations de ports GPON</vt:lpstr>
      <vt:lpstr>Focus sur la gestion des allocations de ports GPON</vt:lpstr>
      <vt:lpstr>procédures</vt:lpstr>
      <vt:lpstr>Prérequis dans Praxedo</vt:lpstr>
      <vt:lpstr>Procédure – Création intervention</vt:lpstr>
      <vt:lpstr>Procédure – Création intervention d’adduction MDU</vt:lpstr>
      <vt:lpstr>Procédure – Nouvelle intervention créée</vt:lpstr>
      <vt:lpstr>Procédure – Qualification de l’intervention</vt:lpstr>
      <vt:lpstr>Procédure – Instruction de réalisation</vt:lpstr>
      <vt:lpstr>Procédure - Planification</vt:lpstr>
      <vt:lpstr>Procédure – Synchronisation planning et sélection de l’intervention</vt:lpstr>
      <vt:lpstr>Procédure – Mise en route</vt:lpstr>
      <vt:lpstr>Procédure – Arrivée sur place</vt:lpstr>
      <vt:lpstr>Procédure – Vérifier la faisabilité de l’intervention</vt:lpstr>
      <vt:lpstr>Procédure – Compléter les sections du compte rendu</vt:lpstr>
      <vt:lpstr>Procédure – Compléter les sections du compte rendu</vt:lpstr>
      <vt:lpstr>Procédure – Compléter les sections du compte rendu</vt:lpstr>
      <vt:lpstr>Procédure – Compléter les sections du compte rendu</vt:lpstr>
      <vt:lpstr>Procédure – Compléter les sections du compte rendu</vt:lpstr>
      <vt:lpstr>Procédure – Compléter les sections du compte rendu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NOC</dc:title>
  <dc:creator>MELLOUK Djellali</dc:creator>
  <cp:lastModifiedBy>MELLOUK Djellali</cp:lastModifiedBy>
  <cp:revision>296</cp:revision>
  <dcterms:created xsi:type="dcterms:W3CDTF">2020-04-29T08:03:34Z</dcterms:created>
  <dcterms:modified xsi:type="dcterms:W3CDTF">2021-01-06T16:42:26Z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0x01010031720124B15A9B4CAC6CF328F31BF99D</vt:lpwstr>
  </property>
</Properties>
</file>