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  <p:sldId id="348" r:id="rId3"/>
    <p:sldId id="374" r:id="rId4"/>
    <p:sldId id="375" r:id="rId5"/>
    <p:sldId id="376" r:id="rId6"/>
    <p:sldId id="377" r:id="rId7"/>
    <p:sldId id="373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72" r:id="rId23"/>
  </p:sldIdLst>
  <p:sldSz cx="12192000" cy="6858000"/>
  <p:notesSz cx="6858000" cy="9144000"/>
  <p:defaultTextStyle>
    <a:defPPr>
      <a:defRPr lang="fr-BF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AEA09-0DBD-DD1A-2BCE-B1ECE3091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64BECA-7523-9BB0-78E3-36FFEF664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A1CEBC-FA83-DE16-BA9B-E45EF635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BD1B82-AE42-E2E1-4123-3CC54280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8F817D-BA3D-A973-3174-5BAB61B2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78834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ADD56-7942-11B3-E5C0-E8F625A2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AA8F0-9E99-1F4F-6C00-AC795DB5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FC66EB-5010-5FAB-45D4-84EBBF37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1A1B80-7DD4-B623-C2E5-A6702354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EEF0A-B4DA-ADA0-E08A-3F7EFDF4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43718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0090F5-F1B5-8E25-248C-183B8390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415A9F-145E-B286-1D53-213C78A4A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F17E67-C925-A74B-FC85-A3A72C49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599B2A-E0E4-CBA9-A0D9-9E50510A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C10768-4557-E1FB-A054-B29752B6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3451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F25AF5-B102-8F71-A890-3332718C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B6DD93-4AF7-7871-0409-4B9D913E8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6008F89-FC80-1B85-E966-3E60E4A45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DD337A-0416-1F36-435F-91B3E3FC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C985E5-687B-4610-42A8-8D8582C9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A8D315-9009-283F-08F0-7FFD23D0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71409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433D7A-5A22-475F-4617-B133BED9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EAA60E-447F-6EB6-46DB-8B05A67CF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22B91D-1076-80FD-F595-B45137647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B94516-6D6D-CCAE-E813-5BD16D6DF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F1B124-5E88-835B-79C1-F7B0B082C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465475-62CF-9A46-9126-9C6116B8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C8239F6-456A-B13A-A91F-AD34D99E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767DCA-6144-69EF-01D8-6366E3FD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6466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128F5-CC56-CCBF-5548-DA524AE4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CC81A04-FB51-9EF5-7B1D-183FCCED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E73C5C-20D0-0B07-2B9C-32DADC75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6B69940-8E66-BB88-254A-9CF2BD14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00073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C1FD76-7EDF-8E9E-B201-1BD87805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A38E82-41CE-2E6D-0E78-B7702C5D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096DF3-2A4F-50BB-C8D4-6669CA69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27294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B5914-8171-978E-6D63-DC038486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E7FCD0-2911-7D54-2C76-F93FF002B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0130B2-BACD-B988-2E62-C6146C1F9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1E8E6B-28D0-403C-56E5-A06C41E2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9E98CF-8865-5CA9-2D1A-DE7759D6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565125-6CD4-16AA-33A0-80E2B0C0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71003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1F627-79A5-D1DE-22E2-4BB8F19D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6AE14D-0186-BB50-C04B-B0F829C1F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F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8952BF-A754-73CC-6B64-BA0580A8E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06EE8B-2AD1-08DF-6F55-A533F1AC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337CD5-7A47-AD2A-8153-DF12773E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FDFC9B-E7C0-3CB3-08D3-32CD8732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413879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05B54-C4E7-8B45-3D0F-F67B0B20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9F07B6-12C0-4473-CC24-0BB9B43F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7371A7-37E8-EE2D-362B-989FF25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D5B8EE-C263-6B73-CEDB-C9E84FF6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881DE3-917E-D467-4D25-FAE5B43F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06450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4888916-3004-3521-9B25-7694C9D47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17C319-4488-F385-D1CD-98F11B0B3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6A2B9D-50CB-FB14-FB02-C373A0F7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CB92F2-05B8-A066-8D12-DB07DDE8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2749EC-2378-30C7-0F29-B3CF4577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815201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ERTURE_SANS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 7">
            <a:extLst>
              <a:ext uri="{FF2B5EF4-FFF2-40B4-BE49-F238E27FC236}">
                <a16:creationId xmlns:a16="http://schemas.microsoft.com/office/drawing/2014/main" id="{00B7AFF4-2B6F-B744-962E-518FFCEDBAC9}"/>
              </a:ext>
            </a:extLst>
          </p:cNvPr>
          <p:cNvSpPr/>
          <p:nvPr userDrawn="1"/>
        </p:nvSpPr>
        <p:spPr>
          <a:xfrm>
            <a:off x="6362700" y="-9815"/>
            <a:ext cx="5829300" cy="6872287"/>
          </a:xfrm>
          <a:custGeom>
            <a:avLst/>
            <a:gdLst>
              <a:gd name="connsiteX0" fmla="*/ 5829300 w 5829300"/>
              <a:gd name="connsiteY0" fmla="*/ 0 h 6872287"/>
              <a:gd name="connsiteX1" fmla="*/ 5828980 w 5829300"/>
              <a:gd name="connsiteY1" fmla="*/ 6560344 h 6872287"/>
              <a:gd name="connsiteX2" fmla="*/ 5829300 w 5829300"/>
              <a:gd name="connsiteY2" fmla="*/ 6560344 h 6872287"/>
              <a:gd name="connsiteX3" fmla="*/ 5829300 w 5829300"/>
              <a:gd name="connsiteY3" fmla="*/ 6867815 h 6872287"/>
              <a:gd name="connsiteX4" fmla="*/ 2590350 w 5829300"/>
              <a:gd name="connsiteY4" fmla="*/ 6867815 h 6872287"/>
              <a:gd name="connsiteX5" fmla="*/ 1114426 w 5829300"/>
              <a:gd name="connsiteY5" fmla="*/ 6872287 h 6872287"/>
              <a:gd name="connsiteX6" fmla="*/ 0 w 5829300"/>
              <a:gd name="connsiteY6" fmla="*/ 14288 h 687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9300" h="6872287">
                <a:moveTo>
                  <a:pt x="5829300" y="0"/>
                </a:moveTo>
                <a:lnTo>
                  <a:pt x="5828980" y="6560344"/>
                </a:lnTo>
                <a:lnTo>
                  <a:pt x="5829300" y="6560344"/>
                </a:lnTo>
                <a:lnTo>
                  <a:pt x="5829300" y="6867815"/>
                </a:lnTo>
                <a:lnTo>
                  <a:pt x="2590350" y="6867815"/>
                </a:lnTo>
                <a:lnTo>
                  <a:pt x="1114426" y="6872287"/>
                </a:lnTo>
                <a:lnTo>
                  <a:pt x="0" y="14288"/>
                </a:ln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B32E8506-496C-0346-B93A-422D59C14D98}"/>
              </a:ext>
            </a:extLst>
          </p:cNvPr>
          <p:cNvSpPr/>
          <p:nvPr userDrawn="1"/>
        </p:nvSpPr>
        <p:spPr>
          <a:xfrm rot="10800000">
            <a:off x="7978246" y="378329"/>
            <a:ext cx="4213754" cy="6096000"/>
          </a:xfrm>
          <a:custGeom>
            <a:avLst/>
            <a:gdLst>
              <a:gd name="connsiteX0" fmla="*/ 1165754 w 4213754"/>
              <a:gd name="connsiteY0" fmla="*/ 0 h 6096000"/>
              <a:gd name="connsiteX1" fmla="*/ 4213754 w 4213754"/>
              <a:gd name="connsiteY1" fmla="*/ 3048000 h 6096000"/>
              <a:gd name="connsiteX2" fmla="*/ 1165754 w 4213754"/>
              <a:gd name="connsiteY2" fmla="*/ 6096000 h 6096000"/>
              <a:gd name="connsiteX3" fmla="*/ 259372 w 4213754"/>
              <a:gd name="connsiteY3" fmla="*/ 5958968 h 6096000"/>
              <a:gd name="connsiteX4" fmla="*/ 0 w 4213754"/>
              <a:gd name="connsiteY4" fmla="*/ 5864037 h 6096000"/>
              <a:gd name="connsiteX5" fmla="*/ 0 w 4213754"/>
              <a:gd name="connsiteY5" fmla="*/ 231964 h 6096000"/>
              <a:gd name="connsiteX6" fmla="*/ 259372 w 4213754"/>
              <a:gd name="connsiteY6" fmla="*/ 137032 h 6096000"/>
              <a:gd name="connsiteX7" fmla="*/ 1165754 w 4213754"/>
              <a:gd name="connsiteY7" fmla="*/ 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3754" h="6096000">
                <a:moveTo>
                  <a:pt x="1165754" y="0"/>
                </a:moveTo>
                <a:cubicBezTo>
                  <a:pt x="2849118" y="0"/>
                  <a:pt x="4213754" y="1364636"/>
                  <a:pt x="4213754" y="3048000"/>
                </a:cubicBezTo>
                <a:cubicBezTo>
                  <a:pt x="4213754" y="4731364"/>
                  <a:pt x="2849118" y="6096000"/>
                  <a:pt x="1165754" y="6096000"/>
                </a:cubicBezTo>
                <a:cubicBezTo>
                  <a:pt x="850123" y="6096000"/>
                  <a:pt x="545698" y="6048025"/>
                  <a:pt x="259372" y="5958968"/>
                </a:cubicBezTo>
                <a:lnTo>
                  <a:pt x="0" y="5864037"/>
                </a:lnTo>
                <a:lnTo>
                  <a:pt x="0" y="231964"/>
                </a:lnTo>
                <a:lnTo>
                  <a:pt x="259372" y="137032"/>
                </a:lnTo>
                <a:cubicBezTo>
                  <a:pt x="545698" y="47976"/>
                  <a:pt x="850123" y="0"/>
                  <a:pt x="1165754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4E8C39A-48D0-3B45-9582-48166EC7CD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062" y="4758487"/>
            <a:ext cx="2501296" cy="1377689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564B9321-80D8-2345-8FF2-68E03F486D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9062" y="1318662"/>
            <a:ext cx="4986937" cy="2320200"/>
          </a:xfrm>
          <a:noFill/>
        </p:spPr>
        <p:txBody>
          <a:bodyPr anchor="t">
            <a:normAutofit/>
          </a:bodyPr>
          <a:lstStyle>
            <a:lvl1pPr algn="l">
              <a:defRPr sz="4000" b="1" i="1">
                <a:solidFill>
                  <a:schemeClr val="tx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la présentation sans visuel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D1187416-16B1-3044-A7EF-385E0CB0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062" y="953537"/>
            <a:ext cx="2743200" cy="365125"/>
          </a:xfrm>
        </p:spPr>
        <p:txBody>
          <a:bodyPr/>
          <a:lstStyle>
            <a:lvl1pPr algn="l">
              <a:defRPr b="0" i="0">
                <a:latin typeface="Futura PT Book" panose="020B0502020204020303" pitchFamily="34" charset="77"/>
              </a:defRPr>
            </a:lvl1pPr>
          </a:lstStyle>
          <a:p>
            <a:fld id="{4AAD6E3D-2EAD-6841-9F2E-E129E6E6363B}" type="datetime1">
              <a:rPr lang="fr-FR" smtClean="0"/>
              <a:pPr/>
              <a:t>04/09/2024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3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/>
        </p:nvSpPr>
        <p:spPr>
          <a:xfrm rot="10800000">
            <a:off x="2320577" y="0"/>
            <a:ext cx="9824903" cy="152165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/>
        </p:nvSpPr>
        <p:spPr>
          <a:xfrm>
            <a:off x="-5711" y="0"/>
            <a:ext cx="3453411" cy="68579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/>
        </p:nvSpPr>
        <p:spPr>
          <a:xfrm rot="-540000">
            <a:off x="2765392" y="-382608"/>
            <a:ext cx="5176927" cy="13268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3395134" y="1135457"/>
            <a:ext cx="8182066" cy="4727793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/>
        </p:nvSpPr>
        <p:spPr>
          <a:xfrm>
            <a:off x="-5711" y="629282"/>
            <a:ext cx="1837865" cy="5594097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206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2320577" y="0"/>
            <a:ext cx="9824903" cy="152165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 dirty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5711" y="0"/>
            <a:ext cx="3453411" cy="68579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 dirty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3051247" y="1261559"/>
            <a:ext cx="6546438" cy="18375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12000" b="1" i="1" dirty="0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5711" y="629282"/>
            <a:ext cx="1837865" cy="5594097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3516625" y="3174041"/>
            <a:ext cx="5260874" cy="2352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latin typeface="Futura PT Book" panose="020B0502020204020303" pitchFamily="34" charset="77"/>
              </a:defRPr>
            </a:lvl1pPr>
            <a:lvl2pPr>
              <a:defRPr sz="1400" b="0" i="0">
                <a:latin typeface="Futura PT Book" panose="020B0502020204020303" pitchFamily="34" charset="77"/>
              </a:defRPr>
            </a:lvl2pPr>
            <a:lvl3pPr>
              <a:defRPr sz="1400" b="0" i="0">
                <a:latin typeface="Futura PT Book" panose="020B0502020204020303" pitchFamily="34" charset="77"/>
              </a:defRPr>
            </a:lvl3pPr>
            <a:lvl4pPr>
              <a:defRPr sz="1400" b="0" i="0">
                <a:latin typeface="Futura PT Book" panose="020B0502020204020303" pitchFamily="34" charset="77"/>
              </a:defRPr>
            </a:lvl4pPr>
            <a:lvl5pPr>
              <a:defRPr sz="140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dirty="0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9967" y="5498512"/>
            <a:ext cx="1410597" cy="7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6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F1570DD-184A-DA41-748A-3FE64C53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F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846CF3-6C64-EA7E-F7F0-7733EDC00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F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384AAF-9F58-1EF1-0895-736033361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12E55-A5B7-452E-AA71-23E91E64F9AD}" type="datetimeFigureOut">
              <a:rPr lang="fr-BF" smtClean="0"/>
              <a:t>04/09/2024</a:t>
            </a:fld>
            <a:endParaRPr lang="fr-BF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005FDA-D103-6E08-50CD-2126C8FC9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F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FFED3-4D0F-62DC-2F9A-3C865D9A6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8B07B-C8C3-4662-BBBA-636C9D70A617}" type="slidenum">
              <a:rPr lang="fr-BF" smtClean="0"/>
              <a:t>‹N°›</a:t>
            </a:fld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35743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BF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57BE1-BF53-3E46-8368-68B1A4AB2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84" y="2121408"/>
            <a:ext cx="6075788" cy="2587752"/>
          </a:xfrm>
        </p:spPr>
        <p:txBody>
          <a:bodyPr>
            <a:normAutofit/>
          </a:bodyPr>
          <a:lstStyle/>
          <a:p>
            <a: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  <a:t>TEMPLATE SALESFORCE</a:t>
            </a:r>
            <a:b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</a:br>
            <a:b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</a:br>
            <a: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  <a:t>Fonctionnalités et utilisation</a:t>
            </a:r>
            <a:b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</a:br>
            <a:b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</a:br>
            <a:br>
              <a:rPr lang="fr-FR" sz="2400" b="1" i="0" dirty="0">
                <a:solidFill>
                  <a:srgbClr val="002060"/>
                </a:solidFill>
                <a:latin typeface="Futura"/>
                <a:ea typeface="Futura" panose="02020800000000000000" pitchFamily="18" charset="0"/>
                <a:cs typeface="Futura"/>
              </a:rPr>
            </a:br>
            <a:r>
              <a:rPr lang="fr-FR" sz="1400" b="1" i="0" dirty="0">
                <a:latin typeface="Futura"/>
                <a:ea typeface="Futura" panose="02020800000000000000" pitchFamily="18" charset="0"/>
                <a:cs typeface="Futura"/>
              </a:rPr>
              <a:t>Aout 2023</a:t>
            </a:r>
            <a:endParaRPr lang="fr-FR" sz="2400" b="1" i="0" dirty="0">
              <a:latin typeface="Futura"/>
              <a:ea typeface="Futura" panose="02020800000000000000" pitchFamily="18" charset="0"/>
              <a:cs typeface="Futura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4488BF-4CCC-0642-B70C-68F4BD8E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3884" y="962681"/>
            <a:ext cx="2743200" cy="365125"/>
          </a:xfrm>
        </p:spPr>
        <p:txBody>
          <a:bodyPr/>
          <a:lstStyle/>
          <a:p>
            <a:fld id="{4AAD6E3D-2EAD-6841-9F2E-E129E6E6363B}" type="datetime1">
              <a:rPr lang="fr-FR" smtClean="0"/>
              <a:pPr/>
              <a:t>04/09/2024</a:t>
            </a:fld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7B1EA-7A2C-42E2-8C21-45D190767E4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139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F773CCD-1ABD-B04A-A45D-83A173539D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3443774" y="1680096"/>
            <a:ext cx="8182066" cy="4400020"/>
          </a:xfrm>
        </p:spPr>
        <p:txBody>
          <a:bodyPr lIns="91440" tIns="45720" rIns="91440" bIns="45720" anchor="t"/>
          <a:lstStyle/>
          <a:p>
            <a:r>
              <a:rPr lang="fr-FR" sz="2000" u="sng" dirty="0"/>
              <a:t> </a:t>
            </a:r>
            <a:r>
              <a:rPr lang="fr-FR" sz="2000" b="1" u="sng" dirty="0"/>
              <a:t>INFORMATION GENERALE CLIENT CANALBOX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endParaRPr lang="fr-FR" sz="1400" b="1" dirty="0"/>
          </a:p>
          <a:p>
            <a:r>
              <a:rPr lang="fr-FR" sz="2000" b="1" u="sng" dirty="0"/>
              <a:t>CREATION DES REQUETES INCIDENT SERVICE</a:t>
            </a:r>
          </a:p>
          <a:p>
            <a:pPr marL="0" indent="0">
              <a:buNone/>
            </a:pPr>
            <a:endParaRPr lang="fr-FR" sz="2000" u="sng" dirty="0"/>
          </a:p>
          <a:p>
            <a:pPr marL="0" indent="0">
              <a:buNone/>
            </a:pPr>
            <a:endParaRPr lang="fr-FR" sz="2000" b="1" u="sng" dirty="0"/>
          </a:p>
          <a:p>
            <a:r>
              <a:rPr lang="fr-FR" sz="2000" b="1" u="sng" dirty="0"/>
              <a:t>CREATION DE RAPPORT CLIENT</a:t>
            </a:r>
          </a:p>
          <a:p>
            <a:endParaRPr lang="fr-FR" sz="2000" b="1" u="sng" dirty="0"/>
          </a:p>
          <a:p>
            <a:endParaRPr lang="fr-FR" sz="2000" b="1" u="sng" dirty="0"/>
          </a:p>
          <a:p>
            <a:r>
              <a:rPr lang="fr-FR" sz="2000" b="1" u="sng" dirty="0"/>
              <a:t>EVOLUTION</a:t>
            </a:r>
          </a:p>
        </p:txBody>
      </p:sp>
    </p:spTree>
    <p:extLst>
      <p:ext uri="{BB962C8B-B14F-4D97-AF65-F5344CB8AC3E}">
        <p14:creationId xmlns:p14="http://schemas.microsoft.com/office/powerpoint/2010/main" val="190910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83A9BB4-145D-57EA-83EC-0C9134F2BC99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INFORMATION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GENERALE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CLIENT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CANALBOX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9F0F7D3-B4CD-8EDA-D56E-026FA20342E3}"/>
              </a:ext>
            </a:extLst>
          </p:cNvPr>
          <p:cNvCxnSpPr>
            <a:cxnSpLocks/>
          </p:cNvCxnSpPr>
          <p:nvPr/>
        </p:nvCxnSpPr>
        <p:spPr>
          <a:xfrm>
            <a:off x="0" y="551791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25E1C64C-41BB-A8A7-CF7D-3AA50EC7354F}"/>
              </a:ext>
            </a:extLst>
          </p:cNvPr>
          <p:cNvSpPr txBox="1"/>
          <p:nvPr/>
        </p:nvSpPr>
        <p:spPr>
          <a:xfrm>
            <a:off x="351519" y="763216"/>
            <a:ext cx="10425338" cy="391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7D136B"/>
              </a:buClr>
              <a:defRPr/>
            </a:pPr>
            <a:r>
              <a:rPr lang="fr-FR" sz="2400" dirty="0">
                <a:solidFill>
                  <a:srgbClr val="FF0000"/>
                </a:solidFill>
              </a:rPr>
              <a:t>À SAVOIR À ET RETENIR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D136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2400" dirty="0">
                <a:latin typeface="Futura PT Book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Salesforce est l’outil qui vient en remplacement de CGA-WEB et donc notre CRM</a:t>
            </a:r>
          </a:p>
          <a:p>
            <a:pPr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D136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2400" dirty="0">
                <a:latin typeface="Futura PT Book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Nous pouvons y retrouver toutes les informations des clients ( Compte du client, la souscription…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La recherche sur Salesforce peut se faire avec un bon nombre d’information du client ex Numero tel, Building Id, Nom, Numero de série de la box…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Le client peut avoir un compte ( prospect ) sans avoir de souscription</a:t>
            </a:r>
            <a:r>
              <a:rPr lang="fr-FR" sz="2400" dirty="0">
                <a:latin typeface="Futura PT Book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1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D136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2400" dirty="0">
                <a:latin typeface="Futura PT Book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Nous avons une vue sur les étapes du parcours client</a:t>
            </a:r>
          </a:p>
          <a:p>
            <a:pPr marL="0" marR="0" lvl="1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D136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2400" dirty="0">
                <a:latin typeface="Futura PT Book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Les requêtes créent sur le compte du client</a:t>
            </a:r>
          </a:p>
        </p:txBody>
      </p:sp>
    </p:spTree>
    <p:extLst>
      <p:ext uri="{BB962C8B-B14F-4D97-AF65-F5344CB8AC3E}">
        <p14:creationId xmlns:p14="http://schemas.microsoft.com/office/powerpoint/2010/main" val="338827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2695D22-A501-0FCE-A00F-EA65FA62BD17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INFORMATION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GENERALE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CLIENT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CANALBOX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CAAD717-F7DF-BDD4-3DEE-1F6BB8551B05}"/>
              </a:ext>
            </a:extLst>
          </p:cNvPr>
          <p:cNvCxnSpPr>
            <a:cxnSpLocks/>
          </p:cNvCxnSpPr>
          <p:nvPr/>
        </p:nvCxnSpPr>
        <p:spPr>
          <a:xfrm>
            <a:off x="0" y="551791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EF0341C0-350A-8FB6-629E-F91A8902F30A}"/>
              </a:ext>
            </a:extLst>
          </p:cNvPr>
          <p:cNvSpPr txBox="1"/>
          <p:nvPr/>
        </p:nvSpPr>
        <p:spPr>
          <a:xfrm>
            <a:off x="167952" y="765110"/>
            <a:ext cx="50851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 rechercher un client, il suffit d’entrer une information lier a la souscription du client( BID, Numero abonné, Numero de tel….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 Au niveau du lien rapide nous avons souscription qui nous montre le nombre de souscription associé au numero de téléphone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Nous avons accès directement au compte du client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Sur le compte, Nous pouvons avoir les informations comme le parcours client, les requêtes, le BID, Nom du Vendeur…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E3A0D0-92A1-3707-6109-F7C376E80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01" y="641919"/>
            <a:ext cx="6690049" cy="3435557"/>
          </a:xfrm>
          <a:prstGeom prst="rect">
            <a:avLst/>
          </a:prstGeom>
        </p:spPr>
      </p:pic>
      <p:sp>
        <p:nvSpPr>
          <p:cNvPr id="10" name="object 21">
            <a:extLst>
              <a:ext uri="{FF2B5EF4-FFF2-40B4-BE49-F238E27FC236}">
                <a16:creationId xmlns:a16="http://schemas.microsoft.com/office/drawing/2014/main" id="{72EAED94-3821-1890-B397-4AA481C56E33}"/>
              </a:ext>
            </a:extLst>
          </p:cNvPr>
          <p:cNvSpPr/>
          <p:nvPr/>
        </p:nvSpPr>
        <p:spPr>
          <a:xfrm>
            <a:off x="6332740" y="801485"/>
            <a:ext cx="347980" cy="523240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0B4879-0373-BD3F-0BE2-D233A59BE108}"/>
              </a:ext>
            </a:extLst>
          </p:cNvPr>
          <p:cNvSpPr/>
          <p:nvPr/>
        </p:nvSpPr>
        <p:spPr>
          <a:xfrm>
            <a:off x="6792686" y="641918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3" name="object 21">
            <a:extLst>
              <a:ext uri="{FF2B5EF4-FFF2-40B4-BE49-F238E27FC236}">
                <a16:creationId xmlns:a16="http://schemas.microsoft.com/office/drawing/2014/main" id="{34473747-AA4B-EF84-9F61-EA8AA87F912A}"/>
              </a:ext>
            </a:extLst>
          </p:cNvPr>
          <p:cNvSpPr/>
          <p:nvPr/>
        </p:nvSpPr>
        <p:spPr>
          <a:xfrm>
            <a:off x="9955763" y="2649895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3E6C42-B203-8492-5F11-0957F3395BD8}"/>
              </a:ext>
            </a:extLst>
          </p:cNvPr>
          <p:cNvSpPr/>
          <p:nvPr/>
        </p:nvSpPr>
        <p:spPr>
          <a:xfrm>
            <a:off x="5331072" y="3293707"/>
            <a:ext cx="6098927" cy="83599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0C17B9C-D9BD-A013-5501-D60CDEA0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1939"/>
            <a:ext cx="12192000" cy="2226819"/>
          </a:xfrm>
          <a:prstGeom prst="rect">
            <a:avLst/>
          </a:prstGeom>
        </p:spPr>
      </p:pic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EF2C1C83-74D3-F638-FA8E-1353103440F0}"/>
              </a:ext>
            </a:extLst>
          </p:cNvPr>
          <p:cNvSpPr/>
          <p:nvPr/>
        </p:nvSpPr>
        <p:spPr>
          <a:xfrm>
            <a:off x="5017122" y="4206426"/>
            <a:ext cx="1315618" cy="835990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73C747-6F2F-EFCA-CC3B-A1AC3CE104C1}"/>
              </a:ext>
            </a:extLst>
          </p:cNvPr>
          <p:cNvSpPr/>
          <p:nvPr/>
        </p:nvSpPr>
        <p:spPr>
          <a:xfrm>
            <a:off x="0" y="5159829"/>
            <a:ext cx="9330612" cy="48519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C5D4F2A-8314-623F-5EC4-4332FB07A560}"/>
              </a:ext>
            </a:extLst>
          </p:cNvPr>
          <p:cNvSpPr txBox="1"/>
          <p:nvPr/>
        </p:nvSpPr>
        <p:spPr>
          <a:xfrm>
            <a:off x="6358814" y="953602"/>
            <a:ext cx="25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1A43A78-0C79-9DB7-71F8-6272E326E123}"/>
              </a:ext>
            </a:extLst>
          </p:cNvPr>
          <p:cNvSpPr txBox="1"/>
          <p:nvPr/>
        </p:nvSpPr>
        <p:spPr>
          <a:xfrm>
            <a:off x="10027114" y="2708816"/>
            <a:ext cx="326572" cy="380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37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1D53BC1-5F2F-E5D0-4CFE-9F15C9C9D3BD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INFORMATION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GENERALE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CLIENT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CANALBOX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4426317-C008-AE9E-677D-3E6AC651EE31}"/>
              </a:ext>
            </a:extLst>
          </p:cNvPr>
          <p:cNvCxnSpPr>
            <a:cxnSpLocks/>
          </p:cNvCxnSpPr>
          <p:nvPr/>
        </p:nvCxnSpPr>
        <p:spPr>
          <a:xfrm>
            <a:off x="0" y="618466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8341DA5E-D539-071F-50FA-A87CF473C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822" y="811762"/>
            <a:ext cx="7013509" cy="20313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CD95A30-A65C-EDA6-EC75-2FB9D2DF2EE2}"/>
              </a:ext>
            </a:extLst>
          </p:cNvPr>
          <p:cNvSpPr txBox="1"/>
          <p:nvPr/>
        </p:nvSpPr>
        <p:spPr>
          <a:xfrm>
            <a:off x="130629" y="811762"/>
            <a:ext cx="52438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souscription, Nous accédons direction a numero abonné du client</a:t>
            </a:r>
          </a:p>
          <a:p>
            <a:r>
              <a:rPr lang="fr-FR" dirty="0">
                <a:solidFill>
                  <a:srgbClr val="FF0000"/>
                </a:solidFill>
              </a:rPr>
              <a:t>Remarque :</a:t>
            </a:r>
          </a:p>
          <a:p>
            <a:r>
              <a:rPr lang="fr-FR" dirty="0"/>
              <a:t>Le numero abonne n’est pas le même que les clients CGA migré vers SF</a:t>
            </a:r>
          </a:p>
          <a:p>
            <a:r>
              <a:rPr lang="fr-FR" dirty="0"/>
              <a:t>SF : </a:t>
            </a:r>
            <a:r>
              <a:rPr lang="fr-FR" b="1" i="0" dirty="0">
                <a:solidFill>
                  <a:srgbClr val="181818"/>
                </a:solidFill>
                <a:effectLst/>
                <a:latin typeface="-apple-system"/>
              </a:rPr>
              <a:t>A-S00074797</a:t>
            </a:r>
          </a:p>
          <a:p>
            <a:r>
              <a:rPr lang="fr-FR" dirty="0">
                <a:solidFill>
                  <a:srgbClr val="181818"/>
                </a:solidFill>
                <a:latin typeface="-apple-system"/>
              </a:rPr>
              <a:t>CGA : </a:t>
            </a:r>
            <a:r>
              <a:rPr lang="fr-FR" b="1" i="0" dirty="0">
                <a:solidFill>
                  <a:srgbClr val="181818"/>
                </a:solidFill>
                <a:effectLst/>
                <a:latin typeface="-apple-system"/>
              </a:rPr>
              <a:t>M-S19255723001</a:t>
            </a:r>
          </a:p>
          <a:p>
            <a:endParaRPr lang="fr-FR" b="1" dirty="0">
              <a:solidFill>
                <a:srgbClr val="181818"/>
              </a:solidFill>
              <a:latin typeface="-apple-system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rgbClr val="181818"/>
                </a:solidFill>
                <a:latin typeface="-apple-system"/>
              </a:rPr>
              <a:t>Numero abonné du client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rgbClr val="181818"/>
                </a:solidFill>
                <a:latin typeface="-apple-system"/>
              </a:rPr>
              <a:t>Statut de la souscription : </a:t>
            </a:r>
            <a:r>
              <a:rPr lang="fr-FR" dirty="0">
                <a:solidFill>
                  <a:srgbClr val="181818"/>
                </a:solidFill>
                <a:latin typeface="-apple-system"/>
              </a:rPr>
              <a:t>Pending activation / active / suspend / </a:t>
            </a:r>
            <a:r>
              <a:rPr lang="fr-FR" dirty="0" err="1">
                <a:solidFill>
                  <a:srgbClr val="181818"/>
                </a:solidFill>
                <a:latin typeface="-apple-system"/>
              </a:rPr>
              <a:t>cancelled</a:t>
            </a:r>
            <a:endParaRPr lang="fr-FR" dirty="0">
              <a:solidFill>
                <a:srgbClr val="181818"/>
              </a:solidFill>
              <a:latin typeface="-apple-system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181818"/>
                </a:solidFill>
                <a:latin typeface="-apple-system"/>
              </a:rPr>
              <a:t>Débit auquel le client a souscrit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rgbClr val="181818"/>
                </a:solidFill>
                <a:latin typeface="-apple-system"/>
              </a:rPr>
              <a:t>Numero de box du 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F92FB-4D78-A39C-8267-7F916458136C}"/>
              </a:ext>
            </a:extLst>
          </p:cNvPr>
          <p:cNvSpPr/>
          <p:nvPr/>
        </p:nvSpPr>
        <p:spPr>
          <a:xfrm>
            <a:off x="5143660" y="2339286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8" name="object 21">
            <a:extLst>
              <a:ext uri="{FF2B5EF4-FFF2-40B4-BE49-F238E27FC236}">
                <a16:creationId xmlns:a16="http://schemas.microsoft.com/office/drawing/2014/main" id="{9253DC6B-F44D-7EC8-C45F-DB1CF6324450}"/>
              </a:ext>
            </a:extLst>
          </p:cNvPr>
          <p:cNvSpPr/>
          <p:nvPr/>
        </p:nvSpPr>
        <p:spPr>
          <a:xfrm>
            <a:off x="4730622" y="2459909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0F389C3-2945-AD72-2D2C-1F35340C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822" y="3662790"/>
            <a:ext cx="6817567" cy="2568163"/>
          </a:xfrm>
          <a:prstGeom prst="rect">
            <a:avLst/>
          </a:prstGeom>
        </p:spPr>
      </p:pic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E3C8D965-7C72-40B5-99E6-631495C5C0A4}"/>
              </a:ext>
            </a:extLst>
          </p:cNvPr>
          <p:cNvSpPr/>
          <p:nvPr/>
        </p:nvSpPr>
        <p:spPr>
          <a:xfrm>
            <a:off x="7938796" y="2795698"/>
            <a:ext cx="1315618" cy="835990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338A503E-E8C0-5F67-02DF-81EE54393DB9}"/>
              </a:ext>
            </a:extLst>
          </p:cNvPr>
          <p:cNvSpPr/>
          <p:nvPr/>
        </p:nvSpPr>
        <p:spPr>
          <a:xfrm>
            <a:off x="9545856" y="4459307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02E36C-7967-11C9-E230-24997E6ADA6C}"/>
              </a:ext>
            </a:extLst>
          </p:cNvPr>
          <p:cNvSpPr/>
          <p:nvPr/>
        </p:nvSpPr>
        <p:spPr>
          <a:xfrm>
            <a:off x="5285792" y="4272474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99FDD8-AD10-4328-A0E6-162616632449}"/>
              </a:ext>
            </a:extLst>
          </p:cNvPr>
          <p:cNvSpPr/>
          <p:nvPr/>
        </p:nvSpPr>
        <p:spPr>
          <a:xfrm>
            <a:off x="9540871" y="5265547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A7BE42-00B5-9D45-8D1A-2132AC44D6FC}"/>
              </a:ext>
            </a:extLst>
          </p:cNvPr>
          <p:cNvSpPr/>
          <p:nvPr/>
        </p:nvSpPr>
        <p:spPr>
          <a:xfrm>
            <a:off x="9977616" y="4247267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528EC2-5C76-53B1-0B21-F48B2CE4AA1E}"/>
              </a:ext>
            </a:extLst>
          </p:cNvPr>
          <p:cNvSpPr/>
          <p:nvPr/>
        </p:nvSpPr>
        <p:spPr>
          <a:xfrm>
            <a:off x="5187822" y="5561016"/>
            <a:ext cx="2351314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BAF711CF-51D5-86B2-8F2E-F85824BC73AE}"/>
              </a:ext>
            </a:extLst>
          </p:cNvPr>
          <p:cNvSpPr/>
          <p:nvPr/>
        </p:nvSpPr>
        <p:spPr>
          <a:xfrm>
            <a:off x="5945314" y="4566402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C1B70735-5A07-A9E9-EDAA-136D65F97B29}"/>
              </a:ext>
            </a:extLst>
          </p:cNvPr>
          <p:cNvSpPr/>
          <p:nvPr/>
        </p:nvSpPr>
        <p:spPr>
          <a:xfrm>
            <a:off x="6319317" y="5860839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BC1CA2B5-A35F-93C2-C721-DB7813420556}"/>
              </a:ext>
            </a:extLst>
          </p:cNvPr>
          <p:cNvSpPr/>
          <p:nvPr/>
        </p:nvSpPr>
        <p:spPr>
          <a:xfrm>
            <a:off x="10534581" y="5649684"/>
            <a:ext cx="363894" cy="401216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942F471-218F-8D64-14EB-6CE2E6611D44}"/>
              </a:ext>
            </a:extLst>
          </p:cNvPr>
          <p:cNvSpPr txBox="1"/>
          <p:nvPr/>
        </p:nvSpPr>
        <p:spPr>
          <a:xfrm>
            <a:off x="5945313" y="4650278"/>
            <a:ext cx="22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9E5BA55-6174-4E83-67AA-90F405FD3AB6}"/>
              </a:ext>
            </a:extLst>
          </p:cNvPr>
          <p:cNvSpPr txBox="1"/>
          <p:nvPr/>
        </p:nvSpPr>
        <p:spPr>
          <a:xfrm>
            <a:off x="9564518" y="4546643"/>
            <a:ext cx="23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CE5798-3532-46C7-4B94-1CF946ADC02D}"/>
              </a:ext>
            </a:extLst>
          </p:cNvPr>
          <p:cNvSpPr txBox="1"/>
          <p:nvPr/>
        </p:nvSpPr>
        <p:spPr>
          <a:xfrm>
            <a:off x="6358812" y="5938715"/>
            <a:ext cx="2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3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B353E71-76CF-D935-5627-82320BD1BB73}"/>
              </a:ext>
            </a:extLst>
          </p:cNvPr>
          <p:cNvSpPr txBox="1"/>
          <p:nvPr/>
        </p:nvSpPr>
        <p:spPr>
          <a:xfrm>
            <a:off x="10609226" y="5709456"/>
            <a:ext cx="214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4</a:t>
            </a:r>
            <a:endParaRPr lang="fr-BF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77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9C5E6F8-5847-F35F-54C6-747005571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1404"/>
            <a:ext cx="12192000" cy="39930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7AB71E7-048B-91C5-B5FF-5B3C29B5F8CD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INFORMATION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GENERALE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CLIENT</a:t>
            </a:r>
            <a:r>
              <a:rPr lang="fr-FR" sz="2400" b="1" u="sng" dirty="0"/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CANALBOX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7F49DD4-8593-A6E0-5100-7FE222845929}"/>
              </a:ext>
            </a:extLst>
          </p:cNvPr>
          <p:cNvCxnSpPr>
            <a:cxnSpLocks/>
          </p:cNvCxnSpPr>
          <p:nvPr/>
        </p:nvCxnSpPr>
        <p:spPr>
          <a:xfrm>
            <a:off x="0" y="618466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7AC8312C-C0B8-1C54-AEBC-58D95E579E8D}"/>
              </a:ext>
            </a:extLst>
          </p:cNvPr>
          <p:cNvSpPr txBox="1"/>
          <p:nvPr/>
        </p:nvSpPr>
        <p:spPr>
          <a:xfrm>
            <a:off x="361950" y="914400"/>
            <a:ext cx="11572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Date de renouvellement : correspond au dernier jour de l’abonnement + 1 jour,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Etat du service : Montre si le service de la box est activé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Suivi de l’installation : Montre l’historique des mouvements du ticket d’intervention sur PRAXEDO</a:t>
            </a:r>
            <a:endParaRPr lang="fr-BF" dirty="0"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ECC45A28-A383-19E1-0FB1-CA8DB269E357}"/>
              </a:ext>
            </a:extLst>
          </p:cNvPr>
          <p:cNvSpPr/>
          <p:nvPr/>
        </p:nvSpPr>
        <p:spPr>
          <a:xfrm>
            <a:off x="426460" y="3429000"/>
            <a:ext cx="347980" cy="523240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27F7ADD9-2783-3847-8CA9-C29008E6ABFF}"/>
              </a:ext>
            </a:extLst>
          </p:cNvPr>
          <p:cNvSpPr/>
          <p:nvPr/>
        </p:nvSpPr>
        <p:spPr>
          <a:xfrm>
            <a:off x="5667368" y="5025548"/>
            <a:ext cx="347980" cy="523240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9F2BCC-5CEC-B644-D7A9-9AD05F873DDE}"/>
              </a:ext>
            </a:extLst>
          </p:cNvPr>
          <p:cNvSpPr/>
          <p:nvPr/>
        </p:nvSpPr>
        <p:spPr>
          <a:xfrm>
            <a:off x="6148387" y="4048370"/>
            <a:ext cx="5290944" cy="90319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6A768-EF60-2C69-6490-95E03E218392}"/>
              </a:ext>
            </a:extLst>
          </p:cNvPr>
          <p:cNvSpPr/>
          <p:nvPr/>
        </p:nvSpPr>
        <p:spPr>
          <a:xfrm>
            <a:off x="206621" y="3016493"/>
            <a:ext cx="3087085" cy="31913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373587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EADAABA-4BB8-DA83-1D6D-C31230D69969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00668E9-BCA5-97D6-F3E0-8280F6E03B23}"/>
              </a:ext>
            </a:extLst>
          </p:cNvPr>
          <p:cNvCxnSpPr>
            <a:cxnSpLocks/>
          </p:cNvCxnSpPr>
          <p:nvPr/>
        </p:nvCxnSpPr>
        <p:spPr>
          <a:xfrm>
            <a:off x="0" y="551791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9A7F34F6-6C05-CD15-CAC6-E77E76BC32C3}"/>
              </a:ext>
            </a:extLst>
          </p:cNvPr>
          <p:cNvSpPr txBox="1"/>
          <p:nvPr/>
        </p:nvSpPr>
        <p:spPr>
          <a:xfrm>
            <a:off x="195943" y="830424"/>
            <a:ext cx="116912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Aux Opérations, Nous procédons à la création de tickets pour certains types d’incident :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b="1" dirty="0"/>
              <a:t>Installation KO ( KO provisoires, KO définitifs )</a:t>
            </a:r>
            <a:br>
              <a:rPr lang="fr-FR" sz="2400" b="1" dirty="0"/>
            </a:br>
            <a:br>
              <a:rPr lang="fr-FR" sz="2400" dirty="0"/>
            </a:br>
            <a:r>
              <a:rPr lang="fr-FR" sz="2400" b="1" dirty="0"/>
              <a:t>Les KO Provisoire </a:t>
            </a:r>
            <a:r>
              <a:rPr lang="fr-FR" sz="2400" dirty="0"/>
              <a:t>sont </a:t>
            </a:r>
            <a:r>
              <a:rPr lang="fr-FR" sz="2400"/>
              <a:t>assignés </a:t>
            </a:r>
            <a:r>
              <a:rPr lang="fr-FR" sz="2400" dirty="0"/>
              <a:t>à</a:t>
            </a:r>
            <a:r>
              <a:rPr lang="fr-FR" sz="2400"/>
              <a:t> </a:t>
            </a:r>
            <a:r>
              <a:rPr lang="fr-FR" sz="2400" dirty="0"/>
              <a:t>diffèrent groupe de traitement selon le type de KO ( Ex : KO SIGNAL FAIBLE AU PBO sera assigné au Groupe de traitement de l’OSP )</a:t>
            </a:r>
            <a:br>
              <a:rPr lang="fr-FR" sz="2400" dirty="0"/>
            </a:br>
            <a:r>
              <a:rPr lang="fr-FR" sz="2400" b="1" dirty="0"/>
              <a:t>Les KO Définitifs </a:t>
            </a:r>
            <a:r>
              <a:rPr lang="fr-FR" sz="2400" dirty="0"/>
              <a:t>sont assignés au Back Office Commercial pour prise en charge,</a:t>
            </a:r>
            <a:br>
              <a:rPr lang="fr-FR" sz="2400" dirty="0"/>
            </a:br>
            <a:endParaRPr lang="fr-FR" sz="2400" dirty="0"/>
          </a:p>
          <a:p>
            <a:pPr marL="342900" indent="-342900">
              <a:buFont typeface="+mj-lt"/>
              <a:buAutoNum type="arabicPeriod"/>
            </a:pPr>
            <a:r>
              <a:rPr lang="fr-FR" sz="2400" b="1" dirty="0"/>
              <a:t>Client pas prêt pour installation ( durée d’attente de plus de 30 jrs )</a:t>
            </a:r>
          </a:p>
          <a:p>
            <a:pPr marL="342900" indent="-342900">
              <a:buFont typeface="+mj-lt"/>
              <a:buAutoNum type="arabicPeriod"/>
            </a:pP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75597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270832-3435-D13B-976B-A5391983C37B}"/>
              </a:ext>
            </a:extLst>
          </p:cNvPr>
          <p:cNvSpPr txBox="1"/>
          <p:nvPr/>
        </p:nvSpPr>
        <p:spPr>
          <a:xfrm>
            <a:off x="774440" y="0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5BE1D19-0392-1613-56E9-41D780CC47C1}"/>
              </a:ext>
            </a:extLst>
          </p:cNvPr>
          <p:cNvCxnSpPr>
            <a:cxnSpLocks/>
          </p:cNvCxnSpPr>
          <p:nvPr/>
        </p:nvCxnSpPr>
        <p:spPr>
          <a:xfrm>
            <a:off x="0" y="551791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46C5D2F-D572-BE2E-EA78-F1D22C599209}"/>
              </a:ext>
            </a:extLst>
          </p:cNvPr>
          <p:cNvSpPr txBox="1"/>
          <p:nvPr/>
        </p:nvSpPr>
        <p:spPr>
          <a:xfrm>
            <a:off x="356894" y="748394"/>
            <a:ext cx="7303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COMMENT CRÉER UNE </a:t>
            </a:r>
            <a:r>
              <a:rPr lang="fr-FR" sz="2000" b="1" dirty="0"/>
              <a:t>REQUETE</a:t>
            </a:r>
            <a:r>
              <a:rPr lang="fr-FR" sz="1800" b="1" dirty="0"/>
              <a:t> D’INCIDENT DE TYPE INSTALLATION KO</a:t>
            </a:r>
            <a:endParaRPr lang="fr-BF" dirty="0"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9C23D949-7996-0A62-695A-B7E31188BE3A}"/>
              </a:ext>
            </a:extLst>
          </p:cNvPr>
          <p:cNvSpPr txBox="1"/>
          <p:nvPr/>
        </p:nvSpPr>
        <p:spPr>
          <a:xfrm>
            <a:off x="133280" y="1417515"/>
            <a:ext cx="3444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Se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diriger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sur </a:t>
            </a:r>
            <a:r>
              <a:rPr sz="1200" spc="10" dirty="0">
                <a:solidFill>
                  <a:srgbClr val="232522"/>
                </a:solidFill>
                <a:latin typeface="URW Gothic"/>
                <a:cs typeface="URW Gothic"/>
              </a:rPr>
              <a:t>le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compte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client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en</a:t>
            </a:r>
            <a:r>
              <a:rPr sz="1200" spc="-7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question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Ouvrir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une « </a:t>
            </a:r>
            <a:r>
              <a:rPr lang="fr-FR" sz="1200" dirty="0">
                <a:solidFill>
                  <a:srgbClr val="232522"/>
                </a:solidFill>
                <a:latin typeface="URW Gothic"/>
                <a:cs typeface="URW Gothic"/>
              </a:rPr>
              <a:t>établir un diagnostic</a:t>
            </a:r>
            <a:r>
              <a:rPr sz="1200" spc="-55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</p:txBody>
      </p:sp>
      <p:sp>
        <p:nvSpPr>
          <p:cNvPr id="13" name="object 21">
            <a:extLst>
              <a:ext uri="{FF2B5EF4-FFF2-40B4-BE49-F238E27FC236}">
                <a16:creationId xmlns:a16="http://schemas.microsoft.com/office/drawing/2014/main" id="{1E6A1C38-D384-1EE0-4F02-0232C9D5A5CB}"/>
              </a:ext>
            </a:extLst>
          </p:cNvPr>
          <p:cNvSpPr/>
          <p:nvPr/>
        </p:nvSpPr>
        <p:spPr>
          <a:xfrm>
            <a:off x="9810160" y="1759833"/>
            <a:ext cx="347980" cy="523240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36F75D0-F043-35EB-6680-B7874AFCA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8504"/>
            <a:ext cx="6046540" cy="1693756"/>
          </a:xfrm>
          <a:prstGeom prst="rect">
            <a:avLst/>
          </a:prstGeom>
        </p:spPr>
      </p:pic>
      <p:sp>
        <p:nvSpPr>
          <p:cNvPr id="16" name="object 21">
            <a:extLst>
              <a:ext uri="{FF2B5EF4-FFF2-40B4-BE49-F238E27FC236}">
                <a16:creationId xmlns:a16="http://schemas.microsoft.com/office/drawing/2014/main" id="{E1B0227A-9978-74DF-7766-4B2F78E59919}"/>
              </a:ext>
            </a:extLst>
          </p:cNvPr>
          <p:cNvSpPr/>
          <p:nvPr/>
        </p:nvSpPr>
        <p:spPr>
          <a:xfrm>
            <a:off x="9781773" y="1733762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8F714-74D8-17A5-A1EC-5DADE5FEDF13}"/>
              </a:ext>
            </a:extLst>
          </p:cNvPr>
          <p:cNvSpPr/>
          <p:nvPr/>
        </p:nvSpPr>
        <p:spPr>
          <a:xfrm>
            <a:off x="10158141" y="1623528"/>
            <a:ext cx="693362" cy="2408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2D02EFD-3721-FC30-BF8E-C96C77F2BDCE}"/>
              </a:ext>
            </a:extLst>
          </p:cNvPr>
          <p:cNvSpPr txBox="1"/>
          <p:nvPr/>
        </p:nvSpPr>
        <p:spPr>
          <a:xfrm>
            <a:off x="133280" y="2602794"/>
            <a:ext cx="536892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Comme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lang="fr-FR" sz="1200" spc="-10" dirty="0">
                <a:solidFill>
                  <a:srgbClr val="232522"/>
                </a:solidFill>
                <a:latin typeface="URW Gothic"/>
                <a:cs typeface="URW Gothic"/>
              </a:rPr>
              <a:t>statut de la souscription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de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requête,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choisir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En cours d’activation</a:t>
            </a:r>
            <a:r>
              <a:rPr sz="1200" spc="5" dirty="0">
                <a:solidFill>
                  <a:srgbClr val="232522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Comme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lang="fr-FR" sz="1200" spc="-10" dirty="0">
                <a:solidFill>
                  <a:srgbClr val="232522"/>
                </a:solidFill>
                <a:latin typeface="URW Gothic"/>
                <a:cs typeface="URW Gothic"/>
              </a:rPr>
              <a:t>Objet de l’appel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 » 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choisir</a:t>
            </a:r>
            <a:r>
              <a:rPr sz="1200" spc="3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KO Provisoire ou Définitif</a:t>
            </a: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Comme « </a:t>
            </a:r>
            <a:r>
              <a:rPr lang="fr-FR" sz="1200" spc="-10" dirty="0">
                <a:solidFill>
                  <a:srgbClr val="232522"/>
                </a:solidFill>
                <a:latin typeface="URW Gothic"/>
                <a:cs typeface="URW Gothic"/>
              </a:rPr>
              <a:t>Précision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 » choisir le type de KO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Comme « </a:t>
            </a:r>
            <a:r>
              <a:rPr lang="fr-FR" sz="1200" spc="-10" dirty="0">
                <a:solidFill>
                  <a:srgbClr val="232522"/>
                </a:solidFill>
                <a:latin typeface="URW Gothic"/>
                <a:cs typeface="URW Gothic"/>
              </a:rPr>
              <a:t>Vérification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 » Choisir Aucun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Cliquer sur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enregistrer</a:t>
            </a:r>
            <a:r>
              <a:rPr sz="1200" spc="-2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</p:txBody>
      </p:sp>
      <p:pic>
        <p:nvPicPr>
          <p:cNvPr id="20" name="Image 19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3D0E6E34-79B8-94E4-A89F-71D478F40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9843"/>
            <a:ext cx="6220693" cy="310815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8D4F050-D88C-5EF0-B277-ABB785046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01" y="3746627"/>
            <a:ext cx="5820899" cy="307324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57E3283-97EA-70AB-0228-76E44CD74162}"/>
              </a:ext>
            </a:extLst>
          </p:cNvPr>
          <p:cNvSpPr/>
          <p:nvPr/>
        </p:nvSpPr>
        <p:spPr>
          <a:xfrm>
            <a:off x="11763875" y="6451188"/>
            <a:ext cx="490648" cy="3686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FAF787C-565C-8D04-C7E4-5D8CBE25223C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FAB2509-CB09-B6D2-C7C4-3A414407C0E8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67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070DF1-5203-1074-A7BD-DC4D0F69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653"/>
            <a:ext cx="12192000" cy="101312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2D6FBEB-A501-A122-87B6-2934D77F226B}"/>
              </a:ext>
            </a:extLst>
          </p:cNvPr>
          <p:cNvSpPr txBox="1"/>
          <p:nvPr/>
        </p:nvSpPr>
        <p:spPr>
          <a:xfrm>
            <a:off x="0" y="1280292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Sur </a:t>
            </a:r>
            <a:r>
              <a:rPr lang="fr-FR" sz="1800" spc="5" dirty="0">
                <a:solidFill>
                  <a:srgbClr val="232522"/>
                </a:solidFill>
                <a:latin typeface="URW Gothic"/>
                <a:cs typeface="URW Gothic"/>
              </a:rPr>
              <a:t>le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compte, on se </a:t>
            </a:r>
            <a:r>
              <a:rPr lang="fr-FR" sz="1800" dirty="0">
                <a:solidFill>
                  <a:srgbClr val="232522"/>
                </a:solidFill>
                <a:latin typeface="URW Gothic"/>
                <a:cs typeface="URW Gothic"/>
              </a:rPr>
              <a:t>dirige </a:t>
            </a:r>
            <a:r>
              <a:rPr lang="fr-FR" sz="1800" spc="-10" dirty="0">
                <a:solidFill>
                  <a:srgbClr val="232522"/>
                </a:solidFill>
                <a:latin typeface="URW Gothic"/>
                <a:cs typeface="URW Gothic"/>
              </a:rPr>
              <a:t>dans </a:t>
            </a:r>
            <a:r>
              <a:rPr lang="fr-FR" sz="1800" spc="5" dirty="0">
                <a:solidFill>
                  <a:srgbClr val="232522"/>
                </a:solidFill>
                <a:latin typeface="URW Gothic"/>
                <a:cs typeface="URW Gothic"/>
              </a:rPr>
              <a:t>le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menu « requête » </a:t>
            </a:r>
            <a:r>
              <a:rPr lang="fr-FR" sz="1800" dirty="0">
                <a:solidFill>
                  <a:srgbClr val="232522"/>
                </a:solidFill>
                <a:latin typeface="URW Gothic"/>
                <a:cs typeface="URW Gothic"/>
              </a:rPr>
              <a:t>et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on sélectionne </a:t>
            </a:r>
            <a:r>
              <a:rPr lang="fr-FR" sz="1800" spc="5" dirty="0">
                <a:solidFill>
                  <a:srgbClr val="232522"/>
                </a:solidFill>
                <a:latin typeface="URW Gothic"/>
                <a:cs typeface="URW Gothic"/>
              </a:rPr>
              <a:t>la </a:t>
            </a:r>
            <a:r>
              <a:rPr lang="fr-FR" sz="1800" spc="-10" dirty="0">
                <a:solidFill>
                  <a:srgbClr val="232522"/>
                </a:solidFill>
                <a:latin typeface="URW Gothic"/>
                <a:cs typeface="URW Gothic"/>
              </a:rPr>
              <a:t>requête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relative à la modification</a:t>
            </a:r>
            <a:r>
              <a:rPr lang="fr-FR" sz="1800" spc="25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lang="fr-FR" sz="1800" dirty="0">
                <a:solidFill>
                  <a:srgbClr val="232522"/>
                </a:solidFill>
                <a:latin typeface="URW Gothic"/>
                <a:cs typeface="URW Gothic"/>
              </a:rPr>
              <a:t>de</a:t>
            </a:r>
            <a:endParaRPr lang="fr-FR" sz="1800" dirty="0">
              <a:latin typeface="URW Gothic"/>
              <a:cs typeface="URW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fr-FR" sz="1800" spc="15" dirty="0">
                <a:solidFill>
                  <a:srgbClr val="232522"/>
                </a:solidFill>
                <a:latin typeface="Verdana"/>
                <a:cs typeface="Verdana"/>
              </a:rPr>
              <a:t>l’abonnement</a:t>
            </a:r>
            <a:endParaRPr lang="fr-FR" sz="1800" dirty="0">
              <a:latin typeface="Verdana"/>
              <a:cs typeface="Verdana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2F5D440-C63C-2A40-7576-DD49EB468831}"/>
              </a:ext>
            </a:extLst>
          </p:cNvPr>
          <p:cNvSpPr txBox="1"/>
          <p:nvPr/>
        </p:nvSpPr>
        <p:spPr>
          <a:xfrm>
            <a:off x="356894" y="748394"/>
            <a:ext cx="7303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COMMENT CRÉER UNE </a:t>
            </a:r>
            <a:r>
              <a:rPr lang="fr-FR" sz="2000" b="1" dirty="0"/>
              <a:t>REQUETE</a:t>
            </a:r>
            <a:r>
              <a:rPr lang="fr-FR" sz="1800" b="1" dirty="0"/>
              <a:t> D’INCIDENT DE TYPE INSTALLATION KO</a:t>
            </a:r>
            <a:endParaRPr lang="fr-BF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9BE2C6-8376-CA29-B6E3-7DF81A7008D3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18066E7-B412-9257-FC46-8128AEBB05C5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1">
            <a:extLst>
              <a:ext uri="{FF2B5EF4-FFF2-40B4-BE49-F238E27FC236}">
                <a16:creationId xmlns:a16="http://schemas.microsoft.com/office/drawing/2014/main" id="{096B9358-B9C5-3DA5-2E28-5BEA8F4D1088}"/>
              </a:ext>
            </a:extLst>
          </p:cNvPr>
          <p:cNvSpPr/>
          <p:nvPr/>
        </p:nvSpPr>
        <p:spPr>
          <a:xfrm>
            <a:off x="976928" y="2915465"/>
            <a:ext cx="525145" cy="345440"/>
          </a:xfrm>
          <a:custGeom>
            <a:avLst/>
            <a:gdLst/>
            <a:ahLst/>
            <a:cxnLst/>
            <a:rect l="l" t="t" r="r" b="b"/>
            <a:pathLst>
              <a:path w="525144" h="345439">
                <a:moveTo>
                  <a:pt x="373158" y="339213"/>
                </a:moveTo>
                <a:lnTo>
                  <a:pt x="285630" y="339213"/>
                </a:lnTo>
                <a:lnTo>
                  <a:pt x="336438" y="345001"/>
                </a:lnTo>
                <a:lnTo>
                  <a:pt x="365863" y="342372"/>
                </a:lnTo>
                <a:lnTo>
                  <a:pt x="373158" y="339213"/>
                </a:lnTo>
                <a:close/>
              </a:path>
              <a:path w="525144" h="345439">
                <a:moveTo>
                  <a:pt x="166885" y="252472"/>
                </a:moveTo>
                <a:lnTo>
                  <a:pt x="135175" y="262427"/>
                </a:lnTo>
                <a:lnTo>
                  <a:pt x="125039" y="278872"/>
                </a:lnTo>
                <a:lnTo>
                  <a:pt x="130809" y="294530"/>
                </a:lnTo>
                <a:lnTo>
                  <a:pt x="146819" y="302129"/>
                </a:lnTo>
                <a:lnTo>
                  <a:pt x="156067" y="303488"/>
                </a:lnTo>
                <a:lnTo>
                  <a:pt x="174601" y="307002"/>
                </a:lnTo>
                <a:lnTo>
                  <a:pt x="200326" y="316970"/>
                </a:lnTo>
                <a:lnTo>
                  <a:pt x="231147" y="337689"/>
                </a:lnTo>
                <a:lnTo>
                  <a:pt x="241911" y="342266"/>
                </a:lnTo>
                <a:lnTo>
                  <a:pt x="257436" y="342594"/>
                </a:lnTo>
                <a:lnTo>
                  <a:pt x="273438" y="340850"/>
                </a:lnTo>
                <a:lnTo>
                  <a:pt x="285630" y="339213"/>
                </a:lnTo>
                <a:lnTo>
                  <a:pt x="373158" y="339213"/>
                </a:lnTo>
                <a:lnTo>
                  <a:pt x="383428" y="334766"/>
                </a:lnTo>
                <a:lnTo>
                  <a:pt x="398660" y="325624"/>
                </a:lnTo>
                <a:lnTo>
                  <a:pt x="417169" y="322022"/>
                </a:lnTo>
                <a:lnTo>
                  <a:pt x="445163" y="322022"/>
                </a:lnTo>
                <a:lnTo>
                  <a:pt x="474968" y="273242"/>
                </a:lnTo>
                <a:lnTo>
                  <a:pt x="247824" y="273242"/>
                </a:lnTo>
                <a:lnTo>
                  <a:pt x="196310" y="255077"/>
                </a:lnTo>
                <a:lnTo>
                  <a:pt x="166885" y="252472"/>
                </a:lnTo>
                <a:close/>
              </a:path>
              <a:path w="525144" h="345439">
                <a:moveTo>
                  <a:pt x="445163" y="322022"/>
                </a:moveTo>
                <a:lnTo>
                  <a:pt x="417169" y="322022"/>
                </a:lnTo>
                <a:lnTo>
                  <a:pt x="430522" y="323385"/>
                </a:lnTo>
                <a:lnTo>
                  <a:pt x="438612" y="326534"/>
                </a:lnTo>
                <a:lnTo>
                  <a:pt x="441332" y="328291"/>
                </a:lnTo>
                <a:lnTo>
                  <a:pt x="445163" y="322022"/>
                </a:lnTo>
                <a:close/>
              </a:path>
              <a:path w="525144" h="345439">
                <a:moveTo>
                  <a:pt x="18002" y="0"/>
                </a:moveTo>
                <a:lnTo>
                  <a:pt x="1690" y="8155"/>
                </a:lnTo>
                <a:lnTo>
                  <a:pt x="0" y="28170"/>
                </a:lnTo>
                <a:lnTo>
                  <a:pt x="18930" y="52828"/>
                </a:lnTo>
                <a:lnTo>
                  <a:pt x="84242" y="103580"/>
                </a:lnTo>
                <a:lnTo>
                  <a:pt x="125277" y="137283"/>
                </a:lnTo>
                <a:lnTo>
                  <a:pt x="153429" y="160984"/>
                </a:lnTo>
                <a:lnTo>
                  <a:pt x="180093" y="181733"/>
                </a:lnTo>
                <a:lnTo>
                  <a:pt x="201775" y="198981"/>
                </a:lnTo>
                <a:lnTo>
                  <a:pt x="233910" y="226087"/>
                </a:lnTo>
                <a:lnTo>
                  <a:pt x="259996" y="253527"/>
                </a:lnTo>
                <a:lnTo>
                  <a:pt x="263532" y="271776"/>
                </a:lnTo>
                <a:lnTo>
                  <a:pt x="247824" y="273242"/>
                </a:lnTo>
                <a:lnTo>
                  <a:pt x="474968" y="273242"/>
                </a:lnTo>
                <a:lnTo>
                  <a:pt x="524517" y="192147"/>
                </a:lnTo>
                <a:lnTo>
                  <a:pt x="522878" y="190319"/>
                </a:lnTo>
                <a:lnTo>
                  <a:pt x="516739" y="182002"/>
                </a:lnTo>
                <a:lnTo>
                  <a:pt x="508837" y="171805"/>
                </a:lnTo>
                <a:lnTo>
                  <a:pt x="501911" y="164334"/>
                </a:lnTo>
                <a:lnTo>
                  <a:pt x="467367" y="112327"/>
                </a:lnTo>
                <a:lnTo>
                  <a:pt x="460582" y="104771"/>
                </a:lnTo>
                <a:lnTo>
                  <a:pt x="186189" y="104771"/>
                </a:lnTo>
                <a:lnTo>
                  <a:pt x="164020" y="92785"/>
                </a:lnTo>
                <a:lnTo>
                  <a:pt x="116085" y="60797"/>
                </a:lnTo>
                <a:lnTo>
                  <a:pt x="67389" y="27332"/>
                </a:lnTo>
                <a:lnTo>
                  <a:pt x="42933" y="10918"/>
                </a:lnTo>
                <a:lnTo>
                  <a:pt x="18002" y="0"/>
                </a:lnTo>
                <a:close/>
              </a:path>
              <a:path w="525144" h="345439">
                <a:moveTo>
                  <a:pt x="258782" y="20947"/>
                </a:moveTo>
                <a:lnTo>
                  <a:pt x="242260" y="34857"/>
                </a:lnTo>
                <a:lnTo>
                  <a:pt x="235263" y="52197"/>
                </a:lnTo>
                <a:lnTo>
                  <a:pt x="233814" y="60702"/>
                </a:lnTo>
                <a:lnTo>
                  <a:pt x="203487" y="60702"/>
                </a:lnTo>
                <a:lnTo>
                  <a:pt x="189761" y="76497"/>
                </a:lnTo>
                <a:lnTo>
                  <a:pt x="186041" y="95545"/>
                </a:lnTo>
                <a:lnTo>
                  <a:pt x="186189" y="104771"/>
                </a:lnTo>
                <a:lnTo>
                  <a:pt x="460582" y="104771"/>
                </a:lnTo>
                <a:lnTo>
                  <a:pt x="432728" y="73751"/>
                </a:lnTo>
                <a:lnTo>
                  <a:pt x="418038" y="60702"/>
                </a:lnTo>
                <a:lnTo>
                  <a:pt x="233814" y="60702"/>
                </a:lnTo>
                <a:lnTo>
                  <a:pt x="417888" y="60569"/>
                </a:lnTo>
                <a:lnTo>
                  <a:pt x="399756" y="44461"/>
                </a:lnTo>
                <a:lnTo>
                  <a:pt x="373165" y="22729"/>
                </a:lnTo>
                <a:lnTo>
                  <a:pt x="288805" y="22729"/>
                </a:lnTo>
                <a:lnTo>
                  <a:pt x="258782" y="20947"/>
                </a:lnTo>
                <a:close/>
              </a:path>
              <a:path w="525144" h="345439">
                <a:moveTo>
                  <a:pt x="336865" y="4298"/>
                </a:moveTo>
                <a:lnTo>
                  <a:pt x="311173" y="6949"/>
                </a:lnTo>
                <a:lnTo>
                  <a:pt x="294649" y="16887"/>
                </a:lnTo>
                <a:lnTo>
                  <a:pt x="288805" y="22729"/>
                </a:lnTo>
                <a:lnTo>
                  <a:pt x="373165" y="22729"/>
                </a:lnTo>
                <a:lnTo>
                  <a:pt x="370212" y="20316"/>
                </a:lnTo>
                <a:lnTo>
                  <a:pt x="336865" y="4298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047216C-A43D-BFD7-2611-3FD6AEAAC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0156"/>
            <a:ext cx="12192000" cy="2817844"/>
          </a:xfrm>
          <a:prstGeom prst="rect">
            <a:avLst/>
          </a:prstGeom>
        </p:spPr>
      </p:pic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4796F625-8147-3E15-48F2-1ABCD3FC49A3}"/>
              </a:ext>
            </a:extLst>
          </p:cNvPr>
          <p:cNvSpPr/>
          <p:nvPr/>
        </p:nvSpPr>
        <p:spPr>
          <a:xfrm>
            <a:off x="4873609" y="3143804"/>
            <a:ext cx="1315618" cy="835990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296726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F1ADA24-225E-E872-2834-7CDE551196AC}"/>
              </a:ext>
            </a:extLst>
          </p:cNvPr>
          <p:cNvSpPr txBox="1"/>
          <p:nvPr/>
        </p:nvSpPr>
        <p:spPr>
          <a:xfrm>
            <a:off x="356894" y="748394"/>
            <a:ext cx="10541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COMMENT CRÉER UNE </a:t>
            </a:r>
            <a:r>
              <a:rPr lang="fr-FR" sz="2000" b="1" dirty="0"/>
              <a:t>REQUETE</a:t>
            </a:r>
            <a:r>
              <a:rPr lang="fr-FR" sz="1800" b="1" dirty="0"/>
              <a:t> D’INCIDENT DE TYPE INSTALLATION KO - Qualification du ticket</a:t>
            </a:r>
            <a:endParaRPr lang="fr-BF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1848F20-F640-14EF-5E9D-3036213F876A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9764150-F31D-68B1-C426-8C280D6779C5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7FCDB397-3E5F-F21C-3034-003F1AD1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586" y="1391760"/>
            <a:ext cx="6003413" cy="26291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42B8EA5-4D2E-6B4B-135F-1392BD588FC1}"/>
              </a:ext>
            </a:extLst>
          </p:cNvPr>
          <p:cNvSpPr/>
          <p:nvPr/>
        </p:nvSpPr>
        <p:spPr>
          <a:xfrm flipV="1">
            <a:off x="1278293" y="2875174"/>
            <a:ext cx="746449" cy="24125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</a:t>
            </a:r>
            <a:endParaRPr lang="fr-BF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6FFB9D0-EBA2-25B4-143C-5B45CA9B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1760"/>
            <a:ext cx="5579706" cy="270437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D5E584-BC47-5966-AB76-88DE662A1D23}"/>
              </a:ext>
            </a:extLst>
          </p:cNvPr>
          <p:cNvSpPr/>
          <p:nvPr/>
        </p:nvSpPr>
        <p:spPr>
          <a:xfrm>
            <a:off x="81078" y="2341984"/>
            <a:ext cx="1654416" cy="36434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53A54-2F4A-8C9B-02DE-3D04E862FEF7}"/>
              </a:ext>
            </a:extLst>
          </p:cNvPr>
          <p:cNvSpPr/>
          <p:nvPr/>
        </p:nvSpPr>
        <p:spPr>
          <a:xfrm>
            <a:off x="6397905" y="1794297"/>
            <a:ext cx="2764756" cy="200326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 dirty="0">
              <a:solidFill>
                <a:srgbClr val="7030A0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CD5E41F-B042-6941-62EF-8CF8A9CD7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59" y="4155064"/>
            <a:ext cx="5464629" cy="26784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116E173-95CA-8C7E-9516-3410FD29035A}"/>
              </a:ext>
            </a:extLst>
          </p:cNvPr>
          <p:cNvSpPr/>
          <p:nvPr/>
        </p:nvSpPr>
        <p:spPr>
          <a:xfrm>
            <a:off x="3694144" y="4531737"/>
            <a:ext cx="2732314" cy="32657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EC8E9A-3991-CB45-3737-48509A317506}"/>
              </a:ext>
            </a:extLst>
          </p:cNvPr>
          <p:cNvSpPr/>
          <p:nvPr/>
        </p:nvSpPr>
        <p:spPr>
          <a:xfrm>
            <a:off x="3665591" y="5139669"/>
            <a:ext cx="2732314" cy="32657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C9215BB-E6B5-A6DB-9413-46354CAC2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595" y="4163075"/>
            <a:ext cx="4785775" cy="238526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D107316-404F-0DED-3600-9E643AA74768}"/>
              </a:ext>
            </a:extLst>
          </p:cNvPr>
          <p:cNvSpPr/>
          <p:nvPr/>
        </p:nvSpPr>
        <p:spPr>
          <a:xfrm>
            <a:off x="9433355" y="6008914"/>
            <a:ext cx="904963" cy="41987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1F0BEE2-288F-3C91-457A-1E96ED140A9E}"/>
              </a:ext>
            </a:extLst>
          </p:cNvPr>
          <p:cNvSpPr/>
          <p:nvPr/>
        </p:nvSpPr>
        <p:spPr>
          <a:xfrm>
            <a:off x="1583094" y="1273175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01AA9BB-18AA-2B0F-A630-985434F31822}"/>
              </a:ext>
            </a:extLst>
          </p:cNvPr>
          <p:cNvSpPr/>
          <p:nvPr/>
        </p:nvSpPr>
        <p:spPr>
          <a:xfrm>
            <a:off x="9493482" y="1391760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B4E75F0-D5B6-195F-5E11-9100DCCC89AE}"/>
              </a:ext>
            </a:extLst>
          </p:cNvPr>
          <p:cNvSpPr/>
          <p:nvPr/>
        </p:nvSpPr>
        <p:spPr>
          <a:xfrm>
            <a:off x="3278154" y="4143298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C3F4FDA-94C1-0245-3B9C-FE1D7CBD6E39}"/>
              </a:ext>
            </a:extLst>
          </p:cNvPr>
          <p:cNvSpPr/>
          <p:nvPr/>
        </p:nvSpPr>
        <p:spPr>
          <a:xfrm>
            <a:off x="9162661" y="4200095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743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31C2FC3-A486-B114-E80F-6FD0956FFF7B}"/>
              </a:ext>
            </a:extLst>
          </p:cNvPr>
          <p:cNvSpPr txBox="1"/>
          <p:nvPr/>
        </p:nvSpPr>
        <p:spPr>
          <a:xfrm>
            <a:off x="356894" y="748394"/>
            <a:ext cx="10541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COMMENT CRÉER UNE </a:t>
            </a:r>
            <a:r>
              <a:rPr lang="fr-FR" sz="2000" b="1" dirty="0"/>
              <a:t>REQUETE</a:t>
            </a:r>
            <a:r>
              <a:rPr lang="fr-FR" sz="1800" b="1" dirty="0"/>
              <a:t> D’INCIDENT DE TYPE CLIENT PAS PRÊT</a:t>
            </a:r>
            <a:endParaRPr lang="fr-BF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8DDD690-230E-6AA2-06C6-C7B87979D5A8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25CE1FC-7990-B6AF-543A-ACCB5CC25A00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15">
            <a:extLst>
              <a:ext uri="{FF2B5EF4-FFF2-40B4-BE49-F238E27FC236}">
                <a16:creationId xmlns:a16="http://schemas.microsoft.com/office/drawing/2014/main" id="{B01A634C-8A07-8A6A-3E72-F85EA2284929}"/>
              </a:ext>
            </a:extLst>
          </p:cNvPr>
          <p:cNvSpPr txBox="1"/>
          <p:nvPr/>
        </p:nvSpPr>
        <p:spPr>
          <a:xfrm>
            <a:off x="179933" y="1319169"/>
            <a:ext cx="3444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Se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diriger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sur </a:t>
            </a:r>
            <a:r>
              <a:rPr sz="1200" spc="10" dirty="0">
                <a:solidFill>
                  <a:srgbClr val="232522"/>
                </a:solidFill>
                <a:latin typeface="URW Gothic"/>
                <a:cs typeface="URW Gothic"/>
              </a:rPr>
              <a:t>le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compte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client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en</a:t>
            </a:r>
            <a:r>
              <a:rPr sz="1200" spc="-7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question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Ouvrir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une « nouvelle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requête</a:t>
            </a:r>
            <a:r>
              <a:rPr sz="1200" spc="-55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</p:txBody>
      </p:sp>
      <p:sp>
        <p:nvSpPr>
          <p:cNvPr id="6" name="object 16">
            <a:extLst>
              <a:ext uri="{FF2B5EF4-FFF2-40B4-BE49-F238E27FC236}">
                <a16:creationId xmlns:a16="http://schemas.microsoft.com/office/drawing/2014/main" id="{5D694A2A-F0B7-FF19-6878-DB6FFFC066AD}"/>
              </a:ext>
            </a:extLst>
          </p:cNvPr>
          <p:cNvSpPr txBox="1"/>
          <p:nvPr/>
        </p:nvSpPr>
        <p:spPr>
          <a:xfrm>
            <a:off x="179933" y="2505676"/>
            <a:ext cx="5368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Comme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type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de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requête,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choisir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modification </a:t>
            </a:r>
            <a:r>
              <a:rPr sz="1200" spc="25" dirty="0">
                <a:solidFill>
                  <a:srgbClr val="232522"/>
                </a:solidFill>
                <a:latin typeface="Verdana"/>
                <a:cs typeface="Verdana"/>
              </a:rPr>
              <a:t>d’abonnement</a:t>
            </a:r>
            <a:r>
              <a:rPr sz="1200" spc="5" dirty="0">
                <a:solidFill>
                  <a:srgbClr val="232522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Comme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sz="1200" spc="-10" dirty="0">
                <a:solidFill>
                  <a:srgbClr val="232522"/>
                </a:solidFill>
                <a:latin typeface="URW Gothic"/>
                <a:cs typeface="URW Gothic"/>
              </a:rPr>
              <a:t>motif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de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requête » 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choisir</a:t>
            </a:r>
            <a:r>
              <a:rPr sz="1200" spc="3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Annulation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Comme </a:t>
            </a:r>
            <a:r>
              <a:rPr lang="fr-BF" sz="1200" spc="-5" dirty="0">
                <a:solidFill>
                  <a:srgbClr val="232522"/>
                </a:solidFill>
                <a:latin typeface="URW Gothic"/>
                <a:cs typeface="URW Gothic"/>
              </a:rPr>
              <a:t>«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 motif d’annulation </a:t>
            </a:r>
            <a:r>
              <a:rPr lang="fr-BF" sz="12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r>
              <a:rPr lang="fr-FR" sz="1200" spc="-5" dirty="0">
                <a:solidFill>
                  <a:srgbClr val="232522"/>
                </a:solidFill>
                <a:latin typeface="URW Gothic"/>
                <a:cs typeface="URW Gothic"/>
              </a:rPr>
              <a:t> Choisir rétraction – refus client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Associer </a:t>
            </a:r>
            <a:r>
              <a:rPr sz="1200" spc="10" dirty="0">
                <a:solidFill>
                  <a:srgbClr val="232522"/>
                </a:solidFill>
                <a:latin typeface="URW Gothic"/>
                <a:cs typeface="URW Gothic"/>
              </a:rPr>
              <a:t>la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requête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a </a:t>
            </a:r>
            <a:r>
              <a:rPr sz="1200" spc="15" dirty="0">
                <a:solidFill>
                  <a:srgbClr val="232522"/>
                </a:solidFill>
                <a:latin typeface="Verdana"/>
                <a:cs typeface="Verdana"/>
              </a:rPr>
              <a:t>l’abonnement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du</a:t>
            </a:r>
            <a:r>
              <a:rPr sz="1200" spc="-165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client</a:t>
            </a:r>
            <a:endParaRPr sz="1200" dirty="0">
              <a:latin typeface="URW Gothic"/>
              <a:cs typeface="URW Gothic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232522"/>
                </a:solidFill>
                <a:latin typeface="URW Gothic"/>
                <a:cs typeface="URW Gothic"/>
              </a:rPr>
              <a:t>Cliquer sur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« enregistrer</a:t>
            </a:r>
            <a:r>
              <a:rPr sz="1200" spc="-20" dirty="0">
                <a:solidFill>
                  <a:srgbClr val="232522"/>
                </a:solidFill>
                <a:latin typeface="URW Gothic"/>
                <a:cs typeface="URW Gothic"/>
              </a:rPr>
              <a:t> </a:t>
            </a:r>
            <a:r>
              <a:rPr sz="12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sz="1200" dirty="0">
              <a:latin typeface="URW Gothic"/>
              <a:cs typeface="URW Gothic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8E14958-C6BD-1575-FFFA-997475BD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8504"/>
            <a:ext cx="6046540" cy="1693756"/>
          </a:xfrm>
          <a:prstGeom prst="rect">
            <a:avLst/>
          </a:prstGeom>
        </p:spPr>
      </p:pic>
      <p:sp>
        <p:nvSpPr>
          <p:cNvPr id="8" name="object 21">
            <a:extLst>
              <a:ext uri="{FF2B5EF4-FFF2-40B4-BE49-F238E27FC236}">
                <a16:creationId xmlns:a16="http://schemas.microsoft.com/office/drawing/2014/main" id="{AE34E209-F1A6-1DE4-C08F-E91B553F2597}"/>
              </a:ext>
            </a:extLst>
          </p:cNvPr>
          <p:cNvSpPr/>
          <p:nvPr/>
        </p:nvSpPr>
        <p:spPr>
          <a:xfrm>
            <a:off x="10828970" y="1719280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8DBCE-E6B3-23FD-3C7E-4569A49C00DD}"/>
              </a:ext>
            </a:extLst>
          </p:cNvPr>
          <p:cNvSpPr/>
          <p:nvPr/>
        </p:nvSpPr>
        <p:spPr>
          <a:xfrm>
            <a:off x="11205338" y="1609046"/>
            <a:ext cx="693362" cy="2408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4085D10-95E5-5D48-9DDB-5723E95B6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2" y="3495613"/>
            <a:ext cx="5493079" cy="336238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C7BD7DD-7C15-534F-F9F5-E59F1435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682" y="3676261"/>
            <a:ext cx="5881018" cy="318173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F0E08E7-1DB3-DB81-560A-6B134CE01D04}"/>
              </a:ext>
            </a:extLst>
          </p:cNvPr>
          <p:cNvSpPr/>
          <p:nvPr/>
        </p:nvSpPr>
        <p:spPr>
          <a:xfrm>
            <a:off x="6167536" y="3741575"/>
            <a:ext cx="5458408" cy="6624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E7A003-4861-9612-38F4-F8173D9E40AA}"/>
              </a:ext>
            </a:extLst>
          </p:cNvPr>
          <p:cNvSpPr/>
          <p:nvPr/>
        </p:nvSpPr>
        <p:spPr>
          <a:xfrm>
            <a:off x="6146226" y="4514333"/>
            <a:ext cx="5458408" cy="6624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CC0BA3-2D90-203E-5A32-F4B86165C193}"/>
              </a:ext>
            </a:extLst>
          </p:cNvPr>
          <p:cNvSpPr/>
          <p:nvPr/>
        </p:nvSpPr>
        <p:spPr>
          <a:xfrm>
            <a:off x="6167536" y="5248954"/>
            <a:ext cx="5458408" cy="6624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4362E-27B3-D4C1-4CB8-2B58B1859227}"/>
              </a:ext>
            </a:extLst>
          </p:cNvPr>
          <p:cNvSpPr/>
          <p:nvPr/>
        </p:nvSpPr>
        <p:spPr>
          <a:xfrm>
            <a:off x="293300" y="4404048"/>
            <a:ext cx="5183769" cy="46653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4C84C265-9312-A1F3-4FE9-D305E287C555}"/>
              </a:ext>
            </a:extLst>
          </p:cNvPr>
          <p:cNvSpPr/>
          <p:nvPr/>
        </p:nvSpPr>
        <p:spPr>
          <a:xfrm>
            <a:off x="5744629" y="5687997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C294EFAC-92D5-A3E8-700C-75A200C1A772}"/>
              </a:ext>
            </a:extLst>
          </p:cNvPr>
          <p:cNvSpPr/>
          <p:nvPr/>
        </p:nvSpPr>
        <p:spPr>
          <a:xfrm>
            <a:off x="5699480" y="4870581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FCB1605D-2C5B-1A6C-F9FB-822E75820B8D}"/>
              </a:ext>
            </a:extLst>
          </p:cNvPr>
          <p:cNvSpPr/>
          <p:nvPr/>
        </p:nvSpPr>
        <p:spPr>
          <a:xfrm>
            <a:off x="5698917" y="4007001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8267F41-D32F-BF74-9174-A0953022D09F}"/>
              </a:ext>
            </a:extLst>
          </p:cNvPr>
          <p:cNvSpPr/>
          <p:nvPr/>
        </p:nvSpPr>
        <p:spPr>
          <a:xfrm>
            <a:off x="56448" y="4911343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21F3087-38DF-29A3-1A06-B9FC568043D0}"/>
              </a:ext>
            </a:extLst>
          </p:cNvPr>
          <p:cNvSpPr txBox="1"/>
          <p:nvPr/>
        </p:nvSpPr>
        <p:spPr>
          <a:xfrm>
            <a:off x="5744629" y="4115078"/>
            <a:ext cx="30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C362401-6666-C148-775C-7F8FCE0B0037}"/>
              </a:ext>
            </a:extLst>
          </p:cNvPr>
          <p:cNvSpPr txBox="1"/>
          <p:nvPr/>
        </p:nvSpPr>
        <p:spPr>
          <a:xfrm>
            <a:off x="5744629" y="4966353"/>
            <a:ext cx="30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8B785F9-A7D9-E33D-B574-136A66CCEE30}"/>
              </a:ext>
            </a:extLst>
          </p:cNvPr>
          <p:cNvSpPr txBox="1"/>
          <p:nvPr/>
        </p:nvSpPr>
        <p:spPr>
          <a:xfrm>
            <a:off x="5785167" y="5797185"/>
            <a:ext cx="30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3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923B1CC-9BF4-1996-5ADA-95D4213B8D5C}"/>
              </a:ext>
            </a:extLst>
          </p:cNvPr>
          <p:cNvSpPr txBox="1"/>
          <p:nvPr/>
        </p:nvSpPr>
        <p:spPr>
          <a:xfrm rot="10800000" flipV="1">
            <a:off x="146017" y="5001707"/>
            <a:ext cx="14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3</a:t>
            </a:r>
            <a:endParaRPr lang="fr-BF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29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3EA642D-1A6F-D2E0-6DFE-A0AF351CC381}"/>
              </a:ext>
            </a:extLst>
          </p:cNvPr>
          <p:cNvSpPr txBox="1"/>
          <p:nvPr/>
        </p:nvSpPr>
        <p:spPr>
          <a:xfrm>
            <a:off x="356894" y="748394"/>
            <a:ext cx="105412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COMMENT CRÉER UNE </a:t>
            </a:r>
            <a:r>
              <a:rPr lang="fr-FR" sz="2000" b="1" dirty="0"/>
              <a:t>REQUETE</a:t>
            </a:r>
            <a:r>
              <a:rPr lang="fr-FR" sz="1800" b="1" dirty="0"/>
              <a:t> D’INCIDENT DE TYPE CLIENT PAS PRET</a:t>
            </a:r>
            <a:endParaRPr lang="fr-BF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253CFE8-C108-1D48-3869-D747566999DD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E3F113D-87A2-753A-A448-B86E88292746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3C20703-DA38-2BFF-644A-637767BB6E18}"/>
              </a:ext>
            </a:extLst>
          </p:cNvPr>
          <p:cNvSpPr txBox="1"/>
          <p:nvPr/>
        </p:nvSpPr>
        <p:spPr>
          <a:xfrm>
            <a:off x="356894" y="1380549"/>
            <a:ext cx="9756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8. Apres création de la requête, il faudra procéder à la qualification du ticket ( Cf : </a:t>
            </a:r>
            <a:r>
              <a:rPr lang="fr-FR" dirty="0" err="1"/>
              <a:t>slade</a:t>
            </a:r>
            <a:r>
              <a:rPr lang="fr-FR" dirty="0"/>
              <a:t> 10 )</a:t>
            </a:r>
            <a:endParaRPr lang="fr-BF" dirty="0"/>
          </a:p>
        </p:txBody>
      </p:sp>
      <p:pic>
        <p:nvPicPr>
          <p:cNvPr id="9" name="Image 8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26BDCE8A-0684-F153-93C6-94195C07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854" y="1926417"/>
            <a:ext cx="5915851" cy="38837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0EA548-FE32-AD0F-FA70-2F49DE5E1A5C}"/>
              </a:ext>
            </a:extLst>
          </p:cNvPr>
          <p:cNvSpPr/>
          <p:nvPr/>
        </p:nvSpPr>
        <p:spPr>
          <a:xfrm>
            <a:off x="9100233" y="3445843"/>
            <a:ext cx="2026274" cy="4224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A92F2ED4-53CB-CB08-CADF-6D9A06D943EE}"/>
              </a:ext>
            </a:extLst>
          </p:cNvPr>
          <p:cNvSpPr/>
          <p:nvPr/>
        </p:nvSpPr>
        <p:spPr>
          <a:xfrm>
            <a:off x="11178253" y="3755718"/>
            <a:ext cx="361494" cy="427008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4C654C-B6E3-78E4-1815-BFCC80CAB600}"/>
              </a:ext>
            </a:extLst>
          </p:cNvPr>
          <p:cNvSpPr/>
          <p:nvPr/>
        </p:nvSpPr>
        <p:spPr>
          <a:xfrm>
            <a:off x="11608469" y="3429000"/>
            <a:ext cx="313236" cy="32671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pic>
        <p:nvPicPr>
          <p:cNvPr id="16" name="Image 15" descr="Une image contenant texte, capture d’écran, logiciel, ligne&#10;&#10;Description générée automatiquement">
            <a:extLst>
              <a:ext uri="{FF2B5EF4-FFF2-40B4-BE49-F238E27FC236}">
                <a16:creationId xmlns:a16="http://schemas.microsoft.com/office/drawing/2014/main" id="{D745F5FA-80EF-3A2D-1BD9-9594D7917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3507438"/>
            <a:ext cx="5768870" cy="327705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EA4C7B6-CDC7-4171-C29C-57358874F9AC}"/>
              </a:ext>
            </a:extLst>
          </p:cNvPr>
          <p:cNvSpPr/>
          <p:nvPr/>
        </p:nvSpPr>
        <p:spPr>
          <a:xfrm>
            <a:off x="292050" y="5427646"/>
            <a:ext cx="802257" cy="2841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EE9B4A6D-3630-2019-E12A-B0BBD478905A}"/>
              </a:ext>
            </a:extLst>
          </p:cNvPr>
          <p:cNvSpPr/>
          <p:nvPr/>
        </p:nvSpPr>
        <p:spPr>
          <a:xfrm flipH="1">
            <a:off x="1213829" y="5707145"/>
            <a:ext cx="291238" cy="422432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8B47809-9C5C-25B1-28BD-CABC62436F1C}"/>
              </a:ext>
            </a:extLst>
          </p:cNvPr>
          <p:cNvSpPr txBox="1"/>
          <p:nvPr/>
        </p:nvSpPr>
        <p:spPr>
          <a:xfrm>
            <a:off x="397273" y="1868895"/>
            <a:ext cx="5729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solidFill>
                  <a:srgbClr val="FF0000"/>
                </a:solidFill>
              </a:rPr>
              <a:t>Comment changer un groupe de traitement d’une requete ?</a:t>
            </a:r>
          </a:p>
          <a:p>
            <a:pPr marL="342900" indent="-342900">
              <a:buFont typeface="+mj-lt"/>
              <a:buAutoNum type="arabicPeriod"/>
            </a:pPr>
            <a:endParaRPr lang="fr-FR" sz="1600" dirty="0"/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Cliquer sur le bonhomme en premier lieu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Cliquer sur la bande déroulante et choisir</a:t>
            </a:r>
            <a:r>
              <a:rPr lang="fr-FR" sz="1600" spc="-5" dirty="0">
                <a:solidFill>
                  <a:srgbClr val="232522"/>
                </a:solidFill>
                <a:latin typeface="URW Gothic"/>
                <a:cs typeface="URW Gothic"/>
              </a:rPr>
              <a:t> «</a:t>
            </a:r>
            <a:r>
              <a:rPr lang="fr-FR" sz="1600" dirty="0"/>
              <a:t> file d’attente </a:t>
            </a:r>
            <a:r>
              <a:rPr lang="fr-FR" sz="16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lang="fr-FR" sz="1600" dirty="0"/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Saisir ensuite le groupe de traitement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600" dirty="0"/>
              <a:t>Valider enfin sur </a:t>
            </a:r>
            <a:r>
              <a:rPr lang="fr-FR" sz="1600" spc="-5" dirty="0">
                <a:solidFill>
                  <a:srgbClr val="232522"/>
                </a:solidFill>
                <a:latin typeface="URW Gothic"/>
                <a:cs typeface="URW Gothic"/>
              </a:rPr>
              <a:t>«</a:t>
            </a:r>
            <a:r>
              <a:rPr lang="fr-FR" sz="1600" dirty="0"/>
              <a:t> Modifier le propriétaire </a:t>
            </a:r>
            <a:r>
              <a:rPr lang="fr-FR" sz="16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lang="fr-BF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229CB3-F614-970D-CB17-4E8AF42D7C4A}"/>
              </a:ext>
            </a:extLst>
          </p:cNvPr>
          <p:cNvSpPr/>
          <p:nvPr/>
        </p:nvSpPr>
        <p:spPr>
          <a:xfrm>
            <a:off x="5086334" y="6309935"/>
            <a:ext cx="855064" cy="47456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04FBEA9-5773-1EEE-17B6-0C7B3AA42E9D}"/>
              </a:ext>
            </a:extLst>
          </p:cNvPr>
          <p:cNvSpPr/>
          <p:nvPr/>
        </p:nvSpPr>
        <p:spPr>
          <a:xfrm rot="1358380">
            <a:off x="4464019" y="6366045"/>
            <a:ext cx="372735" cy="405674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73F1241-FB2F-120F-907F-FF0A75E153FC}"/>
              </a:ext>
            </a:extLst>
          </p:cNvPr>
          <p:cNvSpPr txBox="1"/>
          <p:nvPr/>
        </p:nvSpPr>
        <p:spPr>
          <a:xfrm>
            <a:off x="11236445" y="3874949"/>
            <a:ext cx="30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29D25AE-868F-E320-C366-88F03A02F68F}"/>
              </a:ext>
            </a:extLst>
          </p:cNvPr>
          <p:cNvSpPr txBox="1"/>
          <p:nvPr/>
        </p:nvSpPr>
        <p:spPr>
          <a:xfrm>
            <a:off x="1228208" y="5810133"/>
            <a:ext cx="276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B401745-8E90-A48E-D6B5-E6351FE710EE}"/>
              </a:ext>
            </a:extLst>
          </p:cNvPr>
          <p:cNvSpPr txBox="1"/>
          <p:nvPr/>
        </p:nvSpPr>
        <p:spPr>
          <a:xfrm>
            <a:off x="4498735" y="6476720"/>
            <a:ext cx="30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4</a:t>
            </a:r>
            <a:endParaRPr lang="fr-BF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37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D704754-6ABB-9C27-211F-C4AB2277AAB2}"/>
              </a:ext>
            </a:extLst>
          </p:cNvPr>
          <p:cNvSpPr txBox="1"/>
          <p:nvPr/>
        </p:nvSpPr>
        <p:spPr>
          <a:xfrm>
            <a:off x="343955" y="808311"/>
            <a:ext cx="6410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Important : </a:t>
            </a:r>
          </a:p>
          <a:p>
            <a:r>
              <a:rPr lang="fr-FR" dirty="0"/>
              <a:t>Toujours s’assurer que le ticket est assigné au bon groupe de traitement</a:t>
            </a:r>
            <a:endParaRPr lang="fr-BF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70ECE66-55D2-DCB4-ED63-E098F16A8C94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</a:t>
            </a:r>
            <a:r>
              <a:rPr lang="fr-FR" sz="2400" b="1" u="sng" dirty="0">
                <a:solidFill>
                  <a:srgbClr val="7030A0"/>
                </a:solidFill>
              </a:rPr>
              <a:t> </a:t>
            </a: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DES REQUETES INCIDENT SERVICE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C622E8A-6F62-674C-7C3A-B7C0420148A0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182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9D8D94-64DC-E606-27AE-F620EBF5333B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 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AB460F81-E78B-8A36-B844-401CF3069620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F36A5E59-6571-A614-4B26-6FF941C6F8AB}"/>
              </a:ext>
            </a:extLst>
          </p:cNvPr>
          <p:cNvSpPr txBox="1"/>
          <p:nvPr/>
        </p:nvSpPr>
        <p:spPr>
          <a:xfrm>
            <a:off x="405442" y="871268"/>
            <a:ext cx="11128075" cy="134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7D136B"/>
              </a:buClr>
              <a:defRPr/>
            </a:pPr>
            <a:r>
              <a:rPr lang="fr-FR" sz="1800" dirty="0">
                <a:solidFill>
                  <a:srgbClr val="FF0000"/>
                </a:solidFill>
              </a:rPr>
              <a:t>À SAVOIR À ET RETENIR</a:t>
            </a:r>
            <a:endParaRPr lang="fr-FR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7D136B"/>
              </a:buClr>
              <a:defRPr/>
            </a:pPr>
            <a:r>
              <a:rPr lang="fr-FR" dirty="0"/>
              <a:t>Nous avons la possibilité de créer plusieurs types de rapport sur Salesforce. Nous avons des rapports de Vente, des Requêtés d’incidents, Suivi client…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7D136B"/>
              </a:buClr>
              <a:defRPr/>
            </a:pPr>
            <a:r>
              <a:rPr lang="fr-FR" dirty="0"/>
              <a:t>Il faut donc en fonction des données que vous prévoyez utiliser choisir le type de rapport sur Salesforce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719974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4BF86CB-8FEF-429E-817B-6BEE32149379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 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61571A9-9570-7F29-1B32-BB2D8203F3F1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A6DF6C7-E029-930F-8979-5C0C4D035070}"/>
              </a:ext>
            </a:extLst>
          </p:cNvPr>
          <p:cNvSpPr txBox="1"/>
          <p:nvPr/>
        </p:nvSpPr>
        <p:spPr>
          <a:xfrm>
            <a:off x="63733" y="719729"/>
            <a:ext cx="5926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Comment créer un rapport sur SALESFORCE ?</a:t>
            </a:r>
          </a:p>
          <a:p>
            <a:r>
              <a:rPr lang="fr-FR" sz="1400" dirty="0"/>
              <a:t>Sur l’interface Salesforce,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/>
              <a:t>Cliquer sur la bande déroulante et choisir </a:t>
            </a:r>
            <a:r>
              <a:rPr lang="fr-FR" sz="1400" spc="-5" dirty="0">
                <a:solidFill>
                  <a:srgbClr val="232522"/>
                </a:solidFill>
                <a:latin typeface="URW Gothic"/>
                <a:cs typeface="URW Gothic"/>
              </a:rPr>
              <a:t>«</a:t>
            </a:r>
            <a:r>
              <a:rPr lang="fr-FR" sz="1400" dirty="0"/>
              <a:t> rapport </a:t>
            </a:r>
            <a:r>
              <a:rPr lang="fr-FR" sz="14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/>
              <a:t>Cliquer ensuite sur nouveau rapport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/>
              <a:t>Vous serez dirigé vers un générateur de rapport</a:t>
            </a:r>
            <a:endParaRPr lang="fr-BF" sz="14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5BA2CDE-B5EF-3C77-1E77-6A079E2D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412"/>
            <a:ext cx="12192000" cy="433745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8D97006-ED21-0AED-C2D5-A8C94DE9B00C}"/>
              </a:ext>
            </a:extLst>
          </p:cNvPr>
          <p:cNvSpPr/>
          <p:nvPr/>
        </p:nvSpPr>
        <p:spPr>
          <a:xfrm>
            <a:off x="1300915" y="2320130"/>
            <a:ext cx="1164748" cy="3337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BBC5BE-1B4A-A4AF-02D1-80AC4111CC5C}"/>
              </a:ext>
            </a:extLst>
          </p:cNvPr>
          <p:cNvSpPr/>
          <p:nvPr/>
        </p:nvSpPr>
        <p:spPr>
          <a:xfrm>
            <a:off x="1300915" y="4674807"/>
            <a:ext cx="1022405" cy="3337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EC6CD1-35CA-728A-8A01-7843CB4CD980}"/>
              </a:ext>
            </a:extLst>
          </p:cNvPr>
          <p:cNvSpPr/>
          <p:nvPr/>
        </p:nvSpPr>
        <p:spPr>
          <a:xfrm>
            <a:off x="10950301" y="2818837"/>
            <a:ext cx="948399" cy="33491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BFFA5F-E389-0F3E-2CAB-DA0ABE1D6B00}"/>
              </a:ext>
            </a:extLst>
          </p:cNvPr>
          <p:cNvSpPr/>
          <p:nvPr/>
        </p:nvSpPr>
        <p:spPr>
          <a:xfrm>
            <a:off x="4299152" y="2350737"/>
            <a:ext cx="1164748" cy="3337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AB38203D-54AA-AD69-7778-811481D58C2B}"/>
              </a:ext>
            </a:extLst>
          </p:cNvPr>
          <p:cNvSpPr/>
          <p:nvPr/>
        </p:nvSpPr>
        <p:spPr>
          <a:xfrm>
            <a:off x="1875916" y="2691445"/>
            <a:ext cx="354099" cy="462302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2C5FF93-8BA6-A256-4255-3A74A6BD0F0A}"/>
              </a:ext>
            </a:extLst>
          </p:cNvPr>
          <p:cNvSpPr txBox="1"/>
          <p:nvPr/>
        </p:nvSpPr>
        <p:spPr>
          <a:xfrm rot="10800000" flipV="1">
            <a:off x="1965485" y="2796662"/>
            <a:ext cx="149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486F3E78-D448-74C6-0D60-7A3F582A390A}"/>
              </a:ext>
            </a:extLst>
          </p:cNvPr>
          <p:cNvSpPr/>
          <p:nvPr/>
        </p:nvSpPr>
        <p:spPr>
          <a:xfrm>
            <a:off x="10394767" y="2942942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899F653-AA6F-7F56-4DD3-7D4E7891D769}"/>
              </a:ext>
            </a:extLst>
          </p:cNvPr>
          <p:cNvSpPr txBox="1"/>
          <p:nvPr/>
        </p:nvSpPr>
        <p:spPr>
          <a:xfrm rot="10800000" flipV="1">
            <a:off x="10487607" y="3033306"/>
            <a:ext cx="149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038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7EF052D-6A7D-4FDA-C737-D2F2D6B2DB38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5BA1C50-132A-4B9A-AC0B-8B7F2B6A512F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B84A658A-A305-4B7D-0175-416DD09E2988}"/>
              </a:ext>
            </a:extLst>
          </p:cNvPr>
          <p:cNvSpPr txBox="1"/>
          <p:nvPr/>
        </p:nvSpPr>
        <p:spPr>
          <a:xfrm>
            <a:off x="186612" y="886408"/>
            <a:ext cx="4687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Choisir le type de rapport à créer ou faire une recherche du type de rapport à créer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En cliquant sur le type de rapport vous avez les objets utilisés dans sa création. Elle vous oriente sur les données que vous souhaitez exploiter.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Si les objets correspondent aux données souhaitées, cliquer sur Démarrer le rapport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053C58D-1E18-44DB-B306-EB276F7DE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755" y="595265"/>
            <a:ext cx="7218784" cy="29037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72B2815-552D-8810-7B24-4AACB0EF6221}"/>
              </a:ext>
            </a:extLst>
          </p:cNvPr>
          <p:cNvSpPr/>
          <p:nvPr/>
        </p:nvSpPr>
        <p:spPr>
          <a:xfrm>
            <a:off x="6314565" y="820516"/>
            <a:ext cx="3949108" cy="39246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40311D-10FB-3A2E-C085-A95AFFFA23E5}"/>
              </a:ext>
            </a:extLst>
          </p:cNvPr>
          <p:cNvSpPr/>
          <p:nvPr/>
        </p:nvSpPr>
        <p:spPr>
          <a:xfrm>
            <a:off x="10431625" y="2229438"/>
            <a:ext cx="1455576" cy="126954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93779-81C4-D914-21B1-C256E0F83A91}"/>
              </a:ext>
            </a:extLst>
          </p:cNvPr>
          <p:cNvSpPr/>
          <p:nvPr/>
        </p:nvSpPr>
        <p:spPr>
          <a:xfrm>
            <a:off x="10353142" y="1212979"/>
            <a:ext cx="948399" cy="33491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13F906B9-D06C-8994-0B50-30D39E613A19}"/>
              </a:ext>
            </a:extLst>
          </p:cNvPr>
          <p:cNvSpPr/>
          <p:nvPr/>
        </p:nvSpPr>
        <p:spPr>
          <a:xfrm>
            <a:off x="6096000" y="1136402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8852856-4B7E-C845-EEEC-67565FCF3D1B}"/>
              </a:ext>
            </a:extLst>
          </p:cNvPr>
          <p:cNvSpPr txBox="1"/>
          <p:nvPr/>
        </p:nvSpPr>
        <p:spPr>
          <a:xfrm rot="10800000" flipV="1">
            <a:off x="6188840" y="1226766"/>
            <a:ext cx="149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1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5DF0BD1E-3849-B732-D8C1-E08C91FD9ED8}"/>
              </a:ext>
            </a:extLst>
          </p:cNvPr>
          <p:cNvSpPr/>
          <p:nvPr/>
        </p:nvSpPr>
        <p:spPr>
          <a:xfrm>
            <a:off x="9955763" y="3184747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8C7B857-B2ED-EF31-9ADA-021ABAFD546D}"/>
              </a:ext>
            </a:extLst>
          </p:cNvPr>
          <p:cNvSpPr txBox="1"/>
          <p:nvPr/>
        </p:nvSpPr>
        <p:spPr>
          <a:xfrm rot="10800000" flipV="1">
            <a:off x="10048603" y="3275111"/>
            <a:ext cx="140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2</a:t>
            </a:r>
            <a:endParaRPr lang="fr-BF" dirty="0">
              <a:solidFill>
                <a:schemeClr val="bg1"/>
              </a:solidFill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8011D01C-0C0C-6748-FEF7-3E8F1021CE1E}"/>
              </a:ext>
            </a:extLst>
          </p:cNvPr>
          <p:cNvSpPr/>
          <p:nvPr/>
        </p:nvSpPr>
        <p:spPr>
          <a:xfrm>
            <a:off x="9977126" y="1534543"/>
            <a:ext cx="347980" cy="421609"/>
          </a:xfrm>
          <a:custGeom>
            <a:avLst/>
            <a:gdLst/>
            <a:ahLst/>
            <a:cxnLst/>
            <a:rect l="l" t="t" r="r" b="b"/>
            <a:pathLst>
              <a:path w="347979" h="523239">
                <a:moveTo>
                  <a:pt x="67819" y="122941"/>
                </a:moveTo>
                <a:lnTo>
                  <a:pt x="52141" y="128581"/>
                </a:lnTo>
                <a:lnTo>
                  <a:pt x="44404" y="144531"/>
                </a:lnTo>
                <a:lnTo>
                  <a:pt x="42999" y="153775"/>
                </a:lnTo>
                <a:lnTo>
                  <a:pt x="39356" y="172281"/>
                </a:lnTo>
                <a:lnTo>
                  <a:pt x="29188" y="197931"/>
                </a:lnTo>
                <a:lnTo>
                  <a:pt x="8209" y="228605"/>
                </a:lnTo>
                <a:lnTo>
                  <a:pt x="3516" y="239315"/>
                </a:lnTo>
                <a:lnTo>
                  <a:pt x="3049" y="254847"/>
                </a:lnTo>
                <a:lnTo>
                  <a:pt x="4655" y="270879"/>
                </a:lnTo>
                <a:lnTo>
                  <a:pt x="6177" y="283088"/>
                </a:lnTo>
                <a:lnTo>
                  <a:pt x="0" y="333843"/>
                </a:lnTo>
                <a:lnTo>
                  <a:pt x="2383" y="363273"/>
                </a:lnTo>
                <a:lnTo>
                  <a:pt x="9838" y="380869"/>
                </a:lnTo>
                <a:lnTo>
                  <a:pt x="18877" y="396118"/>
                </a:lnTo>
                <a:lnTo>
                  <a:pt x="22365" y="414734"/>
                </a:lnTo>
                <a:lnTo>
                  <a:pt x="20877" y="428075"/>
                </a:lnTo>
                <a:lnTo>
                  <a:pt x="17627" y="436106"/>
                </a:lnTo>
                <a:lnTo>
                  <a:pt x="15829" y="438790"/>
                </a:lnTo>
                <a:lnTo>
                  <a:pt x="151338" y="523118"/>
                </a:lnTo>
                <a:lnTo>
                  <a:pt x="153187" y="521448"/>
                </a:lnTo>
                <a:lnTo>
                  <a:pt x="161561" y="515371"/>
                </a:lnTo>
                <a:lnTo>
                  <a:pt x="171840" y="507581"/>
                </a:lnTo>
                <a:lnTo>
                  <a:pt x="179405" y="500766"/>
                </a:lnTo>
                <a:lnTo>
                  <a:pt x="231642" y="466633"/>
                </a:lnTo>
                <a:lnTo>
                  <a:pt x="270496" y="432298"/>
                </a:lnTo>
                <a:lnTo>
                  <a:pt x="300063" y="399557"/>
                </a:lnTo>
                <a:lnTo>
                  <a:pt x="324439" y="370210"/>
                </a:lnTo>
                <a:lnTo>
                  <a:pt x="340717" y="337024"/>
                </a:lnTo>
                <a:lnTo>
                  <a:pt x="338266" y="311314"/>
                </a:lnTo>
                <a:lnTo>
                  <a:pt x="328457" y="294701"/>
                </a:lnTo>
                <a:lnTo>
                  <a:pt x="322661" y="288803"/>
                </a:lnTo>
                <a:lnTo>
                  <a:pt x="324483" y="261498"/>
                </a:lnTo>
                <a:lnTo>
                  <a:pt x="73741" y="261498"/>
                </a:lnTo>
                <a:lnTo>
                  <a:pt x="72411" y="245756"/>
                </a:lnTo>
                <a:lnTo>
                  <a:pt x="81012" y="222335"/>
                </a:lnTo>
                <a:lnTo>
                  <a:pt x="90993" y="194365"/>
                </a:lnTo>
                <a:lnTo>
                  <a:pt x="93807" y="164978"/>
                </a:lnTo>
                <a:lnTo>
                  <a:pt x="84141" y="133209"/>
                </a:lnTo>
                <a:lnTo>
                  <a:pt x="67819" y="122941"/>
                </a:lnTo>
                <a:close/>
              </a:path>
              <a:path w="347979" h="523239">
                <a:moveTo>
                  <a:pt x="319553" y="0"/>
                </a:moveTo>
                <a:lnTo>
                  <a:pt x="294721" y="18674"/>
                </a:lnTo>
                <a:lnTo>
                  <a:pt x="243449" y="83595"/>
                </a:lnTo>
                <a:lnTo>
                  <a:pt x="209440" y="124370"/>
                </a:lnTo>
                <a:lnTo>
                  <a:pt x="185529" y="152334"/>
                </a:lnTo>
                <a:lnTo>
                  <a:pt x="164546" y="178821"/>
                </a:lnTo>
                <a:lnTo>
                  <a:pt x="147107" y="200348"/>
                </a:lnTo>
                <a:lnTo>
                  <a:pt x="119715" y="232257"/>
                </a:lnTo>
                <a:lnTo>
                  <a:pt x="92037" y="258117"/>
                </a:lnTo>
                <a:lnTo>
                  <a:pt x="73741" y="261498"/>
                </a:lnTo>
                <a:lnTo>
                  <a:pt x="324483" y="261498"/>
                </a:lnTo>
                <a:lnTo>
                  <a:pt x="324663" y="258794"/>
                </a:lnTo>
                <a:lnTo>
                  <a:pt x="310866" y="242179"/>
                </a:lnTo>
                <a:lnTo>
                  <a:pt x="293568" y="235065"/>
                </a:lnTo>
                <a:lnTo>
                  <a:pt x="285069" y="233558"/>
                </a:lnTo>
                <a:lnTo>
                  <a:pt x="285422" y="203340"/>
                </a:lnTo>
                <a:lnTo>
                  <a:pt x="269607" y="189362"/>
                </a:lnTo>
                <a:lnTo>
                  <a:pt x="250950" y="185552"/>
                </a:lnTo>
                <a:lnTo>
                  <a:pt x="241381" y="185552"/>
                </a:lnTo>
                <a:lnTo>
                  <a:pt x="253545" y="163431"/>
                </a:lnTo>
                <a:lnTo>
                  <a:pt x="285926" y="115734"/>
                </a:lnTo>
                <a:lnTo>
                  <a:pt x="319784" y="67323"/>
                </a:lnTo>
                <a:lnTo>
                  <a:pt x="336377" y="43058"/>
                </a:lnTo>
                <a:lnTo>
                  <a:pt x="347549" y="18228"/>
                </a:lnTo>
                <a:lnTo>
                  <a:pt x="339552" y="1863"/>
                </a:lnTo>
                <a:lnTo>
                  <a:pt x="319553" y="0"/>
                </a:lnTo>
                <a:close/>
              </a:path>
              <a:path w="347979" h="523239">
                <a:moveTo>
                  <a:pt x="250600" y="185481"/>
                </a:moveTo>
                <a:lnTo>
                  <a:pt x="241381" y="185552"/>
                </a:lnTo>
                <a:lnTo>
                  <a:pt x="250950" y="185552"/>
                </a:lnTo>
                <a:lnTo>
                  <a:pt x="250600" y="185481"/>
                </a:lnTo>
                <a:close/>
              </a:path>
            </a:pathLst>
          </a:custGeom>
          <a:solidFill>
            <a:srgbClr val="80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D8AC4E9-E8C7-6566-9D31-0A4D7A80E111}"/>
              </a:ext>
            </a:extLst>
          </p:cNvPr>
          <p:cNvSpPr txBox="1"/>
          <p:nvPr/>
        </p:nvSpPr>
        <p:spPr>
          <a:xfrm rot="10800000" flipV="1">
            <a:off x="10069966" y="1624907"/>
            <a:ext cx="149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3</a:t>
            </a:r>
            <a:endParaRPr lang="fr-BF" dirty="0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857917B-BB16-08E1-D065-F9FC0FADD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894" y="3673250"/>
            <a:ext cx="7256105" cy="317811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4C3EA1F-EF07-15B0-16C9-5B1A383CB54F}"/>
              </a:ext>
            </a:extLst>
          </p:cNvPr>
          <p:cNvSpPr/>
          <p:nvPr/>
        </p:nvSpPr>
        <p:spPr>
          <a:xfrm>
            <a:off x="5298594" y="4702655"/>
            <a:ext cx="3098957" cy="201538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C95771B-00BB-DD01-DE45-57255029BFD1}"/>
              </a:ext>
            </a:extLst>
          </p:cNvPr>
          <p:cNvSpPr txBox="1"/>
          <p:nvPr/>
        </p:nvSpPr>
        <p:spPr>
          <a:xfrm>
            <a:off x="219866" y="3862873"/>
            <a:ext cx="45346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Vous êtes ensuite dirigé vers le champ d'Edition du rapport.</a:t>
            </a:r>
          </a:p>
          <a:p>
            <a:r>
              <a:rPr lang="fr-FR" dirty="0"/>
              <a:t>Dans cette partie, il s’agira de sélectionner les données du plan du rapport ( Information groupé en colonne et en ligne )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Grouper les lignes et colonnes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Colonnes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F" dirty="0"/>
          </a:p>
        </p:txBody>
      </p:sp>
    </p:spTree>
    <p:extLst>
      <p:ext uri="{BB962C8B-B14F-4D97-AF65-F5344CB8AC3E}">
        <p14:creationId xmlns:p14="http://schemas.microsoft.com/office/powerpoint/2010/main" val="388600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55B5BBE-6229-ED73-5DDA-C9C4F364C631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 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13D2640-14DC-028A-8347-A413A058D0F2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8F3BBF8D-BF69-E187-741D-E35AD965E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159" y="723522"/>
            <a:ext cx="6611265" cy="191704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6710389-369C-A967-A13A-DA721629283F}"/>
              </a:ext>
            </a:extLst>
          </p:cNvPr>
          <p:cNvSpPr txBox="1"/>
          <p:nvPr/>
        </p:nvSpPr>
        <p:spPr>
          <a:xfrm>
            <a:off x="307910" y="863283"/>
            <a:ext cx="42209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Filtres : Ils permettre d’affiner vos données selon les dates, les cycles, les villes…</a:t>
            </a:r>
          </a:p>
          <a:p>
            <a:r>
              <a:rPr lang="fr-FR" dirty="0"/>
              <a:t>Vous avez la possibilité d’ajouter des données a filtré selon votre plan</a:t>
            </a:r>
            <a:endParaRPr lang="fr-BF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A2402-B1D2-8266-9EC3-9EFB8D12E899}"/>
              </a:ext>
            </a:extLst>
          </p:cNvPr>
          <p:cNvSpPr/>
          <p:nvPr/>
        </p:nvSpPr>
        <p:spPr>
          <a:xfrm>
            <a:off x="5772246" y="1034024"/>
            <a:ext cx="3130214" cy="168417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ABF2C5F-B36A-BA4D-CA30-4D4FE5ED5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60" y="3846593"/>
            <a:ext cx="6815364" cy="168417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87554B8-4381-EC60-CFE8-8E0102F57541}"/>
              </a:ext>
            </a:extLst>
          </p:cNvPr>
          <p:cNvSpPr txBox="1"/>
          <p:nvPr/>
        </p:nvSpPr>
        <p:spPr>
          <a:xfrm>
            <a:off x="141576" y="4417040"/>
            <a:ext cx="4770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Il est conseillé de laisser activer ou d’activer la mise à jour automatique des données sélectionnées afin de faciliter la création,</a:t>
            </a:r>
          </a:p>
          <a:p>
            <a:endParaRPr lang="fr-FR" dirty="0"/>
          </a:p>
          <a:p>
            <a:r>
              <a:rPr lang="fr-FR" dirty="0"/>
              <a:t>Après avoir composé votre plan et activer les filtres, il vous suffit de sélectionner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« </a:t>
            </a:r>
            <a:r>
              <a:rPr lang="fr-FR" b="1" dirty="0"/>
              <a:t>Enregistré et exécuter</a:t>
            </a:r>
            <a:r>
              <a:rPr lang="fr-FR" dirty="0"/>
              <a:t> </a:t>
            </a:r>
            <a:r>
              <a:rPr lang="fr-FR" sz="1800" spc="-5" dirty="0">
                <a:solidFill>
                  <a:srgbClr val="232522"/>
                </a:solidFill>
                <a:latin typeface="URW Gothic"/>
                <a:cs typeface="URW Gothic"/>
              </a:rPr>
              <a:t>»</a:t>
            </a:r>
            <a:endParaRPr lang="fr-BF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0F6296-AE3D-4422-BF79-139483618EFC}"/>
              </a:ext>
            </a:extLst>
          </p:cNvPr>
          <p:cNvSpPr/>
          <p:nvPr/>
        </p:nvSpPr>
        <p:spPr>
          <a:xfrm>
            <a:off x="10981426" y="5270740"/>
            <a:ext cx="1138687" cy="2600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3737280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F450C1-8D7D-0D91-8BC0-2914AECF5BEC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 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12E7CA9-37D4-1D52-AC0A-6A89E2AB7695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3DBF84D5-6E8C-B8EB-71A0-E2FFC9F9F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261" y="595263"/>
            <a:ext cx="5955825" cy="558124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5C652D2-9479-8BF8-2E53-7519941548AE}"/>
              </a:ext>
            </a:extLst>
          </p:cNvPr>
          <p:cNvSpPr txBox="1"/>
          <p:nvPr/>
        </p:nvSpPr>
        <p:spPr>
          <a:xfrm>
            <a:off x="163902" y="862642"/>
            <a:ext cx="5641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Procéder enfin à l’enregistrement du rapport en renseignant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nom du rapport ( Obligatoire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Nom unique ( Facultatif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Description ( Facultatif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Dossier : Vos avez la possibilité d’en faire un rapport </a:t>
            </a:r>
            <a:r>
              <a:rPr lang="fr-FR" b="1" dirty="0"/>
              <a:t>Privé</a:t>
            </a:r>
            <a:r>
              <a:rPr lang="fr-FR" dirty="0"/>
              <a:t> ( Vous seul aurez accès au lien ) ou </a:t>
            </a:r>
            <a:r>
              <a:rPr lang="fr-FR" b="1" dirty="0"/>
              <a:t>Publique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F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AE96-8DF4-D839-0BDB-A3217E0CEB66}"/>
              </a:ext>
            </a:extLst>
          </p:cNvPr>
          <p:cNvSpPr/>
          <p:nvPr/>
        </p:nvSpPr>
        <p:spPr>
          <a:xfrm>
            <a:off x="11128075" y="4804913"/>
            <a:ext cx="955011" cy="48307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786BD0-5BB0-DF23-BAB4-1AEEC1CBDBD5}"/>
              </a:ext>
            </a:extLst>
          </p:cNvPr>
          <p:cNvSpPr/>
          <p:nvPr/>
        </p:nvSpPr>
        <p:spPr>
          <a:xfrm>
            <a:off x="6228272" y="1570008"/>
            <a:ext cx="5799826" cy="65560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</p:spTree>
    <p:extLst>
      <p:ext uri="{BB962C8B-B14F-4D97-AF65-F5344CB8AC3E}">
        <p14:creationId xmlns:p14="http://schemas.microsoft.com/office/powerpoint/2010/main" val="168272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FEC3E66-D2DB-ADB1-B2D2-27462434708A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3AA0A24D-40C3-B8DF-E5F9-C4B402BDD3E0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0E92858E-6A99-4650-D4BA-1206370E599B}"/>
              </a:ext>
            </a:extLst>
          </p:cNvPr>
          <p:cNvSpPr txBox="1"/>
          <p:nvPr/>
        </p:nvSpPr>
        <p:spPr>
          <a:xfrm>
            <a:off x="224287" y="707366"/>
            <a:ext cx="11205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Exemple de rapport de Vente enregistré par jour</a:t>
            </a:r>
            <a:endParaRPr lang="fr-BF" sz="20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43049E9-3457-466A-0A74-EC254FA65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161" y="2304413"/>
            <a:ext cx="8154839" cy="455358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6D25231-5893-50C3-E482-5BCBB3EF5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52" y="2304415"/>
            <a:ext cx="1867660" cy="455358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3793C8D-383D-31A7-945D-07017827B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04415"/>
            <a:ext cx="2003003" cy="4853663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6194D1E6-4B2D-7393-43CE-9E204EDE51A3}"/>
              </a:ext>
            </a:extLst>
          </p:cNvPr>
          <p:cNvSpPr/>
          <p:nvPr/>
        </p:nvSpPr>
        <p:spPr>
          <a:xfrm>
            <a:off x="696701" y="2260089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4C63D04-EDF7-B382-851A-3B935AC0A91B}"/>
              </a:ext>
            </a:extLst>
          </p:cNvPr>
          <p:cNvSpPr/>
          <p:nvPr/>
        </p:nvSpPr>
        <p:spPr>
          <a:xfrm>
            <a:off x="3119939" y="2304030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69A65D4-5DF7-FC04-50FA-2E4FFF6FD450}"/>
              </a:ext>
            </a:extLst>
          </p:cNvPr>
          <p:cNvSpPr/>
          <p:nvPr/>
        </p:nvSpPr>
        <p:spPr>
          <a:xfrm>
            <a:off x="6127261" y="2260089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F197258-BB3C-F3DC-C743-DC43C819CE8D}"/>
              </a:ext>
            </a:extLst>
          </p:cNvPr>
          <p:cNvSpPr txBox="1"/>
          <p:nvPr/>
        </p:nvSpPr>
        <p:spPr>
          <a:xfrm>
            <a:off x="448574" y="1192808"/>
            <a:ext cx="6521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Les objets du plan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Les objets filtrés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L’aperçu du rapport</a:t>
            </a:r>
            <a:endParaRPr lang="fr-BF" dirty="0"/>
          </a:p>
        </p:txBody>
      </p:sp>
    </p:spTree>
    <p:extLst>
      <p:ext uri="{BB962C8B-B14F-4D97-AF65-F5344CB8AC3E}">
        <p14:creationId xmlns:p14="http://schemas.microsoft.com/office/powerpoint/2010/main" val="355803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25900E1-6BE3-810A-E0AE-CC35A9B11FBB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A8AC4E2-89FA-725D-E0F6-44CCDCBB3F39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CBF10D6-18D2-EB08-5229-B253CEE89538}"/>
              </a:ext>
            </a:extLst>
          </p:cNvPr>
          <p:cNvSpPr txBox="1"/>
          <p:nvPr/>
        </p:nvSpPr>
        <p:spPr>
          <a:xfrm>
            <a:off x="442104" y="721107"/>
            <a:ext cx="61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Exemple de </a:t>
            </a:r>
            <a:r>
              <a:rPr lang="fr-FR" sz="2000" b="1" dirty="0"/>
              <a:t>rapport</a:t>
            </a:r>
            <a:r>
              <a:rPr lang="fr-FR" sz="1800" b="1" dirty="0"/>
              <a:t> du Backlog Client en Pending Activation</a:t>
            </a:r>
            <a:endParaRPr lang="fr-BF" sz="18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C615FA-853E-B120-F2C4-2B3D64E7D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5783"/>
            <a:ext cx="2353003" cy="47822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118A42-3724-7B70-52E5-63E8C3449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525" y="2075783"/>
            <a:ext cx="2324424" cy="46183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01D5FDC-BCB0-1D6E-C889-9EBB30DEF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321" y="2075782"/>
            <a:ext cx="7096600" cy="4782218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492112BE-2E8E-D356-F318-E851ECF23FBF}"/>
              </a:ext>
            </a:extLst>
          </p:cNvPr>
          <p:cNvSpPr/>
          <p:nvPr/>
        </p:nvSpPr>
        <p:spPr>
          <a:xfrm>
            <a:off x="1731155" y="1985655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F001E29-3735-867E-3DDE-F5846123FE16}"/>
              </a:ext>
            </a:extLst>
          </p:cNvPr>
          <p:cNvSpPr/>
          <p:nvPr/>
        </p:nvSpPr>
        <p:spPr>
          <a:xfrm>
            <a:off x="4154393" y="2029596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119B907-CA97-5C7C-8170-DD3B8882EE5B}"/>
              </a:ext>
            </a:extLst>
          </p:cNvPr>
          <p:cNvSpPr/>
          <p:nvPr/>
        </p:nvSpPr>
        <p:spPr>
          <a:xfrm>
            <a:off x="7161715" y="1985655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656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E50E99D-1053-3433-7230-0374CF0DA79F}"/>
              </a:ext>
            </a:extLst>
          </p:cNvPr>
          <p:cNvSpPr txBox="1"/>
          <p:nvPr/>
        </p:nvSpPr>
        <p:spPr>
          <a:xfrm>
            <a:off x="774440" y="-46654"/>
            <a:ext cx="918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b="1" u="sng" cap="all" dirty="0">
                <a:solidFill>
                  <a:srgbClr val="660033"/>
                </a:solidFill>
                <a:latin typeface="Futura Hv BT" panose="020B0702020204020204" pitchFamily="34" charset="0"/>
                <a:cs typeface="Futura Medium" panose="020B0602020204020303" pitchFamily="34" charset="-79"/>
              </a:rPr>
              <a:t>CREATION DE RAPPORT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7CC951A-15BA-ACF3-B041-4769C2A87B0D}"/>
              </a:ext>
            </a:extLst>
          </p:cNvPr>
          <p:cNvCxnSpPr>
            <a:cxnSpLocks/>
          </p:cNvCxnSpPr>
          <p:nvPr/>
        </p:nvCxnSpPr>
        <p:spPr>
          <a:xfrm>
            <a:off x="0" y="505137"/>
            <a:ext cx="1225452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630777E0-71DC-3EB8-6BAD-3075D0FDD491}"/>
              </a:ext>
            </a:extLst>
          </p:cNvPr>
          <p:cNvSpPr txBox="1"/>
          <p:nvPr/>
        </p:nvSpPr>
        <p:spPr>
          <a:xfrm>
            <a:off x="638355" y="862642"/>
            <a:ext cx="80656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dirty="0"/>
              <a:t>Etat du service : Montre si le client est installé ou non</a:t>
            </a:r>
          </a:p>
          <a:p>
            <a:endParaRPr lang="fr-FR" dirty="0"/>
          </a:p>
          <a:p>
            <a:r>
              <a:rPr lang="fr-FR" dirty="0">
                <a:solidFill>
                  <a:srgbClr val="FF0000"/>
                </a:solidFill>
              </a:rPr>
              <a:t>IMPORTANT</a:t>
            </a:r>
          </a:p>
          <a:p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Vous pourriez constater des clients dont </a:t>
            </a:r>
            <a:r>
              <a:rPr lang="fr-FR" b="1" dirty="0"/>
              <a:t>l’ETAT DU SERVICE </a:t>
            </a:r>
            <a:r>
              <a:rPr lang="fr-FR" dirty="0"/>
              <a:t>est </a:t>
            </a:r>
            <a:r>
              <a:rPr lang="fr-FR" b="1" dirty="0"/>
              <a:t>Active</a:t>
            </a:r>
            <a:r>
              <a:rPr lang="fr-FR" dirty="0"/>
              <a:t> mais le </a:t>
            </a:r>
            <a:r>
              <a:rPr lang="fr-FR" b="1" dirty="0"/>
              <a:t>STATUT</a:t>
            </a:r>
            <a:r>
              <a:rPr lang="fr-FR" dirty="0"/>
              <a:t> est toujours en </a:t>
            </a:r>
            <a:r>
              <a:rPr lang="fr-FR" b="1" dirty="0"/>
              <a:t>Pending Activation</a:t>
            </a:r>
            <a:r>
              <a:rPr lang="fr-FR" dirty="0"/>
              <a:t>; Il s’agirait des clients Activé sur GVADMIN et dont la facturation SALESFORCE n’a pas été enclenché.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Pour les ventes bloquées dans le </a:t>
            </a:r>
            <a:r>
              <a:rPr lang="fr-FR" b="1" dirty="0"/>
              <a:t>Workflow</a:t>
            </a:r>
            <a:r>
              <a:rPr lang="fr-FR" dirty="0"/>
              <a:t> ou en </a:t>
            </a:r>
            <a:r>
              <a:rPr lang="fr-FR" b="1" dirty="0" err="1"/>
              <a:t>Provisionning</a:t>
            </a:r>
            <a:r>
              <a:rPr lang="fr-FR" dirty="0"/>
              <a:t>, Vous pourriez remarqué a niveau de </a:t>
            </a:r>
            <a:r>
              <a:rPr lang="fr-FR" b="1" dirty="0"/>
              <a:t>l’ETAT DU SERVICE </a:t>
            </a:r>
            <a:r>
              <a:rPr lang="fr-FR" dirty="0"/>
              <a:t>qu’il n'y a pas d’information</a:t>
            </a:r>
            <a:endParaRPr lang="fr-BF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A45EE64-624D-BCE3-38AC-03FF6FEA7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3851"/>
            <a:ext cx="12131615" cy="1591783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FA12D8A-D322-622D-29F5-C08E3F8AA818}"/>
              </a:ext>
            </a:extLst>
          </p:cNvPr>
          <p:cNvSpPr/>
          <p:nvPr/>
        </p:nvSpPr>
        <p:spPr>
          <a:xfrm>
            <a:off x="5913407" y="4473006"/>
            <a:ext cx="304800" cy="327102"/>
          </a:xfrm>
          <a:prstGeom prst="ellipse">
            <a:avLst/>
          </a:prstGeom>
          <a:solidFill>
            <a:srgbClr val="7030A0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6509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772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1173</Words>
  <Application>Microsoft Office PowerPoint</Application>
  <PresentationFormat>Grand écran</PresentationFormat>
  <Paragraphs>157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Futura</vt:lpstr>
      <vt:lpstr>Futura Hv BT</vt:lpstr>
      <vt:lpstr>Futura PT Book</vt:lpstr>
      <vt:lpstr>Futura PT Heavy</vt:lpstr>
      <vt:lpstr>URW Gothic</vt:lpstr>
      <vt:lpstr>Verdana</vt:lpstr>
      <vt:lpstr>Thème Office</vt:lpstr>
      <vt:lpstr>TEMPLATE SALESFORCE  Fonctionnalités et utilisation   Aout 2023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SALESFORCE  Fonctionnalités et utilisation   Aout 2023</dc:title>
  <dc:creator>joel OUOBA</dc:creator>
  <cp:lastModifiedBy>Joël OUOBA</cp:lastModifiedBy>
  <cp:revision>4</cp:revision>
  <dcterms:created xsi:type="dcterms:W3CDTF">2023-08-05T11:05:05Z</dcterms:created>
  <dcterms:modified xsi:type="dcterms:W3CDTF">2024-09-04T09:27:48Z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a96e44-a127-42f2-bb2c-4b3827c9e56b_Enabled">
    <vt:lpwstr>true</vt:lpwstr>
  </property>
  <property fmtid="{D5CDD505-2E9C-101B-9397-08002B2CF9AE}" pid="3" name="MSIP_Label_fca96e44-a127-42f2-bb2c-4b3827c9e56b_SetDate">
    <vt:lpwstr>2023-08-05T14:36:17Z</vt:lpwstr>
  </property>
  <property fmtid="{D5CDD505-2E9C-101B-9397-08002B2CF9AE}" pid="4" name="MSIP_Label_fca96e44-a127-42f2-bb2c-4b3827c9e56b_Method">
    <vt:lpwstr>Standard</vt:lpwstr>
  </property>
  <property fmtid="{D5CDD505-2E9C-101B-9397-08002B2CF9AE}" pid="5" name="MSIP_Label_fca96e44-a127-42f2-bb2c-4b3827c9e56b_Name">
    <vt:lpwstr>defa4170-0d19-0005-0004-bc88714345d2</vt:lpwstr>
  </property>
  <property fmtid="{D5CDD505-2E9C-101B-9397-08002B2CF9AE}" pid="6" name="MSIP_Label_fca96e44-a127-42f2-bb2c-4b3827c9e56b_SiteId">
    <vt:lpwstr>ddab0299-dabf-4198-a277-fcf4665c5198</vt:lpwstr>
  </property>
  <property fmtid="{D5CDD505-2E9C-101B-9397-08002B2CF9AE}" pid="7" name="MSIP_Label_fca96e44-a127-42f2-bb2c-4b3827c9e56b_ActionId">
    <vt:lpwstr>fe986e6f-f019-4e23-bc27-728741ee94de</vt:lpwstr>
  </property>
  <property fmtid="{D5CDD505-2E9C-101B-9397-08002B2CF9AE}" pid="8" name="MSIP_Label_fca96e44-a127-42f2-bb2c-4b3827c9e56b_ContentBits">
    <vt:lpwstr>0</vt:lpwstr>
  </property>
</Properties>
</file>